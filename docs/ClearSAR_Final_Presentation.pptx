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aff4752-21b3-553b-99fb-8281dbd77378}">
          <p14:sldIdLst>
            <p14:sldId id="256"/>
          </p14:sldIdLst>
        </p14:section>
        <p14:section name="Problem" id="{b8a18c32-30f8-2437-cfa1-657a5e012ebf}">
          <p14:sldIdLst>
            <p14:sldId id="257"/>
            <p14:sldId id="258"/>
          </p14:sldIdLst>
        </p14:section>
        <p14:section name="Approach" id="{f5c5e393-fe22-0c4e-2406-835f01ae20ad}">
          <p14:sldIdLst>
            <p14:sldId id="259"/>
            <p14:sldId id="260"/>
            <p14:sldId id="261"/>
          </p14:sldIdLst>
        </p14:section>
        <p14:section name="Model" id="{f0988818-f3b6-6341-f9e6-ef86d76a6bae}">
          <p14:sldIdLst>
            <p14:sldId id="262"/>
            <p14:sldId id="263"/>
            <p14:sldId id="264"/>
            <p14:sldId id="265"/>
            <p14:sldId id="266"/>
            <p14:sldId id="267"/>
          </p14:sldIdLst>
        </p14:section>
        <p14:section name="Results" id="{ec4fa85c-57af-6b91-46aa-273bf2e8985f}">
          <p14:sldIdLst>
            <p14:sldId id="268"/>
            <p14:sldId id="269"/>
            <p14:sldId id="270"/>
            <p14:sldId id="271"/>
          </p14:sldIdLst>
        </p14:section>
        <p14:section name="Expert system" id="{cfa89360-5bec-08d2-c36d-9d2c49ed0500}">
          <p14:sldIdLst>
            <p14:sldId id="272"/>
            <p14:sldId id="273"/>
          </p14:sldIdLst>
        </p14:section>
        <p14:section name="Closing" id="{cab6e53e-984b-0f0e-d057-c8c45166d87b}">
          <p14:sldIdLst>
            <p14:sldId id="274"/>
            <p14:sldId id="275"/>
          </p14:sldIdLst>
        </p14:section>
        <p14:section name="Backup" id="{2d71d7c0-da58-27d3-774a-164c4bf6749b}">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Discriminator scores during part B (hours)</a:t>
            </a:r>
          </a:p>
        </c:rich>
      </c:tx>
      <c:layout/>
      <c:overlay val="0"/>
    </c:title>
    <c:autoTitleDeleted val="0"/>
    <c:plotArea>
      <c:layout/>
      <c:lineChart>
        <c:varyColors val="0"/>
        <c:ser>
          <c:idx val="0"/>
          <c:order val="0"/>
          <c:tx>
            <c:strRef>
              <c:f>Sheet1!$B$1</c:f>
              <c:strCache>
                <c:ptCount val="1"/>
                <c:pt idx="0">
                  <c:v>D(real image)</c:v>
                </c:pt>
              </c:strCache>
            </c:strRef>
          </c:tx>
          <c:spPr>
            <a:solidFill>
              <a:srgbClr val="2DD4BF"/>
            </a:solidFill>
            <a:ln w="28575" cap="flat">
              <a:solidFill>
                <a:srgbClr val="2DD4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DD4BF"/>
              </a:solidFill>
              <a:ln w="9525" cap="flat">
                <a:solidFill>
                  <a:srgbClr val="2DD4BF"/>
                </a:solidFill>
                <a:prstDash val="solid"/>
                <a:round/>
              </a:ln>
              <a:effectLst/>
            </c:spPr>
          </c:marker>
          <c:cat>
            <c:multiLvlStrRef>
              <c:f>Sheet1!$A$2:$A$49</c:f>
              <c:multiLvlStrCache>
                <c:ptCount val="48"/>
                <c:lvl>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pt idx="20">
                    <c:v>8.0</c:v>
                  </c:pt>
                  <c:pt idx="21">
                    <c:v>8.1</c:v>
                  </c:pt>
                  <c:pt idx="22">
                    <c:v>8.2</c:v>
                  </c:pt>
                  <c:pt idx="23">
                    <c:v>8.3</c:v>
                  </c:pt>
                  <c:pt idx="24">
                    <c:v>8.4</c:v>
                  </c:pt>
                  <c:pt idx="25">
                    <c:v>8.5</c:v>
                  </c:pt>
                  <c:pt idx="26">
                    <c:v>8.6</c:v>
                  </c:pt>
                  <c:pt idx="27">
                    <c:v>8.7</c:v>
                  </c:pt>
                  <c:pt idx="28">
                    <c:v>8.8</c:v>
                  </c:pt>
                  <c:pt idx="29">
                    <c:v>8.9</c:v>
                  </c:pt>
                  <c:pt idx="30">
                    <c:v>9.0</c:v>
                  </c:pt>
                  <c:pt idx="31">
                    <c:v>9.1</c:v>
                  </c:pt>
                  <c:pt idx="32">
                    <c:v>9.2</c:v>
                  </c:pt>
                  <c:pt idx="33">
                    <c:v>9.3</c:v>
                  </c:pt>
                  <c:pt idx="34">
                    <c:v>9.4</c:v>
                  </c:pt>
                  <c:pt idx="35">
                    <c:v>9.5</c:v>
                  </c:pt>
                  <c:pt idx="36">
                    <c:v>9.6</c:v>
                  </c:pt>
                  <c:pt idx="37">
                    <c:v>9.7</c:v>
                  </c:pt>
                  <c:pt idx="38">
                    <c:v>9.8</c:v>
                  </c:pt>
                  <c:pt idx="39">
                    <c:v>9.9</c:v>
                  </c:pt>
                  <c:pt idx="40">
                    <c:v>10.0</c:v>
                  </c:pt>
                  <c:pt idx="41">
                    <c:v>10.1</c:v>
                  </c:pt>
                  <c:pt idx="42">
                    <c:v>10.2</c:v>
                  </c:pt>
                  <c:pt idx="43">
                    <c:v>10.3</c:v>
                  </c:pt>
                  <c:pt idx="44">
                    <c:v>10.4</c:v>
                  </c:pt>
                  <c:pt idx="45">
                    <c:v>10.5</c:v>
                  </c:pt>
                  <c:pt idx="46">
                    <c:v>10.6</c:v>
                  </c:pt>
                  <c:pt idx="47">
                    <c:v>10.7</c:v>
                  </c:pt>
                </c:lvl>
              </c:multiLvlStrCache>
            </c:multiLvlStrRef>
          </c:cat>
          <c:val>
            <c:numRef>
              <c:f>Sheet1!$B$2:$B$49</c:f>
              <c:numCache>
                <c:formatCode>General</c:formatCode>
                <c:ptCount val="48"/>
                <c:pt idx="0">
                  <c:v>0.445</c:v>
                </c:pt>
                <c:pt idx="1">
                  <c:v>0.531</c:v>
                </c:pt>
                <c:pt idx="2">
                  <c:v>0.539</c:v>
                </c:pt>
                <c:pt idx="3">
                  <c:v>0.592</c:v>
                </c:pt>
                <c:pt idx="4">
                  <c:v>0.602</c:v>
                </c:pt>
                <c:pt idx="5">
                  <c:v>0.644</c:v>
                </c:pt>
                <c:pt idx="6">
                  <c:v>0.663</c:v>
                </c:pt>
                <c:pt idx="7">
                  <c:v>0.701</c:v>
                </c:pt>
                <c:pt idx="8">
                  <c:v>0.747</c:v>
                </c:pt>
                <c:pt idx="9">
                  <c:v>0.758</c:v>
                </c:pt>
                <c:pt idx="10">
                  <c:v>0.771</c:v>
                </c:pt>
                <c:pt idx="11">
                  <c:v>0.78</c:v>
                </c:pt>
                <c:pt idx="12">
                  <c:v>0.78</c:v>
                </c:pt>
                <c:pt idx="13">
                  <c:v>0.786</c:v>
                </c:pt>
                <c:pt idx="14">
                  <c:v>0.791</c:v>
                </c:pt>
                <c:pt idx="15">
                  <c:v>0.805</c:v>
                </c:pt>
                <c:pt idx="16">
                  <c:v>0.802</c:v>
                </c:pt>
                <c:pt idx="17">
                  <c:v>0.802</c:v>
                </c:pt>
                <c:pt idx="18">
                  <c:v>0.801</c:v>
                </c:pt>
                <c:pt idx="19">
                  <c:v>0.806</c:v>
                </c:pt>
                <c:pt idx="20">
                  <c:v>0.816</c:v>
                </c:pt>
                <c:pt idx="21">
                  <c:v>0.829</c:v>
                </c:pt>
                <c:pt idx="22">
                  <c:v>0.825</c:v>
                </c:pt>
                <c:pt idx="23">
                  <c:v>0.827</c:v>
                </c:pt>
                <c:pt idx="24">
                  <c:v>0.834</c:v>
                </c:pt>
                <c:pt idx="25">
                  <c:v>0.836</c:v>
                </c:pt>
                <c:pt idx="26">
                  <c:v>0.823</c:v>
                </c:pt>
                <c:pt idx="27">
                  <c:v>0.824</c:v>
                </c:pt>
                <c:pt idx="28">
                  <c:v>0.84</c:v>
                </c:pt>
                <c:pt idx="29">
                  <c:v>0.845</c:v>
                </c:pt>
                <c:pt idx="30">
                  <c:v>0.838</c:v>
                </c:pt>
                <c:pt idx="31">
                  <c:v>0.847</c:v>
                </c:pt>
                <c:pt idx="32">
                  <c:v>0.851</c:v>
                </c:pt>
                <c:pt idx="33">
                  <c:v>0.847</c:v>
                </c:pt>
                <c:pt idx="34">
                  <c:v>0.829</c:v>
                </c:pt>
                <c:pt idx="35">
                  <c:v>0.853</c:v>
                </c:pt>
                <c:pt idx="36">
                  <c:v>0.847</c:v>
                </c:pt>
                <c:pt idx="37">
                  <c:v>0.853</c:v>
                </c:pt>
                <c:pt idx="38">
                  <c:v>0.849</c:v>
                </c:pt>
                <c:pt idx="39">
                  <c:v>0.852</c:v>
                </c:pt>
                <c:pt idx="40">
                  <c:v>0.858</c:v>
                </c:pt>
                <c:pt idx="41">
                  <c:v>0.851</c:v>
                </c:pt>
                <c:pt idx="42">
                  <c:v>0.866</c:v>
                </c:pt>
                <c:pt idx="43">
                  <c:v>0.86</c:v>
                </c:pt>
                <c:pt idx="44">
                  <c:v>0.859</c:v>
                </c:pt>
                <c:pt idx="45">
                  <c:v>0.866</c:v>
                </c:pt>
                <c:pt idx="46">
                  <c:v>0.855</c:v>
                </c:pt>
                <c:pt idx="47">
                  <c:v>0.856</c:v>
                </c:pt>
              </c:numCache>
            </c:numRef>
          </c:val>
          <c:smooth val="0"/>
        </c:ser>
        <c:ser>
          <c:idx val="1"/>
          <c:order val="1"/>
          <c:tx>
            <c:strRef>
              <c:f>Sheet1!$C$1</c:f>
              <c:strCache>
                <c:ptCount val="1"/>
                <c:pt idx="0">
                  <c:v>D(generated image)</c:v>
                </c:pt>
              </c:strCache>
            </c:strRef>
          </c:tx>
          <c:spPr>
            <a:solidFill>
              <a:srgbClr val="FB7185"/>
            </a:solidFill>
            <a:ln w="28575" cap="flat">
              <a:solidFill>
                <a:srgbClr val="FB718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B7185"/>
              </a:solidFill>
              <a:ln w="9525" cap="flat">
                <a:solidFill>
                  <a:srgbClr val="FB7185"/>
                </a:solidFill>
                <a:prstDash val="solid"/>
                <a:round/>
              </a:ln>
              <a:effectLst/>
            </c:spPr>
          </c:marker>
          <c:cat>
            <c:multiLvlStrRef>
              <c:f>Sheet1!$A$2:$A$49</c:f>
              <c:multiLvlStrCache>
                <c:ptCount val="48"/>
                <c:lvl>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pt idx="20">
                    <c:v>8.0</c:v>
                  </c:pt>
                  <c:pt idx="21">
                    <c:v>8.1</c:v>
                  </c:pt>
                  <c:pt idx="22">
                    <c:v>8.2</c:v>
                  </c:pt>
                  <c:pt idx="23">
                    <c:v>8.3</c:v>
                  </c:pt>
                  <c:pt idx="24">
                    <c:v>8.4</c:v>
                  </c:pt>
                  <c:pt idx="25">
                    <c:v>8.5</c:v>
                  </c:pt>
                  <c:pt idx="26">
                    <c:v>8.6</c:v>
                  </c:pt>
                  <c:pt idx="27">
                    <c:v>8.7</c:v>
                  </c:pt>
                  <c:pt idx="28">
                    <c:v>8.8</c:v>
                  </c:pt>
                  <c:pt idx="29">
                    <c:v>8.9</c:v>
                  </c:pt>
                  <c:pt idx="30">
                    <c:v>9.0</c:v>
                  </c:pt>
                  <c:pt idx="31">
                    <c:v>9.1</c:v>
                  </c:pt>
                  <c:pt idx="32">
                    <c:v>9.2</c:v>
                  </c:pt>
                  <c:pt idx="33">
                    <c:v>9.3</c:v>
                  </c:pt>
                  <c:pt idx="34">
                    <c:v>9.4</c:v>
                  </c:pt>
                  <c:pt idx="35">
                    <c:v>9.5</c:v>
                  </c:pt>
                  <c:pt idx="36">
                    <c:v>9.6</c:v>
                  </c:pt>
                  <c:pt idx="37">
                    <c:v>9.7</c:v>
                  </c:pt>
                  <c:pt idx="38">
                    <c:v>9.8</c:v>
                  </c:pt>
                  <c:pt idx="39">
                    <c:v>9.9</c:v>
                  </c:pt>
                  <c:pt idx="40">
                    <c:v>10.0</c:v>
                  </c:pt>
                  <c:pt idx="41">
                    <c:v>10.1</c:v>
                  </c:pt>
                  <c:pt idx="42">
                    <c:v>10.2</c:v>
                  </c:pt>
                  <c:pt idx="43">
                    <c:v>10.3</c:v>
                  </c:pt>
                  <c:pt idx="44">
                    <c:v>10.4</c:v>
                  </c:pt>
                  <c:pt idx="45">
                    <c:v>10.5</c:v>
                  </c:pt>
                  <c:pt idx="46">
                    <c:v>10.6</c:v>
                  </c:pt>
                  <c:pt idx="47">
                    <c:v>10.7</c:v>
                  </c:pt>
                </c:lvl>
              </c:multiLvlStrCache>
            </c:multiLvlStrRef>
          </c:cat>
          <c:val>
            <c:numRef>
              <c:f>Sheet1!$C$2:$C$49</c:f>
              <c:numCache>
                <c:formatCode>General</c:formatCode>
                <c:ptCount val="48"/>
                <c:pt idx="0">
                  <c:v>0.436</c:v>
                </c:pt>
                <c:pt idx="1">
                  <c:v>0.462</c:v>
                </c:pt>
                <c:pt idx="2">
                  <c:v>0.454</c:v>
                </c:pt>
                <c:pt idx="3">
                  <c:v>0.405</c:v>
                </c:pt>
                <c:pt idx="4">
                  <c:v>0.391</c:v>
                </c:pt>
                <c:pt idx="5">
                  <c:v>0.365</c:v>
                </c:pt>
                <c:pt idx="6">
                  <c:v>0.338</c:v>
                </c:pt>
                <c:pt idx="7">
                  <c:v>0.298</c:v>
                </c:pt>
                <c:pt idx="8">
                  <c:v>0.259</c:v>
                </c:pt>
                <c:pt idx="9">
                  <c:v>0.237</c:v>
                </c:pt>
                <c:pt idx="10">
                  <c:v>0.235</c:v>
                </c:pt>
                <c:pt idx="11">
                  <c:v>0.218</c:v>
                </c:pt>
                <c:pt idx="12">
                  <c:v>0.227</c:v>
                </c:pt>
                <c:pt idx="13">
                  <c:v>0.213</c:v>
                </c:pt>
                <c:pt idx="14">
                  <c:v>0.202</c:v>
                </c:pt>
                <c:pt idx="15">
                  <c:v>0.202</c:v>
                </c:pt>
                <c:pt idx="16">
                  <c:v>0.2</c:v>
                </c:pt>
                <c:pt idx="17">
                  <c:v>0.196</c:v>
                </c:pt>
                <c:pt idx="18">
                  <c:v>0.194</c:v>
                </c:pt>
                <c:pt idx="19">
                  <c:v>0.191</c:v>
                </c:pt>
                <c:pt idx="20">
                  <c:v>0.185</c:v>
                </c:pt>
                <c:pt idx="21">
                  <c:v>0.176</c:v>
                </c:pt>
                <c:pt idx="22">
                  <c:v>0.169</c:v>
                </c:pt>
                <c:pt idx="23">
                  <c:v>0.172</c:v>
                </c:pt>
                <c:pt idx="24">
                  <c:v>0.17</c:v>
                </c:pt>
                <c:pt idx="25">
                  <c:v>0.16</c:v>
                </c:pt>
                <c:pt idx="26">
                  <c:v>0.178</c:v>
                </c:pt>
                <c:pt idx="27">
                  <c:v>0.174</c:v>
                </c:pt>
                <c:pt idx="28">
                  <c:v>0.166</c:v>
                </c:pt>
                <c:pt idx="29">
                  <c:v>0.158</c:v>
                </c:pt>
                <c:pt idx="30">
                  <c:v>0.155</c:v>
                </c:pt>
                <c:pt idx="31">
                  <c:v>0.156</c:v>
                </c:pt>
                <c:pt idx="32">
                  <c:v>0.151</c:v>
                </c:pt>
                <c:pt idx="33">
                  <c:v>0.151</c:v>
                </c:pt>
                <c:pt idx="34">
                  <c:v>0.165</c:v>
                </c:pt>
                <c:pt idx="35">
                  <c:v>0.146</c:v>
                </c:pt>
                <c:pt idx="36">
                  <c:v>0.154</c:v>
                </c:pt>
                <c:pt idx="37">
                  <c:v>0.143</c:v>
                </c:pt>
                <c:pt idx="38">
                  <c:v>0.145</c:v>
                </c:pt>
                <c:pt idx="39">
                  <c:v>0.148</c:v>
                </c:pt>
                <c:pt idx="40">
                  <c:v>0.142</c:v>
                </c:pt>
                <c:pt idx="41">
                  <c:v>0.155</c:v>
                </c:pt>
                <c:pt idx="42">
                  <c:v>0.129</c:v>
                </c:pt>
                <c:pt idx="43">
                  <c:v>0.142</c:v>
                </c:pt>
                <c:pt idx="44">
                  <c:v>0.136</c:v>
                </c:pt>
                <c:pt idx="45">
                  <c:v>0.139</c:v>
                </c:pt>
                <c:pt idx="46">
                  <c:v>0.137</c:v>
                </c:pt>
                <c:pt idx="47">
                  <c:v>0.138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AB5C8"/>
                </a:solidFill>
                <a:latin typeface="+mn-lt"/>
              </a:defRPr>
            </a:pPr>
            <a:endParaRPr lang="en-US"/>
          </a:p>
        </c:txPr>
        <c:crossAx val="2094734552"/>
        <c:crosses val="autoZero"/>
        <c:auto val="1"/>
        <c:lblAlgn val="ctr"/>
        <c:noMultiLvlLbl val="1"/>
        <c:tickLblSkip val="20"/>
      </c:catAx>
      <c:valAx>
        <c:axId val="2094734552"/>
        <c:scaling>
          <c:orientation val="minMax"/>
          <c:max val="1"/>
          <c:min val="0"/>
        </c:scaling>
        <c:delete val="0"/>
        <c:axPos val="l"/>
        <c:majorGridlines>
          <c:spPr>
            <a:ln w="9525" cap="flat">
              <a:solidFill>
                <a:srgbClr val="2632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AB5C8"/>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AAB5C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Validation PSNR (dB)</a:t>
            </a:r>
          </a:p>
        </c:rich>
      </c:tx>
      <c:layout/>
      <c:overlay val="0"/>
    </c:title>
    <c:autoTitleDeleted val="0"/>
    <c:plotArea>
      <c:layout/>
      <c:lineChart>
        <c:varyColors val="0"/>
        <c:ser>
          <c:idx val="0"/>
          <c:order val="0"/>
          <c:tx>
            <c:strRef>
              <c:f>Sheet1!$B$1</c:f>
              <c:strCache>
                <c:ptCount val="1"/>
                <c:pt idx="0">
                  <c:v>validation PSNR (dB)</c:v>
                </c:pt>
              </c:strCache>
            </c:strRef>
          </c:tx>
          <c:spPr>
            <a:solidFill>
              <a:srgbClr val="2DD4BF"/>
            </a:solidFill>
            <a:ln w="31750" cap="flat">
              <a:solidFill>
                <a:srgbClr val="2DD4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DD4BF"/>
              </a:solidFill>
              <a:ln w="9525" cap="flat">
                <a:solidFill>
                  <a:srgbClr val="2DD4BF"/>
                </a:solidFill>
                <a:prstDash val="solid"/>
                <a:round/>
              </a:ln>
              <a:effectLst/>
            </c:spPr>
          </c:marker>
          <c:cat>
            <c:multiLvlStrRef>
              <c:f>Sheet1!$A$2:$A$32</c:f>
              <c:multiLvlStrCache>
                <c:ptCount val="31"/>
                <c:lvl>
                  <c:pt idx="0">
                    <c:v>0.3</c:v>
                  </c:pt>
                  <c:pt idx="1">
                    <c:v>0.7</c:v>
                  </c:pt>
                  <c:pt idx="2">
                    <c:v>1.0</c:v>
                  </c:pt>
                  <c:pt idx="3">
                    <c:v>1.4</c:v>
                  </c:pt>
                  <c:pt idx="4">
                    <c:v>1.7</c:v>
                  </c:pt>
                  <c:pt idx="5">
                    <c:v>2.0</c:v>
                  </c:pt>
                  <c:pt idx="6">
                    <c:v>2.4</c:v>
                  </c:pt>
                  <c:pt idx="7">
                    <c:v>2.7</c:v>
                  </c:pt>
                  <c:pt idx="8">
                    <c:v>3.0</c:v>
                  </c:pt>
                  <c:pt idx="9">
                    <c:v>3.4</c:v>
                  </c:pt>
                  <c:pt idx="10">
                    <c:v>3.7</c:v>
                  </c:pt>
                  <c:pt idx="11">
                    <c:v>4.0</c:v>
                  </c:pt>
                  <c:pt idx="12">
                    <c:v>4.4</c:v>
                  </c:pt>
                  <c:pt idx="13">
                    <c:v>4.7</c:v>
                  </c:pt>
                  <c:pt idx="14">
                    <c:v>5.0</c:v>
                  </c:pt>
                  <c:pt idx="15">
                    <c:v>5.4</c:v>
                  </c:pt>
                  <c:pt idx="16">
                    <c:v>5.7</c:v>
                  </c:pt>
                  <c:pt idx="17">
                    <c:v>6.3</c:v>
                  </c:pt>
                  <c:pt idx="18">
                    <c:v>6.6</c:v>
                  </c:pt>
                  <c:pt idx="19">
                    <c:v>7.0</c:v>
                  </c:pt>
                  <c:pt idx="20">
                    <c:v>7.3</c:v>
                  </c:pt>
                  <c:pt idx="21">
                    <c:v>7.7</c:v>
                  </c:pt>
                  <c:pt idx="22">
                    <c:v>8.0</c:v>
                  </c:pt>
                  <c:pt idx="23">
                    <c:v>8.3</c:v>
                  </c:pt>
                  <c:pt idx="24">
                    <c:v>8.7</c:v>
                  </c:pt>
                  <c:pt idx="25">
                    <c:v>9.0</c:v>
                  </c:pt>
                  <c:pt idx="26">
                    <c:v>9.3</c:v>
                  </c:pt>
                  <c:pt idx="27">
                    <c:v>9.7</c:v>
                  </c:pt>
                  <c:pt idx="28">
                    <c:v>10.0</c:v>
                  </c:pt>
                  <c:pt idx="29">
                    <c:v>10.3</c:v>
                  </c:pt>
                  <c:pt idx="30">
                    <c:v>10.7</c:v>
                  </c:pt>
                </c:lvl>
              </c:multiLvlStrCache>
            </c:multiLvlStrRef>
          </c:cat>
          <c:val>
            <c:numRef>
              <c:f>Sheet1!$B$2:$B$32</c:f>
              <c:numCache>
                <c:formatCode>General</c:formatCode>
                <c:ptCount val="31"/>
                <c:pt idx="0">
                  <c:v>25.58</c:v>
                </c:pt>
                <c:pt idx="1">
                  <c:v>28.44</c:v>
                </c:pt>
                <c:pt idx="2">
                  <c:v>29.06</c:v>
                </c:pt>
                <c:pt idx="3">
                  <c:v>29.11</c:v>
                </c:pt>
                <c:pt idx="4">
                  <c:v>29.17</c:v>
                </c:pt>
                <c:pt idx="5">
                  <c:v>29.01</c:v>
                </c:pt>
                <c:pt idx="6">
                  <c:v>29.29</c:v>
                </c:pt>
                <c:pt idx="7">
                  <c:v>29.3</c:v>
                </c:pt>
                <c:pt idx="8">
                  <c:v>29.19</c:v>
                </c:pt>
                <c:pt idx="9">
                  <c:v>29.24</c:v>
                </c:pt>
                <c:pt idx="10">
                  <c:v>29.37</c:v>
                </c:pt>
                <c:pt idx="11">
                  <c:v>29.48</c:v>
                </c:pt>
                <c:pt idx="12">
                  <c:v>29.32</c:v>
                </c:pt>
                <c:pt idx="13">
                  <c:v>29.3</c:v>
                </c:pt>
                <c:pt idx="14">
                  <c:v>29.38</c:v>
                </c:pt>
                <c:pt idx="15">
                  <c:v>29.27</c:v>
                </c:pt>
                <c:pt idx="16">
                  <c:v>29.36</c:v>
                </c:pt>
                <c:pt idx="17">
                  <c:v>29.23</c:v>
                </c:pt>
                <c:pt idx="18">
                  <c:v>29.18</c:v>
                </c:pt>
                <c:pt idx="19">
                  <c:v>29.11</c:v>
                </c:pt>
                <c:pt idx="20">
                  <c:v>29.19</c:v>
                </c:pt>
                <c:pt idx="21">
                  <c:v>29.13</c:v>
                </c:pt>
                <c:pt idx="22">
                  <c:v>29.22</c:v>
                </c:pt>
                <c:pt idx="23">
                  <c:v>29.26</c:v>
                </c:pt>
                <c:pt idx="24">
                  <c:v>29.16</c:v>
                </c:pt>
                <c:pt idx="25">
                  <c:v>29.09</c:v>
                </c:pt>
                <c:pt idx="26">
                  <c:v>29.07</c:v>
                </c:pt>
                <c:pt idx="27">
                  <c:v>29.14</c:v>
                </c:pt>
                <c:pt idx="28">
                  <c:v>29.15</c:v>
                </c:pt>
                <c:pt idx="29">
                  <c:v>29.17</c:v>
                </c:pt>
                <c:pt idx="30">
                  <c:v>29.17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AB5C8"/>
                </a:solidFill>
                <a:latin typeface="+mn-lt"/>
              </a:defRPr>
            </a:pPr>
            <a:endParaRPr lang="en-US"/>
          </a:p>
        </c:txPr>
        <c:crossAx val="2094734552"/>
        <c:crosses val="autoZero"/>
        <c:auto val="1"/>
        <c:lblAlgn val="ctr"/>
        <c:noMultiLvlLbl val="1"/>
        <c:tickLblSkip val="4"/>
      </c:catAx>
      <c:valAx>
        <c:axId val="2094734552"/>
        <c:scaling>
          <c:orientation val="minMax"/>
          <c:max val="30"/>
          <c:min val="25"/>
        </c:scaling>
        <c:delete val="0"/>
        <c:axPos val="l"/>
        <c:majorGridlines>
          <c:spPr>
            <a:ln w="9525" cap="flat">
              <a:solidFill>
                <a:srgbClr val="2632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AB5C8"/>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Validation sharpness (1 = as sharp as reality) · x-axis: hours</a:t>
            </a:r>
          </a:p>
        </c:rich>
      </c:tx>
      <c:layout/>
      <c:overlay val="0"/>
    </c:title>
    <c:autoTitleDeleted val="0"/>
    <c:plotArea>
      <c:layout/>
      <c:lineChart>
        <c:varyColors val="0"/>
        <c:ser>
          <c:idx val="0"/>
          <c:order val="0"/>
          <c:tx>
            <c:strRef>
              <c:f>Sheet1!$B$1</c:f>
              <c:strCache>
                <c:ptCount val="1"/>
                <c:pt idx="0">
                  <c:v>validation sharpness</c:v>
                </c:pt>
              </c:strCache>
            </c:strRef>
          </c:tx>
          <c:spPr>
            <a:solidFill>
              <a:srgbClr val="FBBF24"/>
            </a:solidFill>
            <a:ln w="31750" cap="flat">
              <a:solidFill>
                <a:srgbClr val="FBBF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BBF24"/>
              </a:solidFill>
              <a:ln w="9525" cap="flat">
                <a:solidFill>
                  <a:srgbClr val="FBBF24"/>
                </a:solidFill>
                <a:prstDash val="solid"/>
                <a:round/>
              </a:ln>
              <a:effectLst/>
            </c:spPr>
          </c:marker>
          <c:cat>
            <c:multiLvlStrRef>
              <c:f>Sheet1!$A$2:$A$32</c:f>
              <c:multiLvlStrCache>
                <c:ptCount val="31"/>
                <c:lvl>
                  <c:pt idx="0">
                    <c:v>0.3</c:v>
                  </c:pt>
                  <c:pt idx="1">
                    <c:v>0.7</c:v>
                  </c:pt>
                  <c:pt idx="2">
                    <c:v>1.0</c:v>
                  </c:pt>
                  <c:pt idx="3">
                    <c:v>1.4</c:v>
                  </c:pt>
                  <c:pt idx="4">
                    <c:v>1.7</c:v>
                  </c:pt>
                  <c:pt idx="5">
                    <c:v>2.0</c:v>
                  </c:pt>
                  <c:pt idx="6">
                    <c:v>2.4</c:v>
                  </c:pt>
                  <c:pt idx="7">
                    <c:v>2.7</c:v>
                  </c:pt>
                  <c:pt idx="8">
                    <c:v>3.0</c:v>
                  </c:pt>
                  <c:pt idx="9">
                    <c:v>3.4</c:v>
                  </c:pt>
                  <c:pt idx="10">
                    <c:v>3.7</c:v>
                  </c:pt>
                  <c:pt idx="11">
                    <c:v>4.0</c:v>
                  </c:pt>
                  <c:pt idx="12">
                    <c:v>4.4</c:v>
                  </c:pt>
                  <c:pt idx="13">
                    <c:v>4.7</c:v>
                  </c:pt>
                  <c:pt idx="14">
                    <c:v>5.0</c:v>
                  </c:pt>
                  <c:pt idx="15">
                    <c:v>5.4</c:v>
                  </c:pt>
                  <c:pt idx="16">
                    <c:v>5.7</c:v>
                  </c:pt>
                  <c:pt idx="17">
                    <c:v>6.3</c:v>
                  </c:pt>
                  <c:pt idx="18">
                    <c:v>6.6</c:v>
                  </c:pt>
                  <c:pt idx="19">
                    <c:v>7.0</c:v>
                  </c:pt>
                  <c:pt idx="20">
                    <c:v>7.3</c:v>
                  </c:pt>
                  <c:pt idx="21">
                    <c:v>7.7</c:v>
                  </c:pt>
                  <c:pt idx="22">
                    <c:v>8.0</c:v>
                  </c:pt>
                  <c:pt idx="23">
                    <c:v>8.3</c:v>
                  </c:pt>
                  <c:pt idx="24">
                    <c:v>8.7</c:v>
                  </c:pt>
                  <c:pt idx="25">
                    <c:v>9.0</c:v>
                  </c:pt>
                  <c:pt idx="26">
                    <c:v>9.3</c:v>
                  </c:pt>
                  <c:pt idx="27">
                    <c:v>9.7</c:v>
                  </c:pt>
                  <c:pt idx="28">
                    <c:v>10.0</c:v>
                  </c:pt>
                  <c:pt idx="29">
                    <c:v>10.3</c:v>
                  </c:pt>
                  <c:pt idx="30">
                    <c:v>10.7</c:v>
                  </c:pt>
                </c:lvl>
              </c:multiLvlStrCache>
            </c:multiLvlStrRef>
          </c:cat>
          <c:val>
            <c:numRef>
              <c:f>Sheet1!$B$2:$B$32</c:f>
              <c:numCache>
                <c:formatCode>General</c:formatCode>
                <c:ptCount val="31"/>
                <c:pt idx="0">
                  <c:v>0.407</c:v>
                </c:pt>
                <c:pt idx="1">
                  <c:v>0.466</c:v>
                </c:pt>
                <c:pt idx="2">
                  <c:v>0.544</c:v>
                </c:pt>
                <c:pt idx="3">
                  <c:v>0.557</c:v>
                </c:pt>
                <c:pt idx="4">
                  <c:v>0.567</c:v>
                </c:pt>
                <c:pt idx="5">
                  <c:v>0.58</c:v>
                </c:pt>
                <c:pt idx="6">
                  <c:v>0.587</c:v>
                </c:pt>
                <c:pt idx="7">
                  <c:v>0.6</c:v>
                </c:pt>
                <c:pt idx="8">
                  <c:v>0.606</c:v>
                </c:pt>
                <c:pt idx="9">
                  <c:v>0.607</c:v>
                </c:pt>
                <c:pt idx="10">
                  <c:v>0.621</c:v>
                </c:pt>
                <c:pt idx="11">
                  <c:v>0.627</c:v>
                </c:pt>
                <c:pt idx="12">
                  <c:v>0.632</c:v>
                </c:pt>
                <c:pt idx="13">
                  <c:v>0.629</c:v>
                </c:pt>
                <c:pt idx="14">
                  <c:v>0.636</c:v>
                </c:pt>
                <c:pt idx="15">
                  <c:v>0.638</c:v>
                </c:pt>
                <c:pt idx="16">
                  <c:v>0.635</c:v>
                </c:pt>
                <c:pt idx="17">
                  <c:v>0.662</c:v>
                </c:pt>
                <c:pt idx="18">
                  <c:v>0.697</c:v>
                </c:pt>
                <c:pt idx="19">
                  <c:v>0.693</c:v>
                </c:pt>
                <c:pt idx="20">
                  <c:v>0.691</c:v>
                </c:pt>
                <c:pt idx="21">
                  <c:v>0.702</c:v>
                </c:pt>
                <c:pt idx="22">
                  <c:v>0.696</c:v>
                </c:pt>
                <c:pt idx="23">
                  <c:v>0.695</c:v>
                </c:pt>
                <c:pt idx="24">
                  <c:v>0.705</c:v>
                </c:pt>
                <c:pt idx="25">
                  <c:v>0.71</c:v>
                </c:pt>
                <c:pt idx="26">
                  <c:v>0.714</c:v>
                </c:pt>
                <c:pt idx="27">
                  <c:v>0.706</c:v>
                </c:pt>
                <c:pt idx="28">
                  <c:v>0.709</c:v>
                </c:pt>
                <c:pt idx="29">
                  <c:v>0.707</c:v>
                </c:pt>
                <c:pt idx="30">
                  <c:v>0.705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AB5C8"/>
                </a:solidFill>
                <a:latin typeface="+mn-lt"/>
              </a:defRPr>
            </a:pPr>
            <a:endParaRPr lang="en-US"/>
          </a:p>
        </c:txPr>
        <c:crossAx val="2094734552"/>
        <c:crosses val="autoZero"/>
        <c:auto val="1"/>
        <c:lblAlgn val="ctr"/>
        <c:noMultiLvlLbl val="1"/>
        <c:tickLblSkip val="4"/>
      </c:catAx>
      <c:valAx>
        <c:axId val="2094734552"/>
        <c:scaling>
          <c:orientation val="minMax"/>
          <c:max val="0.8"/>
          <c:min val="0.3"/>
        </c:scaling>
        <c:delete val="0"/>
        <c:axPos val="l"/>
        <c:majorGridlines>
          <c:spPr>
            <a:ln w="9525" cap="flat">
              <a:solidFill>
                <a:srgbClr val="2632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AB5C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Test PSNR (dB) by cloud cover of the patch</a:t>
            </a:r>
          </a:p>
        </c:rich>
      </c:tx>
      <c:layout/>
      <c:overlay val="0"/>
    </c:title>
    <c:autoTitleDeleted val="0"/>
    <c:plotArea>
      <c:layout/>
      <c:lineChart>
        <c:varyColors val="0"/>
        <c:ser>
          <c:idx val="0"/>
          <c:order val="0"/>
          <c:tx>
            <c:strRef>
              <c:f>Sheet1!$B$1</c:f>
              <c:strCache>
                <c:ptCount val="1"/>
                <c:pt idx="0">
                  <c:v>Cloudy input</c:v>
                </c:pt>
              </c:strCache>
            </c:strRef>
          </c:tx>
          <c:spPr>
            <a:solidFill>
              <a:srgbClr val="AAB5C8"/>
            </a:solidFill>
            <a:ln w="34925" cap="flat">
              <a:solidFill>
                <a:srgbClr val="AAB5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AB5C8"/>
              </a:solidFill>
              <a:ln w="9525" cap="flat">
                <a:solidFill>
                  <a:srgbClr val="AAB5C8"/>
                </a:solidFill>
                <a:prstDash val="solid"/>
                <a:round/>
              </a:ln>
              <a:effectLst/>
            </c:spPr>
          </c:marker>
          <c:cat>
            <c:multiLvlStrRef>
              <c:f>Sheet1!$A$2:$A$6</c:f>
              <c:multiLvlStrCache>
                <c:ptCount val="5"/>
                <c:lvl>
                  <c:pt idx="0">
                    <c:v>0-10%</c:v>
                  </c:pt>
                  <c:pt idx="1">
                    <c:v>10-30%</c:v>
                  </c:pt>
                  <c:pt idx="2">
                    <c:v>30-60%</c:v>
                  </c:pt>
                  <c:pt idx="3">
                    <c:v>60-90%</c:v>
                  </c:pt>
                  <c:pt idx="4">
                    <c:v>90-100%</c:v>
                  </c:pt>
                </c:lvl>
              </c:multiLvlStrCache>
            </c:multiLvlStrRef>
          </c:cat>
          <c:val>
            <c:numRef>
              <c:f>Sheet1!$B$2:$B$6</c:f>
              <c:numCache>
                <c:formatCode>General</c:formatCode>
                <c:ptCount val="5"/>
                <c:pt idx="0">
                  <c:v>27.07</c:v>
                </c:pt>
                <c:pt idx="1">
                  <c:v>20.82</c:v>
                </c:pt>
                <c:pt idx="2">
                  <c:v>16.99</c:v>
                </c:pt>
                <c:pt idx="3">
                  <c:v>14.57</c:v>
                </c:pt>
                <c:pt idx="4">
                  <c:v>13.51</c:v>
                </c:pt>
              </c:numCache>
            </c:numRef>
          </c:val>
          <c:smooth val="0"/>
        </c:ser>
        <c:ser>
          <c:idx val="1"/>
          <c:order val="1"/>
          <c:tx>
            <c:strRef>
              <c:f>Sheet1!$C$1</c:f>
              <c:strCache>
                <c:ptCount val="1"/>
                <c:pt idx="0">
                  <c:v>Phase 1 U-Net</c:v>
                </c:pt>
              </c:strCache>
            </c:strRef>
          </c:tx>
          <c:spPr>
            <a:solidFill>
              <a:srgbClr val="A78BFA"/>
            </a:solidFill>
            <a:ln w="34925" cap="flat">
              <a:solidFill>
                <a:srgbClr val="A78BF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78BFA"/>
              </a:solidFill>
              <a:ln w="9525" cap="flat">
                <a:solidFill>
                  <a:srgbClr val="A78BFA"/>
                </a:solidFill>
                <a:prstDash val="solid"/>
                <a:round/>
              </a:ln>
              <a:effectLst/>
            </c:spPr>
          </c:marker>
          <c:cat>
            <c:multiLvlStrRef>
              <c:f>Sheet1!$A$2:$A$6</c:f>
              <c:multiLvlStrCache>
                <c:ptCount val="5"/>
                <c:lvl>
                  <c:pt idx="0">
                    <c:v>0-10%</c:v>
                  </c:pt>
                  <c:pt idx="1">
                    <c:v>10-30%</c:v>
                  </c:pt>
                  <c:pt idx="2">
                    <c:v>30-60%</c:v>
                  </c:pt>
                  <c:pt idx="3">
                    <c:v>60-90%</c:v>
                  </c:pt>
                  <c:pt idx="4">
                    <c:v>90-100%</c:v>
                  </c:pt>
                </c:lvl>
              </c:multiLvlStrCache>
            </c:multiLvlStrRef>
          </c:cat>
          <c:val>
            <c:numRef>
              <c:f>Sheet1!$C$2:$C$6</c:f>
              <c:numCache>
                <c:formatCode>General</c:formatCode>
                <c:ptCount val="5"/>
                <c:pt idx="0">
                  <c:v>28.03</c:v>
                </c:pt>
                <c:pt idx="1">
                  <c:v>27.04</c:v>
                </c:pt>
                <c:pt idx="2">
                  <c:v>26.3</c:v>
                </c:pt>
                <c:pt idx="3">
                  <c:v>25.27</c:v>
                </c:pt>
                <c:pt idx="4">
                  <c:v>25.12</c:v>
                </c:pt>
              </c:numCache>
            </c:numRef>
          </c:val>
          <c:smooth val="0"/>
        </c:ser>
        <c:ser>
          <c:idx val="2"/>
          <c:order val="2"/>
          <c:tx>
            <c:strRef>
              <c:f>Sheet1!$D$1</c:f>
              <c:strCache>
                <c:ptCount val="1"/>
                <c:pt idx="0">
                  <c:v>Before GAN</c:v>
                </c:pt>
              </c:strCache>
            </c:strRef>
          </c:tx>
          <c:spPr>
            <a:solidFill>
              <a:srgbClr val="FBBF24"/>
            </a:solidFill>
            <a:ln w="34925" cap="flat">
              <a:solidFill>
                <a:srgbClr val="FBBF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BBF24"/>
              </a:solidFill>
              <a:ln w="9525" cap="flat">
                <a:solidFill>
                  <a:srgbClr val="FBBF24"/>
                </a:solidFill>
                <a:prstDash val="solid"/>
                <a:round/>
              </a:ln>
              <a:effectLst/>
            </c:spPr>
          </c:marker>
          <c:cat>
            <c:multiLvlStrRef>
              <c:f>Sheet1!$A$2:$A$6</c:f>
              <c:multiLvlStrCache>
                <c:ptCount val="5"/>
                <c:lvl>
                  <c:pt idx="0">
                    <c:v>0-10%</c:v>
                  </c:pt>
                  <c:pt idx="1">
                    <c:v>10-30%</c:v>
                  </c:pt>
                  <c:pt idx="2">
                    <c:v>30-60%</c:v>
                  </c:pt>
                  <c:pt idx="3">
                    <c:v>60-90%</c:v>
                  </c:pt>
                  <c:pt idx="4">
                    <c:v>90-100%</c:v>
                  </c:pt>
                </c:lvl>
              </c:multiLvlStrCache>
            </c:multiLvlStrRef>
          </c:cat>
          <c:val>
            <c:numRef>
              <c:f>Sheet1!$D$2:$D$6</c:f>
              <c:numCache>
                <c:formatCode>General</c:formatCode>
                <c:ptCount val="5"/>
                <c:pt idx="0">
                  <c:v>29.92</c:v>
                </c:pt>
                <c:pt idx="1">
                  <c:v>28.86</c:v>
                </c:pt>
                <c:pt idx="2">
                  <c:v>27.82</c:v>
                </c:pt>
                <c:pt idx="3">
                  <c:v>26.89</c:v>
                </c:pt>
                <c:pt idx="4">
                  <c:v>28.4</c:v>
                </c:pt>
              </c:numCache>
            </c:numRef>
          </c:val>
          <c:smooth val="0"/>
        </c:ser>
        <c:ser>
          <c:idx val="3"/>
          <c:order val="3"/>
          <c:tx>
            <c:strRef>
              <c:f>Sheet1!$E$1</c:f>
              <c:strCache>
                <c:ptCount val="1"/>
                <c:pt idx="0">
                  <c:v>Final (GAN)</c:v>
                </c:pt>
              </c:strCache>
            </c:strRef>
          </c:tx>
          <c:spPr>
            <a:solidFill>
              <a:srgbClr val="2DD4BF"/>
            </a:solidFill>
            <a:ln w="34925" cap="flat">
              <a:solidFill>
                <a:srgbClr val="2DD4B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DD4BF"/>
              </a:solidFill>
              <a:ln w="9525" cap="flat">
                <a:solidFill>
                  <a:srgbClr val="2DD4BF"/>
                </a:solidFill>
                <a:prstDash val="solid"/>
                <a:round/>
              </a:ln>
              <a:effectLst/>
            </c:spPr>
          </c:marker>
          <c:cat>
            <c:multiLvlStrRef>
              <c:f>Sheet1!$A$2:$A$6</c:f>
              <c:multiLvlStrCache>
                <c:ptCount val="5"/>
                <c:lvl>
                  <c:pt idx="0">
                    <c:v>0-10%</c:v>
                  </c:pt>
                  <c:pt idx="1">
                    <c:v>10-30%</c:v>
                  </c:pt>
                  <c:pt idx="2">
                    <c:v>30-60%</c:v>
                  </c:pt>
                  <c:pt idx="3">
                    <c:v>60-90%</c:v>
                  </c:pt>
                  <c:pt idx="4">
                    <c:v>90-100%</c:v>
                  </c:pt>
                </c:lvl>
              </c:multiLvlStrCache>
            </c:multiLvlStrRef>
          </c:cat>
          <c:val>
            <c:numRef>
              <c:f>Sheet1!$E$2:$E$6</c:f>
              <c:numCache>
                <c:formatCode>General</c:formatCode>
                <c:ptCount val="5"/>
                <c:pt idx="0">
                  <c:v>29.78</c:v>
                </c:pt>
                <c:pt idx="1">
                  <c:v>28.75</c:v>
                </c:pt>
                <c:pt idx="2">
                  <c:v>27.74</c:v>
                </c:pt>
                <c:pt idx="3">
                  <c:v>26.94</c:v>
                </c:pt>
                <c:pt idx="4">
                  <c:v>28.29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AB5C8"/>
                </a:solidFill>
                <a:latin typeface="+mn-lt"/>
              </a:defRPr>
            </a:pPr>
            <a:endParaRPr lang="en-US"/>
          </a:p>
        </c:txPr>
        <c:crossAx val="2094734552"/>
        <c:crosses val="autoZero"/>
        <c:auto val="1"/>
        <c:lblAlgn val="ctr"/>
        <c:noMultiLvlLbl val="1"/>
      </c:catAx>
      <c:valAx>
        <c:axId val="2094734552"/>
        <c:scaling>
          <c:orientation val="minMax"/>
          <c:max val="32"/>
          <c:min val="10"/>
        </c:scaling>
        <c:delete val="0"/>
        <c:axPos val="l"/>
        <c:majorGridlines>
          <c:spPr>
            <a:ln w="9525" cap="flat">
              <a:solidFill>
                <a:srgbClr val="2632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AB5C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AAB5C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picture, not the title. Top left is a real Sentinel-2 image over China, washed out by haze. Bottom left is the radar of the same place - it sees through the clouds but has no colour. Top right is what my model rebuilds; bottom right is the real clear image taken on another day. This is a test scene the model never saw. In the next 15 minutes: the problem, the model, the results, and an expert system that tells you when to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Clouds are the single biggest obstacle for optical Earth observation - in the monsoon an area can stay hidden for weeks. Radar works through cloud but measures something different: surface roughness and moisture, not colour. The idea is to fuse the two. Note the honest limitation from the start: under thick cloud the colours are not observed at all, the model has to infer them - which is why the second half of the project is an expert system that judges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every 2.56 km patch is 256 by 256 pixels. Input is 15 channels - 2 radar plus the 13 cloudy optical bands. Output is all 13 clear bands, so the result is usable for science, not just a pretty RGB picture. The key word is ill-posed: more than one answer is consistent with the input, and that drives two choices later - the loss, and the 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SEN12MS-CR, 122 thousand co-registered triplets from 175 scenes, four seasons, every continent. Phase 1 used only 3,000 Asian patches - 2.5 % of this. The final model uses every training patch. Most important design rule: split by scene. Phase 1 measured that a random split inflates PSNR by 5.1 dB - more than any architecture difference - because neighbouring patches are near-duplicates.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was a controlled comparison - 26 trainings. It did not produce a winner, but it taught four lessons, and each became a design decision. Left the finding, right what I did about it. The last one is the most instructive: the GAN looked like a failure, but the real fault was the checkpoint selection - choosing by L1 picks the least adversarial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insight that changed my evaluation. Even a cloud-free input only scores 24 to 27 dB against its 'clear' target - because the target was photographed on another day: different light, moisture, crop stage. After a simple per-band brightness fit the same pairs score 31 to 40 dB. So plain PSNR has a ceiling well below perfect, and I report a second number with the date shift removed. It also motivated the hybrid output: the model is allowed to correct colours, not just copy visible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is a U-Net - three levels down, three up, with skip connections. The change is in the bottleneck: at 32 by 32 there are 1,024 positions, and two Transformer blocks let every position attend to every other. That gives the global context that made the Vision Transformer best under thick cloud in Phase 1, at a cost that fits a T4. Two engineering details: bilinear upsampling avoids checkerboard artefacts, and the attention stream runs in float32 with a final LayerNorm - that fixed a crash, I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I am most proud of. The network outputs a gate m between 0 and 1 for every pixel. Where m is high it keeps the cloudy input - plus a learned colour correction for the date shift. Where m is low it generates the pixel from radar and context. Nobody told it where the clouds are: on the test set, the share of pixels it keeps falls from 51 % on clear patches to 15 % under full cloud, Spearman minus 0.84. It learned cloud detection from the reconstruction loss alone. In the picture: the gate is bright exactly in the gap between the clouds, and dark under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runs on a time budget: 55 % reconstruction, 45 % with the GAN. Starting the GAN from a converged model means the discriminator gives useful advice instead of noise, and it gives a clean before-and-after of the same network. Three choices are measured rather than guessed: the SSIM weight, from a gradient measurement; the GAN weight, adapted so the GAN always pushes one fifth as hard as the pixel loss; and the checkpoint selection, which rewards accuracy and sharpness together - the fix for Phase 1's 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discriminator is a conditional PatchGAN with spectral normalisation and a least-squares loss - the standard recipe for stable GAN training. The chart is the game itself: the score for real images rose to about 0.86, for generated ones it fell to about 0.14. The critic became strong but never saturated at exactly 1 and 0 - had it, the generator would get no useful signal. The adaptive weight shrank automatically as the critic grew stronger, keeping its push at 20 %.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one-shot 12-hour run has to be engineered not to fail. The most instructive story is the red card: the first full run silently went NaN after about 5,000 steps and wasted 3.5 hours - half-precision overflow in the attention bottleneck. I found it from the log, fixed the cause with a float32 stream and a LayerNorm, and added an automatic guard that rolls back if it ever happens again. The final run had no events. Data echoing handled a slow disk: only about half the batches came fresh from disk, and the run still made 6 complete passes over the 102,871 training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every 20 minutes on 10 unseen scenes. PSNR rises to 29 dB within the first hour and peaks at 29.5. Sharpness - edge energy compared with the real image - creeps up slowly under the pixel loss and then jumps when the GAN joins at hour six. PSNR eases by only a few tenths: the trade-off, measured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is run once, at the end, on 18 scenes from every continent that were never seen. Same patches for every row. The final model reaches 28.6 dB - 8.3 above the cloudy input, and 1.9 above Phase 1's best model, better in 17 of the 18 scenes; a scene bootstrap gives a 95 % interval of 1.1 to 2.7 dB, so this is not noise. SSIM 0.88, spectral angle down from 13 to 8 degrees. With the date shift removed: 34.5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cloud cover: the grey line is the cloudy input - it collapses as cloud grows, by definition. The model stays between 27 and 30 dB. The gain over Phase 1 is largest under full cloud, plus 3.2 dB - exactly where global attention and the bigger, more diverse training set matter. If someone asks why the last bin goes up again: it is the scene mix - that bin happens to contain easy scenes; the desert scene scores the same in both bins.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GAN did exactly what it was designed for. Sharpness rose from 0.78 to 0.87 - significant, 16 of 18 scenes. PSNR moved by minus 0.09 dB, and the interval contains zero, so there is no measurable accuracy cost - unlike Phase 1's GAN, which lost 1.35 dB. Be honest about the picture: the difference is subtle by eye. And it is a trade-off: that is why, for scientific use, the advisor picks the before-GAN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cloud level I show the patch closest to the median score - representative, not cherry-picked. Under light cloud it is close to the truth, even correcting colours towards the target date. Under heavy cloud it recovers layout and colour from radar but not fine detail - that information is not in a 10-metre radar image. Say this before anyone asks; it shows you understand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project: a classic, explainable expert system on top of the deep-learning output. Facts are measured from the patch and the model - including how much it relied on radar, found by occlusion, and how uncertain it is, from a flip test. 38 rules with MYCIN certainty factors chain from observations to a decision. Every decision explains itself: which rules fired, which did not and why. Verification on real patches found two flaws - the GAN model was never recommended, and one cloud situation had no trust rule - both fixed with evidence-based rules M5 and T13.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 start the app before the talk and open the Advisor page once, so its analyses are cached. Suggested 3-minute path: Home slider on the Indian patch; Results by cloud cover; Explore one heavily clouded patch with its gate map; Advisor on the same patch, switching the intended use from visual inspection to vegetation monitoring to show the recommendation change; finish in the Knowledge base what-if simulator. If the demo fails, the screenshot on this slide is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part with honest limits - examiners respect this. The biggest physical limit: radar cannot supply fine optical detail. The biggest measurement limit: the date shift. Each limitation has a concrete next step on the right; time series is the most promising, because earlier clear images contain exactly the detail radar lacks.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one sentence each - then stop talking and invite questions. If there is time, offer to show any page of the app again. The backup slides after this one hold the hyper-parameters, the Phase 1 numbers and short answers to likely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S_TITLE">
    <p:bg>
      <p:bgPr>
        <a:solidFill>
          <a:schemeClr val="tx1"/>
        </a:solidFill>
      </p:bgPr>
    </p:bg>
    <p:spTree>
      <p:nvGrpSpPr>
        <p:cNvPr id="1" name=""/>
        <p:cNvGrpSpPr/>
        <p:nvPr/>
      </p:nvGrpSpPr>
      <p:grpSpPr>
        <a:xfrm>
          <a:off x="0" y="0"/>
          <a:ext cx="0" cy="0"/>
          <a:chOff x="0" y="0"/>
          <a:chExt cx="0" cy="0"/>
        </a:xfrm>
      </p:grpSpPr>
      <p:pic>
        <p:nvPicPr>
          <p:cNvPr id="2" name="Image 0" descr="C:\Users\karth\AppData\Local\Temp\claude\C--Users-karth-Desktop-clearsar\54a66017-f7f0-4829-a123-64b7753c8ed1\scratchpad\deck\assets\bg_title.jpg">    </p:cNvPr>
          <p:cNvPicPr>
            <a:picLocks noChangeAspect="1"/>
          </p:cNvPicPr>
          <p:nvPr/>
        </p:nvPicPr>
        <p:blipFill>
          <a:blip r:embed="rId1"/>
          <a:stretch>
            <a:fillRect/>
          </a:stretch>
        </p:blipFill>
        <p:spPr>
          <a:xfrm>
            <a:off x="0" y="0"/>
            <a:ext cx="12191695" cy="6858000"/>
          </a:xfrm>
          <a:prstGeom prst="rect">
            <a:avLst/>
          </a:prstGeom>
        </p:spPr>
      </p:pic>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S_CONTENT">
    <p:bg>
      <p:bgPr>
        <a:solidFill>
          <a:schemeClr val="tx1"/>
        </a:solidFill>
      </p:bgPr>
    </p:bg>
    <p:spTree>
      <p:nvGrpSpPr>
        <p:cNvPr id="1" name=""/>
        <p:cNvGrpSpPr/>
        <p:nvPr/>
      </p:nvGrpSpPr>
      <p:grpSpPr>
        <a:xfrm>
          <a:off x="0" y="0"/>
          <a:ext cx="0" cy="0"/>
          <a:chOff x="0" y="0"/>
          <a:chExt cx="0" cy="0"/>
        </a:xfrm>
      </p:grpSpPr>
      <p:pic>
        <p:nvPicPr>
          <p:cNvPr id="2" name="Image 0" descr="C:\Users\karth\AppData\Local\Temp\claude\C--Users-karth-Desktop-clearsar\54a66017-f7f0-4829-a123-64b7753c8ed1\scratchpad\deck\assets\bg_cont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bg2"/>
                </a:solidFill>
              </a:rPr>
              <a:t>ClearSAR · SAR-to-optical cloud removal</a:t>
            </a:r>
            <a:endParaRPr lang="en-US" sz="1000" dirty="0"/>
          </a:p>
        </p:txBody>
      </p:sp>
      <p:sp>
        <p:nvSpPr>
          <p:cNvPr id="4" name="Text 1"/>
          <p:cNvSpPr/>
          <p:nvPr>
            <p:ph idx="102" type="body" hasCustomPrompt="1"/>
          </p:nvPr>
        </p:nvSpPr>
        <p:spPr>
          <a:xfrm>
            <a:off x="548640" y="347472"/>
            <a:ext cx="7315200" cy="292608"/>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48640" y="621792"/>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3.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640080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MSC DEEP LEARNING PROJECT · OCTOBER 2026</a:t>
            </a:r>
            <a:endParaRPr lang="en-US" sz="1200" dirty="0"/>
          </a:p>
        </p:txBody>
      </p:sp>
      <p:sp>
        <p:nvSpPr>
          <p:cNvPr id="3" name="Text 1"/>
          <p:cNvSpPr txBox="1"/>
          <p:nvPr/>
        </p:nvSpPr>
        <p:spPr>
          <a:xfrm>
            <a:off x="548640" y="1645920"/>
            <a:ext cx="6400800" cy="1005840"/>
          </a:xfrm>
          <a:prstGeom prst="rect">
            <a:avLst/>
          </a:prstGeom>
          <a:noFill/>
          <a:ln/>
        </p:spPr>
        <p:txBody>
          <a:bodyPr wrap="square" lIns="0" tIns="0" rIns="0" bIns="0" rtlCol="0" anchor="t"/>
          <a:lstStyle/>
          <a:p>
            <a:pPr indent="0" marL="0">
              <a:buNone/>
            </a:pPr>
            <a:r>
              <a:rPr lang="en-US" sz="6000" b="1" dirty="0">
                <a:solidFill>
                  <a:schemeClr val="bg1"/>
                </a:solidFill>
                <a:latin typeface="Segoe UI Semibold" pitchFamily="34" charset="0"/>
                <a:ea typeface="Segoe UI Semibold" pitchFamily="34" charset="-122"/>
                <a:cs typeface="Segoe UI Semibold" pitchFamily="34" charset="-120"/>
              </a:rPr>
              <a:t>ClearSAR</a:t>
            </a:r>
            <a:endParaRPr lang="en-US" sz="6000" dirty="0"/>
          </a:p>
        </p:txBody>
      </p:sp>
      <p:sp>
        <p:nvSpPr>
          <p:cNvPr id="4" name="Text 2"/>
          <p:cNvSpPr txBox="1"/>
          <p:nvPr/>
        </p:nvSpPr>
        <p:spPr>
          <a:xfrm>
            <a:off x="548640" y="2697480"/>
            <a:ext cx="640080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Semibold" pitchFamily="34" charset="0"/>
                <a:ea typeface="Segoe UI Semibold" pitchFamily="34" charset="-122"/>
                <a:cs typeface="Segoe UI Semibold" pitchFamily="34" charset="-120"/>
              </a:rPr>
              <a:t>Seeing the ground through the clouds</a:t>
            </a:r>
            <a:endParaRPr lang="en-US" sz="2600" dirty="0"/>
          </a:p>
        </p:txBody>
      </p:sp>
      <p:sp>
        <p:nvSpPr>
          <p:cNvPr id="5" name="Text 3"/>
          <p:cNvSpPr txBox="1"/>
          <p:nvPr/>
        </p:nvSpPr>
        <p:spPr>
          <a:xfrm>
            <a:off x="548640" y="3429000"/>
            <a:ext cx="5760720" cy="914400"/>
          </a:xfrm>
          <a:prstGeom prst="rect">
            <a:avLst/>
          </a:prstGeom>
          <a:noFill/>
          <a:ln/>
        </p:spPr>
        <p:txBody>
          <a:bodyPr wrap="square" lIns="0" tIns="0" rIns="0" bIns="0" rtlCol="0" anchor="t"/>
          <a:lstStyle/>
          <a:p>
            <a:pPr indent="0" marL="0">
              <a:buNone/>
            </a:pPr>
            <a:r>
              <a:rPr lang="en-US" sz="1600" dirty="0">
                <a:solidFill>
                  <a:schemeClr val="bg2"/>
                </a:solidFill>
              </a:rPr>
              <a:t>One deep-learning model that rebuilds cloud-free Sentinel-2 images from radar and the cloudy image - and an expert system that decides when to trust it.</a:t>
            </a:r>
            <a:endParaRPr lang="en-US" sz="1600" dirty="0"/>
          </a:p>
        </p:txBody>
      </p:sp>
      <p:sp>
        <p:nvSpPr>
          <p:cNvPr id="6" name="Text 4"/>
          <p:cNvSpPr txBox="1"/>
          <p:nvPr/>
        </p:nvSpPr>
        <p:spPr>
          <a:xfrm>
            <a:off x="548640" y="5120640"/>
            <a:ext cx="5486400" cy="365760"/>
          </a:xfrm>
          <a:prstGeom prst="rect">
            <a:avLst/>
          </a:prstGeom>
          <a:noFill/>
          <a:ln/>
        </p:spPr>
        <p:txBody>
          <a:bodyPr wrap="square" lIns="0" tIns="0" rIns="0" bIns="0" rtlCol="0" anchor="t"/>
          <a:lstStyle/>
          <a:p>
            <a:pPr indent="0" marL="0">
              <a:buNone/>
            </a:pPr>
            <a:r>
              <a:rPr lang="en-US" sz="1600" b="1" dirty="0">
                <a:solidFill>
                  <a:schemeClr val="bg1"/>
                </a:solidFill>
              </a:rPr>
              <a:t>Karthikeya Bhamidipati</a:t>
            </a:r>
            <a:endParaRPr lang="en-US" sz="1600" dirty="0"/>
          </a:p>
        </p:txBody>
      </p:sp>
      <p:sp>
        <p:nvSpPr>
          <p:cNvPr id="7" name="Text 5"/>
          <p:cNvSpPr txBox="1"/>
          <p:nvPr/>
        </p:nvSpPr>
        <p:spPr>
          <a:xfrm>
            <a:off x="548640" y="5486400"/>
            <a:ext cx="5486400" cy="320040"/>
          </a:xfrm>
          <a:prstGeom prst="rect">
            <a:avLst/>
          </a:prstGeom>
          <a:noFill/>
          <a:ln/>
        </p:spPr>
        <p:txBody>
          <a:bodyPr wrap="square" lIns="0" tIns="0" rIns="0" bIns="0" rtlCol="0" anchor="t"/>
          <a:lstStyle/>
          <a:p>
            <a:pPr indent="0" marL="0">
              <a:buNone/>
            </a:pPr>
            <a:r>
              <a:rPr lang="en-US" sz="1200" dirty="0">
                <a:solidFill>
                  <a:schemeClr val="bg2"/>
                </a:solidFill>
              </a:rPr>
              <a:t>github.com/karthikeya-bhamidipati/clearsar</a:t>
            </a:r>
            <a:endParaRPr lang="en-US" sz="1200" dirty="0"/>
          </a:p>
        </p:txBody>
      </p:sp>
      <p:sp>
        <p:nvSpPr>
          <p:cNvPr id="8" name="t_cloudy_frame"/>
          <p:cNvSpPr/>
          <p:nvPr/>
        </p:nvSpPr>
        <p:spPr>
          <a:xfrm>
            <a:off x="7050024" y="1289304"/>
            <a:ext cx="2221992" cy="2221992"/>
          </a:xfrm>
          <a:prstGeom prst="roundRect">
            <a:avLst>
              <a:gd name="adj" fmla="val 3292"/>
            </a:avLst>
          </a:prstGeom>
          <a:solidFill>
            <a:schemeClr val="tx2"/>
          </a:solidFill>
          <a:ln w="9525">
            <a:solidFill>
              <a:schemeClr val="accent2">
                <a:alpha val="50000"/>
              </a:schemeClr>
            </a:solidFill>
            <a:prstDash val="solid"/>
          </a:ln>
        </p:spPr>
      </p:sp>
      <p:pic>
        <p:nvPicPr>
          <p:cNvPr id="9" name="t_cloudy" descr="Hazy Sentinel-2 test patch from China">    </p:cNvPr>
          <p:cNvPicPr>
            <a:picLocks noChangeAspect="1"/>
          </p:cNvPicPr>
          <p:nvPr/>
        </p:nvPicPr>
        <p:blipFill>
          <a:blip r:embed="rId1"/>
          <a:stretch>
            <a:fillRect/>
          </a:stretch>
        </p:blipFill>
        <p:spPr>
          <a:xfrm>
            <a:off x="7086600" y="1325880"/>
            <a:ext cx="2148840" cy="2148840"/>
          </a:xfrm>
          <a:prstGeom prst="rect">
            <a:avLst/>
          </a:prstGeom>
        </p:spPr>
      </p:pic>
      <p:sp>
        <p:nvSpPr>
          <p:cNvPr id="10" name="t_final_frame"/>
          <p:cNvSpPr/>
          <p:nvPr/>
        </p:nvSpPr>
        <p:spPr>
          <a:xfrm>
            <a:off x="9427464" y="1289304"/>
            <a:ext cx="2221992" cy="2221992"/>
          </a:xfrm>
          <a:prstGeom prst="roundRect">
            <a:avLst>
              <a:gd name="adj" fmla="val 3292"/>
            </a:avLst>
          </a:prstGeom>
          <a:solidFill>
            <a:schemeClr val="tx2"/>
          </a:solidFill>
          <a:ln w="9525">
            <a:solidFill>
              <a:schemeClr val="accent2">
                <a:alpha val="50000"/>
              </a:schemeClr>
            </a:solidFill>
            <a:prstDash val="solid"/>
          </a:ln>
        </p:spPr>
      </p:sp>
      <p:pic>
        <p:nvPicPr>
          <p:cNvPr id="11" name="t_final" descr="ClearSAR-Net reconstruction of the same patch">    </p:cNvPr>
          <p:cNvPicPr>
            <a:picLocks noChangeAspect="1"/>
          </p:cNvPicPr>
          <p:nvPr/>
        </p:nvPicPr>
        <p:blipFill>
          <a:blip r:embed="rId2"/>
          <a:stretch>
            <a:fillRect/>
          </a:stretch>
        </p:blipFill>
        <p:spPr>
          <a:xfrm>
            <a:off x="9464040" y="1325880"/>
            <a:ext cx="2148840" cy="2148840"/>
          </a:xfrm>
          <a:prstGeom prst="rect">
            <a:avLst/>
          </a:prstGeom>
        </p:spPr>
      </p:pic>
      <p:sp>
        <p:nvSpPr>
          <p:cNvPr id="12" name="t_radar_frame"/>
          <p:cNvSpPr/>
          <p:nvPr/>
        </p:nvSpPr>
        <p:spPr>
          <a:xfrm>
            <a:off x="7050024" y="3803904"/>
            <a:ext cx="2221992" cy="2221992"/>
          </a:xfrm>
          <a:prstGeom prst="roundRect">
            <a:avLst>
              <a:gd name="adj" fmla="val 3292"/>
            </a:avLst>
          </a:prstGeom>
          <a:solidFill>
            <a:schemeClr val="tx2"/>
          </a:solidFill>
          <a:ln w="9525">
            <a:solidFill>
              <a:schemeClr val="accent2">
                <a:alpha val="50000"/>
              </a:schemeClr>
            </a:solidFill>
            <a:prstDash val="solid"/>
          </a:ln>
        </p:spPr>
      </p:sp>
      <p:pic>
        <p:nvPicPr>
          <p:cNvPr id="13" name="t_radar" descr="Sentinel-1 radar (VV) of the same patch">    </p:cNvPr>
          <p:cNvPicPr>
            <a:picLocks noChangeAspect="1"/>
          </p:cNvPicPr>
          <p:nvPr/>
        </p:nvPicPr>
        <p:blipFill>
          <a:blip r:embed="rId3"/>
          <a:stretch>
            <a:fillRect/>
          </a:stretch>
        </p:blipFill>
        <p:spPr>
          <a:xfrm>
            <a:off x="7086600" y="3840480"/>
            <a:ext cx="2148840" cy="2148840"/>
          </a:xfrm>
          <a:prstGeom prst="rect">
            <a:avLst/>
          </a:prstGeom>
        </p:spPr>
      </p:pic>
      <p:sp>
        <p:nvSpPr>
          <p:cNvPr id="14" name="t_truth_frame"/>
          <p:cNvSpPr/>
          <p:nvPr/>
        </p:nvSpPr>
        <p:spPr>
          <a:xfrm>
            <a:off x="9427464" y="3803904"/>
            <a:ext cx="2221992" cy="2221992"/>
          </a:xfrm>
          <a:prstGeom prst="roundRect">
            <a:avLst>
              <a:gd name="adj" fmla="val 3292"/>
            </a:avLst>
          </a:prstGeom>
          <a:solidFill>
            <a:schemeClr val="tx2"/>
          </a:solidFill>
          <a:ln w="9525">
            <a:solidFill>
              <a:schemeClr val="accent2">
                <a:alpha val="50000"/>
              </a:schemeClr>
            </a:solidFill>
            <a:prstDash val="solid"/>
          </a:ln>
        </p:spPr>
      </p:sp>
      <p:pic>
        <p:nvPicPr>
          <p:cNvPr id="15" name="t_truth" descr="True clear image of the same patch">    </p:cNvPr>
          <p:cNvPicPr>
            <a:picLocks noChangeAspect="1"/>
          </p:cNvPicPr>
          <p:nvPr/>
        </p:nvPicPr>
        <p:blipFill>
          <a:blip r:embed="rId4"/>
          <a:stretch>
            <a:fillRect/>
          </a:stretch>
        </p:blipFill>
        <p:spPr>
          <a:xfrm>
            <a:off x="9464040" y="3840480"/>
            <a:ext cx="2148840" cy="2148840"/>
          </a:xfrm>
          <a:prstGeom prst="rect">
            <a:avLst/>
          </a:prstGeom>
        </p:spPr>
      </p:pic>
      <p:sp>
        <p:nvSpPr>
          <p:cNvPr id="16" name="Text 10"/>
          <p:cNvSpPr txBox="1"/>
          <p:nvPr/>
        </p:nvSpPr>
        <p:spPr>
          <a:xfrm>
            <a:off x="6949440" y="3566160"/>
            <a:ext cx="2423160" cy="292608"/>
          </a:xfrm>
          <a:prstGeom prst="rect">
            <a:avLst/>
          </a:prstGeom>
          <a:noFill/>
          <a:ln/>
        </p:spPr>
        <p:txBody>
          <a:bodyPr wrap="square" lIns="0" tIns="0" rIns="0" bIns="0" rtlCol="0" anchor="t"/>
          <a:lstStyle/>
          <a:p>
            <a:pPr algn="ctr" indent="0" marL="0">
              <a:buNone/>
            </a:pPr>
            <a:r>
              <a:rPr lang="en-US" sz="1100" dirty="0">
                <a:solidFill>
                  <a:schemeClr val="bg2"/>
                </a:solidFill>
              </a:rPr>
              <a:t>hazy input (China, test scene)</a:t>
            </a:r>
            <a:endParaRPr lang="en-US" sz="1100" dirty="0"/>
          </a:p>
        </p:txBody>
      </p:sp>
      <p:sp>
        <p:nvSpPr>
          <p:cNvPr id="17" name="Text 11"/>
          <p:cNvSpPr txBox="1"/>
          <p:nvPr/>
        </p:nvSpPr>
        <p:spPr>
          <a:xfrm>
            <a:off x="9464040" y="3566160"/>
            <a:ext cx="2148840" cy="292608"/>
          </a:xfrm>
          <a:prstGeom prst="rect">
            <a:avLst/>
          </a:prstGeom>
          <a:noFill/>
          <a:ln/>
        </p:spPr>
        <p:txBody>
          <a:bodyPr wrap="square" lIns="0" tIns="0" rIns="0" bIns="0" rtlCol="0" anchor="t"/>
          <a:lstStyle/>
          <a:p>
            <a:pPr algn="ctr" indent="0" marL="0">
              <a:buNone/>
            </a:pPr>
            <a:r>
              <a:rPr lang="en-US" sz="1100" dirty="0">
                <a:solidFill>
                  <a:schemeClr val="bg2"/>
                </a:solidFill>
              </a:rPr>
              <a:t>ClearSAR-Net</a:t>
            </a:r>
            <a:endParaRPr lang="en-US" sz="1100" dirty="0"/>
          </a:p>
        </p:txBody>
      </p:sp>
      <p:sp>
        <p:nvSpPr>
          <p:cNvPr id="18" name="Text 12"/>
          <p:cNvSpPr txBox="1"/>
          <p:nvPr/>
        </p:nvSpPr>
        <p:spPr>
          <a:xfrm>
            <a:off x="6949440" y="6080760"/>
            <a:ext cx="2423160" cy="292608"/>
          </a:xfrm>
          <a:prstGeom prst="rect">
            <a:avLst/>
          </a:prstGeom>
          <a:noFill/>
          <a:ln/>
        </p:spPr>
        <p:txBody>
          <a:bodyPr wrap="square" lIns="0" tIns="0" rIns="0" bIns="0" rtlCol="0" anchor="t"/>
          <a:lstStyle/>
          <a:p>
            <a:pPr algn="ctr" indent="0" marL="0">
              <a:buNone/>
            </a:pPr>
            <a:r>
              <a:rPr lang="en-US" sz="1100" dirty="0">
                <a:solidFill>
                  <a:schemeClr val="bg2"/>
                </a:solidFill>
              </a:rPr>
              <a:t>radar (sees through cloud)</a:t>
            </a:r>
            <a:endParaRPr lang="en-US" sz="1100" dirty="0"/>
          </a:p>
        </p:txBody>
      </p:sp>
      <p:sp>
        <p:nvSpPr>
          <p:cNvPr id="19" name="Text 13"/>
          <p:cNvSpPr txBox="1"/>
          <p:nvPr/>
        </p:nvSpPr>
        <p:spPr>
          <a:xfrm>
            <a:off x="9464040" y="6080760"/>
            <a:ext cx="2148840" cy="292608"/>
          </a:xfrm>
          <a:prstGeom prst="rect">
            <a:avLst/>
          </a:prstGeom>
          <a:noFill/>
          <a:ln/>
        </p:spPr>
        <p:txBody>
          <a:bodyPr wrap="square" lIns="0" tIns="0" rIns="0" bIns="0" rtlCol="0" anchor="t"/>
          <a:lstStyle/>
          <a:p>
            <a:pPr algn="ctr" indent="0" marL="0">
              <a:buNone/>
            </a:pPr>
            <a:r>
              <a:rPr lang="en-US" sz="1100" dirty="0">
                <a:solidFill>
                  <a:schemeClr val="bg2"/>
                </a:solidFill>
              </a:rPr>
              <a:t>true clear image</a:t>
            </a:r>
            <a:endParaRPr lang="en-US" sz="11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01 · THE PROBLEM</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Clouds hide the ground - radar does not</a:t>
            </a:r>
            <a:endParaRPr lang="en-US" sz="3200" dirty="0"/>
          </a:p>
        </p:txBody>
      </p:sp>
      <p:sp>
        <p:nvSpPr>
          <p:cNvPr id="4" name="p_icon0_dot"/>
          <p:cNvSpPr/>
          <p:nvPr/>
        </p:nvSpPr>
        <p:spPr>
          <a:xfrm>
            <a:off x="548640" y="1691640"/>
            <a:ext cx="685800" cy="685800"/>
          </a:xfrm>
          <a:prstGeom prst="ellipse">
            <a:avLst/>
          </a:prstGeom>
          <a:solidFill>
            <a:schemeClr val="accent2"/>
          </a:solidFill>
          <a:ln w="12700">
            <a:solidFill>
              <a:schemeClr val="accent2"/>
            </a:solidFill>
            <a:prstDash val="solid"/>
          </a:ln>
        </p:spPr>
      </p:sp>
      <p:pic>
        <p:nvPicPr>
          <p:cNvPr id="5" name="p_icon0_icon" descr="preencoded.png">    </p:cNvPr>
          <p:cNvPicPr>
            <a:picLocks noChangeAspect="1"/>
          </p:cNvPicPr>
          <p:nvPr/>
        </p:nvPicPr>
        <p:blipFill>
          <a:blip r:embed="rId1"/>
          <a:stretch>
            <a:fillRect/>
          </a:stretch>
        </p:blipFill>
        <p:spPr>
          <a:xfrm>
            <a:off x="713232" y="1856232"/>
            <a:ext cx="356616" cy="356616"/>
          </a:xfrm>
          <a:prstGeom prst="rect">
            <a:avLst/>
          </a:prstGeom>
        </p:spPr>
      </p:pic>
      <p:sp>
        <p:nvSpPr>
          <p:cNvPr id="6" name="Text 3"/>
          <p:cNvSpPr txBox="1"/>
          <p:nvPr/>
        </p:nvSpPr>
        <p:spPr>
          <a:xfrm>
            <a:off x="1508760" y="1673352"/>
            <a:ext cx="5669280" cy="365760"/>
          </a:xfrm>
          <a:prstGeom prst="rect">
            <a:avLst/>
          </a:prstGeom>
          <a:noFill/>
          <a:ln/>
        </p:spPr>
        <p:txBody>
          <a:bodyPr wrap="square" lIns="0" tIns="0" rIns="0" bIns="0" rtlCol="0" anchor="t"/>
          <a:lstStyle/>
          <a:p>
            <a:pPr indent="0" marL="0">
              <a:buNone/>
            </a:pPr>
            <a:r>
              <a:rPr lang="en-US" sz="1800" b="1" dirty="0">
                <a:solidFill>
                  <a:schemeClr val="bg1"/>
                </a:solidFill>
              </a:rPr>
              <a:t>Optical satellites are blind under cloud</a:t>
            </a:r>
            <a:endParaRPr lang="en-US" sz="1800" dirty="0"/>
          </a:p>
        </p:txBody>
      </p:sp>
      <p:sp>
        <p:nvSpPr>
          <p:cNvPr id="7" name="Text 4"/>
          <p:cNvSpPr txBox="1"/>
          <p:nvPr/>
        </p:nvSpPr>
        <p:spPr>
          <a:xfrm>
            <a:off x="1508760" y="2075688"/>
            <a:ext cx="5669280" cy="868680"/>
          </a:xfrm>
          <a:prstGeom prst="rect">
            <a:avLst/>
          </a:prstGeom>
          <a:noFill/>
          <a:ln/>
        </p:spPr>
        <p:txBody>
          <a:bodyPr wrap="square" lIns="0" tIns="0" rIns="0" bIns="0" rtlCol="0" anchor="t"/>
          <a:lstStyle/>
          <a:p>
            <a:pPr indent="0" marL="0">
              <a:buNone/>
            </a:pPr>
            <a:r>
              <a:rPr lang="en-US" sz="1400" dirty="0">
                <a:solidFill>
                  <a:schemeClr val="bg2"/>
                </a:solidFill>
              </a:rPr>
              <a:t>Sentinel-2 sees 13 spectral bands - colour, vegetation, water - but needs sunlight through a clear sky.</a:t>
            </a:r>
            <a:endParaRPr lang="en-US" sz="1400" dirty="0"/>
          </a:p>
        </p:txBody>
      </p:sp>
      <p:sp>
        <p:nvSpPr>
          <p:cNvPr id="8" name="p_icon1_dot"/>
          <p:cNvSpPr/>
          <p:nvPr/>
        </p:nvSpPr>
        <p:spPr>
          <a:xfrm>
            <a:off x="548640" y="3154680"/>
            <a:ext cx="685800" cy="685800"/>
          </a:xfrm>
          <a:prstGeom prst="ellipse">
            <a:avLst/>
          </a:prstGeom>
          <a:solidFill>
            <a:schemeClr val="accent3"/>
          </a:solidFill>
          <a:ln w="12700">
            <a:solidFill>
              <a:schemeClr val="accent3"/>
            </a:solidFill>
            <a:prstDash val="solid"/>
          </a:ln>
        </p:spPr>
      </p:sp>
      <p:pic>
        <p:nvPicPr>
          <p:cNvPr id="9" name="p_icon1_icon" descr="preencoded.png">    </p:cNvPr>
          <p:cNvPicPr>
            <a:picLocks noChangeAspect="1"/>
          </p:cNvPicPr>
          <p:nvPr/>
        </p:nvPicPr>
        <p:blipFill>
          <a:blip r:embed="rId2"/>
          <a:stretch>
            <a:fillRect/>
          </a:stretch>
        </p:blipFill>
        <p:spPr>
          <a:xfrm>
            <a:off x="713232" y="3319272"/>
            <a:ext cx="356616" cy="356616"/>
          </a:xfrm>
          <a:prstGeom prst="rect">
            <a:avLst/>
          </a:prstGeom>
        </p:spPr>
      </p:pic>
      <p:sp>
        <p:nvSpPr>
          <p:cNvPr id="10" name="Text 6"/>
          <p:cNvSpPr txBox="1"/>
          <p:nvPr/>
        </p:nvSpPr>
        <p:spPr>
          <a:xfrm>
            <a:off x="1508760" y="3136392"/>
            <a:ext cx="5669280" cy="365760"/>
          </a:xfrm>
          <a:prstGeom prst="rect">
            <a:avLst/>
          </a:prstGeom>
          <a:noFill/>
          <a:ln/>
        </p:spPr>
        <p:txBody>
          <a:bodyPr wrap="square" lIns="0" tIns="0" rIns="0" bIns="0" rtlCol="0" anchor="t"/>
          <a:lstStyle/>
          <a:p>
            <a:pPr indent="0" marL="0">
              <a:buNone/>
            </a:pPr>
            <a:r>
              <a:rPr lang="en-US" sz="1800" b="1" dirty="0">
                <a:solidFill>
                  <a:schemeClr val="bg1"/>
                </a:solidFill>
              </a:rPr>
              <a:t>Radar sees through cloud, day and night</a:t>
            </a:r>
            <a:endParaRPr lang="en-US" sz="1800" dirty="0"/>
          </a:p>
        </p:txBody>
      </p:sp>
      <p:sp>
        <p:nvSpPr>
          <p:cNvPr id="11" name="Text 7"/>
          <p:cNvSpPr txBox="1"/>
          <p:nvPr/>
        </p:nvSpPr>
        <p:spPr>
          <a:xfrm>
            <a:off x="1508760" y="3538728"/>
            <a:ext cx="5669280" cy="868680"/>
          </a:xfrm>
          <a:prstGeom prst="rect">
            <a:avLst/>
          </a:prstGeom>
          <a:noFill/>
          <a:ln/>
        </p:spPr>
        <p:txBody>
          <a:bodyPr wrap="square" lIns="0" tIns="0" rIns="0" bIns="0" rtlCol="0" anchor="t"/>
          <a:lstStyle/>
          <a:p>
            <a:pPr indent="0" marL="0">
              <a:buNone/>
            </a:pPr>
            <a:r>
              <a:rPr lang="en-US" sz="1400" dirty="0">
                <a:solidFill>
                  <a:schemeClr val="bg2"/>
                </a:solidFill>
              </a:rPr>
              <a:t>Sentinel-1 sends its own microwaves (C-band, 5.6 cm). The echo shows roughness and moisture - but no colour.</a:t>
            </a:r>
            <a:endParaRPr lang="en-US" sz="1400" dirty="0"/>
          </a:p>
        </p:txBody>
      </p:sp>
      <p:sp>
        <p:nvSpPr>
          <p:cNvPr id="12" name="p_icon2_dot"/>
          <p:cNvSpPr/>
          <p:nvPr/>
        </p:nvSpPr>
        <p:spPr>
          <a:xfrm>
            <a:off x="548640" y="4617720"/>
            <a:ext cx="685800" cy="685800"/>
          </a:xfrm>
          <a:prstGeom prst="ellipse">
            <a:avLst/>
          </a:prstGeom>
          <a:solidFill>
            <a:schemeClr val="accent1"/>
          </a:solidFill>
          <a:ln w="12700">
            <a:solidFill>
              <a:schemeClr val="accent1"/>
            </a:solidFill>
            <a:prstDash val="solid"/>
          </a:ln>
        </p:spPr>
      </p:sp>
      <p:pic>
        <p:nvPicPr>
          <p:cNvPr id="13" name="p_icon2_icon" descr="preencoded.png">    </p:cNvPr>
          <p:cNvPicPr>
            <a:picLocks noChangeAspect="1"/>
          </p:cNvPicPr>
          <p:nvPr/>
        </p:nvPicPr>
        <p:blipFill>
          <a:blip r:embed="rId3"/>
          <a:stretch>
            <a:fillRect/>
          </a:stretch>
        </p:blipFill>
        <p:spPr>
          <a:xfrm>
            <a:off x="713232" y="4782312"/>
            <a:ext cx="356616" cy="356616"/>
          </a:xfrm>
          <a:prstGeom prst="rect">
            <a:avLst/>
          </a:prstGeom>
        </p:spPr>
      </p:pic>
      <p:sp>
        <p:nvSpPr>
          <p:cNvPr id="14" name="Text 9"/>
          <p:cNvSpPr txBox="1"/>
          <p:nvPr/>
        </p:nvSpPr>
        <p:spPr>
          <a:xfrm>
            <a:off x="1508760" y="4599432"/>
            <a:ext cx="5669280" cy="365760"/>
          </a:xfrm>
          <a:prstGeom prst="rect">
            <a:avLst/>
          </a:prstGeom>
          <a:noFill/>
          <a:ln/>
        </p:spPr>
        <p:txBody>
          <a:bodyPr wrap="square" lIns="0" tIns="0" rIns="0" bIns="0" rtlCol="0" anchor="t"/>
          <a:lstStyle/>
          <a:p>
            <a:pPr indent="0" marL="0">
              <a:buNone/>
            </a:pPr>
            <a:r>
              <a:rPr lang="en-US" sz="1800" b="1" dirty="0">
                <a:solidFill>
                  <a:schemeClr val="bg1"/>
                </a:solidFill>
              </a:rPr>
              <a:t>Fuse the two</a:t>
            </a:r>
            <a:endParaRPr lang="en-US" sz="1800" dirty="0"/>
          </a:p>
        </p:txBody>
      </p:sp>
      <p:sp>
        <p:nvSpPr>
          <p:cNvPr id="15" name="Text 10"/>
          <p:cNvSpPr txBox="1"/>
          <p:nvPr/>
        </p:nvSpPr>
        <p:spPr>
          <a:xfrm>
            <a:off x="1508760" y="5001768"/>
            <a:ext cx="5669280" cy="868680"/>
          </a:xfrm>
          <a:prstGeom prst="rect">
            <a:avLst/>
          </a:prstGeom>
          <a:noFill/>
          <a:ln/>
        </p:spPr>
        <p:txBody>
          <a:bodyPr wrap="square" lIns="0" tIns="0" rIns="0" bIns="0" rtlCol="0" anchor="t"/>
          <a:lstStyle/>
          <a:p>
            <a:pPr indent="0" marL="0">
              <a:buNone/>
            </a:pPr>
            <a:r>
              <a:rPr lang="en-US" sz="1400" dirty="0">
                <a:solidFill>
                  <a:schemeClr val="bg2"/>
                </a:solidFill>
              </a:rPr>
              <a:t>Use the radar plus whatever is still visible to predict the cloud-free optical image. Under thick cloud this is an educated guess - so we also need to know when to trust it.</a:t>
            </a:r>
            <a:endParaRPr lang="en-US" sz="1400" dirty="0"/>
          </a:p>
        </p:txBody>
      </p:sp>
      <p:sp>
        <p:nvSpPr>
          <p:cNvPr id="16" name="p_cloudy_frame"/>
          <p:cNvSpPr/>
          <p:nvPr/>
        </p:nvSpPr>
        <p:spPr>
          <a:xfrm>
            <a:off x="7690104" y="1655064"/>
            <a:ext cx="1901952" cy="1901952"/>
          </a:xfrm>
          <a:prstGeom prst="roundRect">
            <a:avLst>
              <a:gd name="adj" fmla="val 3846"/>
            </a:avLst>
          </a:prstGeom>
          <a:solidFill>
            <a:schemeClr val="tx2"/>
          </a:solidFill>
          <a:ln w="9525">
            <a:solidFill>
              <a:schemeClr val="accent2">
                <a:alpha val="50000"/>
              </a:schemeClr>
            </a:solidFill>
            <a:prstDash val="solid"/>
          </a:ln>
        </p:spPr>
      </p:sp>
      <p:pic>
        <p:nvPicPr>
          <p:cNvPr id="17" name="p_cloudy" descr="Heavily clouded Sentinel-2 patch in Portugal">    </p:cNvPr>
          <p:cNvPicPr>
            <a:picLocks noChangeAspect="1"/>
          </p:cNvPicPr>
          <p:nvPr/>
        </p:nvPicPr>
        <p:blipFill>
          <a:blip r:embed="rId4"/>
          <a:stretch>
            <a:fillRect/>
          </a:stretch>
        </p:blipFill>
        <p:spPr>
          <a:xfrm>
            <a:off x="7726680" y="1691640"/>
            <a:ext cx="1828800" cy="1828800"/>
          </a:xfrm>
          <a:prstGeom prst="rect">
            <a:avLst/>
          </a:prstGeom>
        </p:spPr>
      </p:pic>
      <p:sp>
        <p:nvSpPr>
          <p:cNvPr id="18" name="p_radar_frame"/>
          <p:cNvSpPr/>
          <p:nvPr/>
        </p:nvSpPr>
        <p:spPr>
          <a:xfrm>
            <a:off x="9793224" y="1655064"/>
            <a:ext cx="1901952" cy="1901952"/>
          </a:xfrm>
          <a:prstGeom prst="roundRect">
            <a:avLst>
              <a:gd name="adj" fmla="val 3846"/>
            </a:avLst>
          </a:prstGeom>
          <a:solidFill>
            <a:schemeClr val="tx2"/>
          </a:solidFill>
          <a:ln w="9525">
            <a:solidFill>
              <a:schemeClr val="accent2">
                <a:alpha val="50000"/>
              </a:schemeClr>
            </a:solidFill>
            <a:prstDash val="solid"/>
          </a:ln>
        </p:spPr>
      </p:sp>
      <p:pic>
        <p:nvPicPr>
          <p:cNvPr id="19" name="p_radar" descr="Sentinel-1 radar of the same patch">    </p:cNvPr>
          <p:cNvPicPr>
            <a:picLocks noChangeAspect="1"/>
          </p:cNvPicPr>
          <p:nvPr/>
        </p:nvPicPr>
        <p:blipFill>
          <a:blip r:embed="rId5"/>
          <a:stretch>
            <a:fillRect/>
          </a:stretch>
        </p:blipFill>
        <p:spPr>
          <a:xfrm>
            <a:off x="9829800" y="1691640"/>
            <a:ext cx="1828800" cy="1828800"/>
          </a:xfrm>
          <a:prstGeom prst="rect">
            <a:avLst/>
          </a:prstGeom>
        </p:spPr>
      </p:pic>
      <p:sp>
        <p:nvSpPr>
          <p:cNvPr id="20" name="p_truth_frame"/>
          <p:cNvSpPr/>
          <p:nvPr/>
        </p:nvSpPr>
        <p:spPr>
          <a:xfrm>
            <a:off x="8741664" y="3941064"/>
            <a:ext cx="1901952" cy="1901952"/>
          </a:xfrm>
          <a:prstGeom prst="roundRect">
            <a:avLst>
              <a:gd name="adj" fmla="val 3846"/>
            </a:avLst>
          </a:prstGeom>
          <a:solidFill>
            <a:schemeClr val="tx2"/>
          </a:solidFill>
          <a:ln w="9525">
            <a:solidFill>
              <a:schemeClr val="accent2">
                <a:alpha val="50000"/>
              </a:schemeClr>
            </a:solidFill>
            <a:prstDash val="solid"/>
          </a:ln>
        </p:spPr>
      </p:sp>
      <p:pic>
        <p:nvPicPr>
          <p:cNvPr id="21" name="p_truth" descr="True clear image of the same patch">    </p:cNvPr>
          <p:cNvPicPr>
            <a:picLocks noChangeAspect="1"/>
          </p:cNvPicPr>
          <p:nvPr/>
        </p:nvPicPr>
        <p:blipFill>
          <a:blip r:embed="rId6"/>
          <a:stretch>
            <a:fillRect/>
          </a:stretch>
        </p:blipFill>
        <p:spPr>
          <a:xfrm>
            <a:off x="8778240" y="3977640"/>
            <a:ext cx="1828800" cy="1828800"/>
          </a:xfrm>
          <a:prstGeom prst="rect">
            <a:avLst/>
          </a:prstGeom>
        </p:spPr>
      </p:pic>
      <p:sp>
        <p:nvSpPr>
          <p:cNvPr id="22" name="Text 14"/>
          <p:cNvSpPr txBox="1"/>
          <p:nvPr/>
        </p:nvSpPr>
        <p:spPr>
          <a:xfrm>
            <a:off x="7726680" y="3566160"/>
            <a:ext cx="1828800" cy="292608"/>
          </a:xfrm>
          <a:prstGeom prst="rect">
            <a:avLst/>
          </a:prstGeom>
          <a:noFill/>
          <a:ln/>
        </p:spPr>
        <p:txBody>
          <a:bodyPr wrap="square" lIns="0" tIns="0" rIns="0" bIns="0" rtlCol="0" anchor="t"/>
          <a:lstStyle/>
          <a:p>
            <a:pPr algn="ctr" indent="0" marL="0">
              <a:buNone/>
            </a:pPr>
            <a:r>
              <a:rPr lang="en-US" sz="1100" dirty="0">
                <a:solidFill>
                  <a:schemeClr val="bg2"/>
                </a:solidFill>
              </a:rPr>
              <a:t>optical, 81 % cloud</a:t>
            </a:r>
            <a:endParaRPr lang="en-US" sz="1100" dirty="0"/>
          </a:p>
        </p:txBody>
      </p:sp>
      <p:sp>
        <p:nvSpPr>
          <p:cNvPr id="23" name="Text 15"/>
          <p:cNvSpPr txBox="1"/>
          <p:nvPr/>
        </p:nvSpPr>
        <p:spPr>
          <a:xfrm>
            <a:off x="9829800" y="3566160"/>
            <a:ext cx="1828800" cy="292608"/>
          </a:xfrm>
          <a:prstGeom prst="rect">
            <a:avLst/>
          </a:prstGeom>
          <a:noFill/>
          <a:ln/>
        </p:spPr>
        <p:txBody>
          <a:bodyPr wrap="square" lIns="0" tIns="0" rIns="0" bIns="0" rtlCol="0" anchor="t"/>
          <a:lstStyle/>
          <a:p>
            <a:pPr algn="ctr" indent="0" marL="0">
              <a:buNone/>
            </a:pPr>
            <a:r>
              <a:rPr lang="en-US" sz="1100" dirty="0">
                <a:solidFill>
                  <a:schemeClr val="bg2"/>
                </a:solidFill>
              </a:rPr>
              <a:t>radar</a:t>
            </a:r>
            <a:endParaRPr lang="en-US" sz="1100" dirty="0"/>
          </a:p>
        </p:txBody>
      </p:sp>
      <p:sp>
        <p:nvSpPr>
          <p:cNvPr id="24" name="Text 16"/>
          <p:cNvSpPr txBox="1"/>
          <p:nvPr/>
        </p:nvSpPr>
        <p:spPr>
          <a:xfrm>
            <a:off x="8778240" y="5852160"/>
            <a:ext cx="1828800" cy="292608"/>
          </a:xfrm>
          <a:prstGeom prst="rect">
            <a:avLst/>
          </a:prstGeom>
          <a:noFill/>
          <a:ln/>
        </p:spPr>
        <p:txBody>
          <a:bodyPr wrap="square" lIns="0" tIns="0" rIns="0" bIns="0" rtlCol="0" anchor="t"/>
          <a:lstStyle/>
          <a:p>
            <a:pPr algn="ctr" indent="0" marL="0">
              <a:buNone/>
            </a:pPr>
            <a:r>
              <a:rPr lang="en-US" sz="1100" dirty="0">
                <a:solidFill>
                  <a:schemeClr val="bg2"/>
                </a:solidFill>
              </a:rPr>
              <a:t>what is really there</a:t>
            </a:r>
            <a:endParaRPr lang="en-US" sz="11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01 · THE TASK</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15 channels in, 13 channels out</a:t>
            </a:r>
            <a:endParaRPr lang="en-US" sz="3200" dirty="0"/>
          </a:p>
        </p:txBody>
      </p:sp>
      <p:sp>
        <p:nvSpPr>
          <p:cNvPr id="4" name="task_in"/>
          <p:cNvSpPr/>
          <p:nvPr/>
        </p:nvSpPr>
        <p:spPr>
          <a:xfrm>
            <a:off x="548640" y="2011680"/>
            <a:ext cx="3291840" cy="3017520"/>
          </a:xfrm>
          <a:prstGeom prst="roundRect">
            <a:avLst>
              <a:gd name="adj" fmla="val 3636"/>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822960" y="224028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INPUT</a:t>
            </a:r>
            <a:endParaRPr lang="en-US" sz="1100" dirty="0"/>
          </a:p>
        </p:txBody>
      </p:sp>
      <p:sp>
        <p:nvSpPr>
          <p:cNvPr id="6" name="Text 4"/>
          <p:cNvSpPr txBox="1"/>
          <p:nvPr/>
        </p:nvSpPr>
        <p:spPr>
          <a:xfrm>
            <a:off x="822960" y="2651760"/>
            <a:ext cx="2743200" cy="2194560"/>
          </a:xfrm>
          <a:prstGeom prst="rect">
            <a:avLst/>
          </a:prstGeom>
          <a:noFill/>
          <a:ln/>
        </p:spPr>
        <p:txBody>
          <a:bodyPr wrap="square" lIns="0" tIns="0" rIns="0" bIns="0" rtlCol="0" anchor="t"/>
          <a:lstStyle/>
          <a:p>
            <a:pPr indent="0" marL="0">
              <a:buNone/>
            </a:pPr>
            <a:r>
              <a:rPr lang="en-US" sz="1600" b="1" dirty="0">
                <a:solidFill>
                  <a:schemeClr val="bg1"/>
                </a:solidFill>
              </a:rPr>
              <a:t>2 radar bands</a:t>
            </a:r>
            <a:endParaRPr lang="en-US" sz="1600" dirty="0"/>
          </a:p>
          <a:p>
            <a:pPr indent="0" marL="0">
              <a:buNone/>
            </a:pPr>
            <a:r>
              <a:rPr lang="en-US" sz="1300" dirty="0">
                <a:solidFill>
                  <a:schemeClr val="bg2"/>
                </a:solidFill>
              </a:rPr>
              <a:t>Sentinel-1 VV, VH (dB, scaled to 0-1)</a:t>
            </a:r>
            <a:endParaRPr lang="en-US" sz="1600" dirty="0"/>
          </a:p>
          <a:p>
            <a:pPr indent="0" marL="0">
              <a:buNone/>
            </a:pPr>
            <a:r>
              <a:rPr lang="en-US" sz="1600" dirty="0">
                <a:solidFill>
                  <a:schemeClr val="bg1"/>
                </a:solidFill>
              </a:rPr>
              <a:t> </a:t>
            </a:r>
            <a:endParaRPr lang="en-US" sz="1600" dirty="0"/>
          </a:p>
          <a:p>
            <a:pPr indent="0" marL="0">
              <a:buNone/>
            </a:pPr>
            <a:r>
              <a:rPr lang="en-US" sz="1600" b="1" dirty="0">
                <a:solidFill>
                  <a:schemeClr val="bg1"/>
                </a:solidFill>
              </a:rPr>
              <a:t>13 cloudy optical bands</a:t>
            </a:r>
            <a:endParaRPr lang="en-US" sz="1600" dirty="0"/>
          </a:p>
          <a:p>
            <a:pPr indent="0" marL="0">
              <a:buNone/>
            </a:pPr>
            <a:r>
              <a:rPr lang="en-US" sz="1300" dirty="0">
                <a:solidFill>
                  <a:schemeClr val="bg2"/>
                </a:solidFill>
              </a:rPr>
              <a:t>Sentinel-2 B1-B12 incl. red-edge, NIR, SWIR (reflectance 0-1)</a:t>
            </a:r>
            <a:endParaRPr lang="en-US" sz="1600" dirty="0"/>
          </a:p>
        </p:txBody>
      </p:sp>
      <p:sp>
        <p:nvSpPr>
          <p:cNvPr id="7" name="task_arrow1"/>
          <p:cNvSpPr/>
          <p:nvPr/>
        </p:nvSpPr>
        <p:spPr>
          <a:xfrm>
            <a:off x="4069080" y="3246120"/>
            <a:ext cx="822960" cy="548640"/>
          </a:xfrm>
          <a:prstGeom prst="rightArrow">
            <a:avLst/>
          </a:prstGeom>
          <a:solidFill>
            <a:schemeClr val="accent1"/>
          </a:solidFill>
          <a:ln w="12700">
            <a:solidFill>
              <a:schemeClr val="accent1"/>
            </a:solidFill>
            <a:prstDash val="solid"/>
          </a:ln>
        </p:spPr>
      </p:sp>
      <p:sp>
        <p:nvSpPr>
          <p:cNvPr id="8" name="task_model"/>
          <p:cNvSpPr/>
          <p:nvPr/>
        </p:nvSpPr>
        <p:spPr>
          <a:xfrm>
            <a:off x="5029200" y="2194560"/>
            <a:ext cx="2194560" cy="2651760"/>
          </a:xfrm>
          <a:prstGeom prst="roundRect">
            <a:avLst>
              <a:gd name="adj" fmla="val 5000"/>
            </a:avLst>
          </a:prstGeom>
          <a:solidFill>
            <a:schemeClr val="tx2">
              <a:alpha val="92000"/>
            </a:schemeClr>
          </a:solidFill>
          <a:ln w="9525">
            <a:solidFill>
              <a:schemeClr val="accent3">
                <a:alpha val="45000"/>
              </a:schemeClr>
            </a:solidFill>
            <a:prstDash val="solid"/>
          </a:ln>
        </p:spPr>
      </p:sp>
      <p:sp>
        <p:nvSpPr>
          <p:cNvPr id="9" name="task_brain_dot"/>
          <p:cNvSpPr/>
          <p:nvPr/>
        </p:nvSpPr>
        <p:spPr>
          <a:xfrm>
            <a:off x="5760720" y="2468880"/>
            <a:ext cx="731520" cy="731520"/>
          </a:xfrm>
          <a:prstGeom prst="ellipse">
            <a:avLst/>
          </a:prstGeom>
          <a:solidFill>
            <a:schemeClr val="accent3"/>
          </a:solidFill>
          <a:ln w="12700">
            <a:solidFill>
              <a:schemeClr val="accent3"/>
            </a:solidFill>
            <a:prstDash val="solid"/>
          </a:ln>
        </p:spPr>
      </p:sp>
      <p:pic>
        <p:nvPicPr>
          <p:cNvPr id="10" name="task_brain_icon" descr="preencoded.png">    </p:cNvPr>
          <p:cNvPicPr>
            <a:picLocks noChangeAspect="1"/>
          </p:cNvPicPr>
          <p:nvPr/>
        </p:nvPicPr>
        <p:blipFill>
          <a:blip r:embed="rId1"/>
          <a:stretch>
            <a:fillRect/>
          </a:stretch>
        </p:blipFill>
        <p:spPr>
          <a:xfrm>
            <a:off x="5936285" y="2644445"/>
            <a:ext cx="380390" cy="380390"/>
          </a:xfrm>
          <a:prstGeom prst="rect">
            <a:avLst/>
          </a:prstGeom>
        </p:spPr>
      </p:pic>
      <p:sp>
        <p:nvSpPr>
          <p:cNvPr id="11" name="Text 8"/>
          <p:cNvSpPr txBox="1"/>
          <p:nvPr/>
        </p:nvSpPr>
        <p:spPr>
          <a:xfrm>
            <a:off x="5120640" y="3383280"/>
            <a:ext cx="2011680" cy="411480"/>
          </a:xfrm>
          <a:prstGeom prst="rect">
            <a:avLst/>
          </a:prstGeom>
          <a:noFill/>
          <a:ln/>
        </p:spPr>
        <p:txBody>
          <a:bodyPr wrap="square" lIns="0" tIns="0" rIns="0" bIns="0" rtlCol="0" anchor="t"/>
          <a:lstStyle/>
          <a:p>
            <a:pPr algn="ctr" indent="0" marL="0">
              <a:buNone/>
            </a:pPr>
            <a:r>
              <a:rPr lang="en-US" sz="1800" b="1" dirty="0">
                <a:solidFill>
                  <a:schemeClr val="bg1"/>
                </a:solidFill>
              </a:rPr>
              <a:t>ClearSAR-Net</a:t>
            </a:r>
            <a:endParaRPr lang="en-US" sz="1800" dirty="0"/>
          </a:p>
        </p:txBody>
      </p:sp>
      <p:sp>
        <p:nvSpPr>
          <p:cNvPr id="12" name="Text 9"/>
          <p:cNvSpPr txBox="1"/>
          <p:nvPr/>
        </p:nvSpPr>
        <p:spPr>
          <a:xfrm>
            <a:off x="5120640" y="3794760"/>
            <a:ext cx="2011680" cy="320040"/>
          </a:xfrm>
          <a:prstGeom prst="rect">
            <a:avLst/>
          </a:prstGeom>
          <a:noFill/>
          <a:ln/>
        </p:spPr>
        <p:txBody>
          <a:bodyPr wrap="square" lIns="0" tIns="0" rIns="0" bIns="0" rtlCol="0" anchor="t"/>
          <a:lstStyle/>
          <a:p>
            <a:pPr algn="ctr" indent="0" marL="0">
              <a:buNone/>
            </a:pPr>
            <a:r>
              <a:rPr lang="en-US" sz="1200" dirty="0">
                <a:solidFill>
                  <a:schemeClr val="bg2"/>
                </a:solidFill>
              </a:rPr>
              <a:t>12.8 M parameters</a:t>
            </a:r>
            <a:endParaRPr lang="en-US" sz="1200" dirty="0"/>
          </a:p>
        </p:txBody>
      </p:sp>
      <p:sp>
        <p:nvSpPr>
          <p:cNvPr id="13" name="task_arrow2"/>
          <p:cNvSpPr/>
          <p:nvPr/>
        </p:nvSpPr>
        <p:spPr>
          <a:xfrm>
            <a:off x="7360920" y="3246120"/>
            <a:ext cx="822960" cy="548640"/>
          </a:xfrm>
          <a:prstGeom prst="rightArrow">
            <a:avLst/>
          </a:prstGeom>
          <a:solidFill>
            <a:schemeClr val="accent1"/>
          </a:solidFill>
          <a:ln w="12700">
            <a:solidFill>
              <a:schemeClr val="accent1"/>
            </a:solidFill>
            <a:prstDash val="solid"/>
          </a:ln>
        </p:spPr>
      </p:sp>
      <p:sp>
        <p:nvSpPr>
          <p:cNvPr id="14" name="task_out"/>
          <p:cNvSpPr/>
          <p:nvPr/>
        </p:nvSpPr>
        <p:spPr>
          <a:xfrm>
            <a:off x="8321040" y="2011680"/>
            <a:ext cx="3291840" cy="3017520"/>
          </a:xfrm>
          <a:prstGeom prst="roundRect">
            <a:avLst>
              <a:gd name="adj" fmla="val 3636"/>
            </a:avLst>
          </a:prstGeom>
          <a:solidFill>
            <a:schemeClr val="tx2">
              <a:alpha val="92000"/>
            </a:schemeClr>
          </a:solidFill>
          <a:ln w="9525">
            <a:solidFill>
              <a:schemeClr val="accent1">
                <a:alpha val="45000"/>
              </a:schemeClr>
            </a:solidFill>
            <a:prstDash val="solid"/>
          </a:ln>
        </p:spPr>
      </p:sp>
      <p:sp>
        <p:nvSpPr>
          <p:cNvPr id="15" name="Text 12"/>
          <p:cNvSpPr txBox="1"/>
          <p:nvPr/>
        </p:nvSpPr>
        <p:spPr>
          <a:xfrm>
            <a:off x="8595360" y="224028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OUTPUT</a:t>
            </a:r>
            <a:endParaRPr lang="en-US" sz="1100" dirty="0"/>
          </a:p>
        </p:txBody>
      </p:sp>
      <p:sp>
        <p:nvSpPr>
          <p:cNvPr id="16" name="Text 13"/>
          <p:cNvSpPr txBox="1"/>
          <p:nvPr/>
        </p:nvSpPr>
        <p:spPr>
          <a:xfrm>
            <a:off x="8595360" y="2651760"/>
            <a:ext cx="2743200" cy="2194560"/>
          </a:xfrm>
          <a:prstGeom prst="rect">
            <a:avLst/>
          </a:prstGeom>
          <a:noFill/>
          <a:ln/>
        </p:spPr>
        <p:txBody>
          <a:bodyPr wrap="square" lIns="0" tIns="0" rIns="0" bIns="0" rtlCol="0" anchor="t"/>
          <a:lstStyle/>
          <a:p>
            <a:pPr indent="0" marL="0">
              <a:buNone/>
            </a:pPr>
            <a:r>
              <a:rPr lang="en-US" sz="1600" b="1" dirty="0">
                <a:solidFill>
                  <a:schemeClr val="bg1"/>
                </a:solidFill>
              </a:rPr>
              <a:t>13 clear optical bands</a:t>
            </a:r>
            <a:endParaRPr lang="en-US" sz="1600" dirty="0"/>
          </a:p>
          <a:p>
            <a:pPr indent="0" marL="0">
              <a:buNone/>
            </a:pPr>
            <a:r>
              <a:rPr lang="en-US" sz="1300" dirty="0">
                <a:solidFill>
                  <a:schemeClr val="bg2"/>
                </a:solidFill>
              </a:rPr>
              <a:t>the cloud-free Sentinel-2 image - all bands, not just colour, so vegetation and water indices still work</a:t>
            </a:r>
            <a:endParaRPr lang="en-US" sz="1600" dirty="0"/>
          </a:p>
        </p:txBody>
      </p:sp>
      <p:sp>
        <p:nvSpPr>
          <p:cNvPr id="17" name="Text 14"/>
          <p:cNvSpPr txBox="1"/>
          <p:nvPr/>
        </p:nvSpPr>
        <p:spPr>
          <a:xfrm>
            <a:off x="548640" y="5577840"/>
            <a:ext cx="11094415" cy="640080"/>
          </a:xfrm>
          <a:prstGeom prst="rect">
            <a:avLst/>
          </a:prstGeom>
          <a:noFill/>
          <a:ln/>
        </p:spPr>
        <p:txBody>
          <a:bodyPr wrap="square" lIns="0" tIns="0" rIns="0" bIns="0" rtlCol="0" anchor="t"/>
          <a:lstStyle/>
          <a:p>
            <a:pPr indent="0" marL="0">
              <a:buNone/>
            </a:pPr>
            <a:r>
              <a:rPr lang="en-US" sz="1400" dirty="0">
                <a:solidFill>
                  <a:schemeClr val="bg2"/>
                </a:solidFill>
              </a:rPr>
              <a:t>The answer is ill-posed: under thick cloud several outputs fit the radar equally well. A pixel loss then averages them (blur); a GAN can add realistic texture - at the risk of inventing it.</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02 · DATA</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The whole SEN12MS-CR dataset, split by scene</a:t>
            </a:r>
            <a:endParaRPr lang="en-US" sz="3200" dirty="0"/>
          </a:p>
        </p:txBody>
      </p:sp>
      <p:sp>
        <p:nvSpPr>
          <p:cNvPr id="4" name="d1_panel"/>
          <p:cNvSpPr/>
          <p:nvPr/>
        </p:nvSpPr>
        <p:spPr>
          <a:xfrm>
            <a:off x="548640" y="1737360"/>
            <a:ext cx="260604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777240" y="1901952"/>
            <a:ext cx="2148840"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122,218</a:t>
            </a:r>
            <a:endParaRPr lang="en-US" sz="3400" dirty="0"/>
          </a:p>
        </p:txBody>
      </p:sp>
      <p:sp>
        <p:nvSpPr>
          <p:cNvPr id="6" name="Text 4"/>
          <p:cNvSpPr txBox="1"/>
          <p:nvPr/>
        </p:nvSpPr>
        <p:spPr>
          <a:xfrm>
            <a:off x="777240" y="2560320"/>
            <a:ext cx="2148840" cy="411480"/>
          </a:xfrm>
          <a:prstGeom prst="rect">
            <a:avLst/>
          </a:prstGeom>
          <a:noFill/>
          <a:ln/>
        </p:spPr>
        <p:txBody>
          <a:bodyPr wrap="square" lIns="0" tIns="0" rIns="0" bIns="0" rtlCol="0" anchor="t"/>
          <a:lstStyle/>
          <a:p>
            <a:pPr indent="0" marL="0">
              <a:buNone/>
            </a:pPr>
            <a:r>
              <a:rPr lang="en-US" sz="1200" dirty="0">
                <a:solidFill>
                  <a:schemeClr val="bg2"/>
                </a:solidFill>
              </a:rPr>
              <a:t>patch triplets: radar + cloudy + clear</a:t>
            </a:r>
            <a:endParaRPr lang="en-US" sz="1200" dirty="0"/>
          </a:p>
        </p:txBody>
      </p:sp>
      <p:sp>
        <p:nvSpPr>
          <p:cNvPr id="7" name="d2_panel"/>
          <p:cNvSpPr/>
          <p:nvPr/>
        </p:nvSpPr>
        <p:spPr>
          <a:xfrm>
            <a:off x="3337560" y="1737360"/>
            <a:ext cx="260604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8" name="Text 6"/>
          <p:cNvSpPr txBox="1"/>
          <p:nvPr/>
        </p:nvSpPr>
        <p:spPr>
          <a:xfrm>
            <a:off x="3566160" y="1901952"/>
            <a:ext cx="2148840" cy="640080"/>
          </a:xfrm>
          <a:prstGeom prst="rect">
            <a:avLst/>
          </a:prstGeom>
          <a:noFill/>
          <a:ln/>
        </p:spPr>
        <p:txBody>
          <a:bodyPr wrap="square" lIns="0" tIns="0" rIns="0" bIns="0" rtlCol="0" anchor="t"/>
          <a:lstStyle/>
          <a:p>
            <a:pPr indent="0" marL="0">
              <a:buNone/>
            </a:pPr>
            <a:r>
              <a:rPr lang="en-US" sz="3400" b="1" dirty="0">
                <a:solidFill>
                  <a:schemeClr val="accent2"/>
                </a:solidFill>
                <a:latin typeface="Segoe UI Semibold" pitchFamily="34" charset="0"/>
                <a:ea typeface="Segoe UI Semibold" pitchFamily="34" charset="-122"/>
                <a:cs typeface="Segoe UI Semibold" pitchFamily="34" charset="-120"/>
              </a:rPr>
              <a:t>175</a:t>
            </a:r>
            <a:endParaRPr lang="en-US" sz="3400" dirty="0"/>
          </a:p>
        </p:txBody>
      </p:sp>
      <p:sp>
        <p:nvSpPr>
          <p:cNvPr id="9" name="Text 7"/>
          <p:cNvSpPr txBox="1"/>
          <p:nvPr/>
        </p:nvSpPr>
        <p:spPr>
          <a:xfrm>
            <a:off x="3566160" y="2560320"/>
            <a:ext cx="2148840" cy="411480"/>
          </a:xfrm>
          <a:prstGeom prst="rect">
            <a:avLst/>
          </a:prstGeom>
          <a:noFill/>
          <a:ln/>
        </p:spPr>
        <p:txBody>
          <a:bodyPr wrap="square" lIns="0" tIns="0" rIns="0" bIns="0" rtlCol="0" anchor="t"/>
          <a:lstStyle/>
          <a:p>
            <a:pPr indent="0" marL="0">
              <a:buNone/>
            </a:pPr>
            <a:r>
              <a:rPr lang="en-US" sz="1200" dirty="0">
                <a:solidFill>
                  <a:schemeClr val="bg2"/>
                </a:solidFill>
              </a:rPr>
              <a:t>scenes on every continent</a:t>
            </a:r>
            <a:endParaRPr lang="en-US" sz="1200" dirty="0"/>
          </a:p>
        </p:txBody>
      </p:sp>
      <p:sp>
        <p:nvSpPr>
          <p:cNvPr id="10" name="d3_panel"/>
          <p:cNvSpPr/>
          <p:nvPr/>
        </p:nvSpPr>
        <p:spPr>
          <a:xfrm>
            <a:off x="6126480" y="1737360"/>
            <a:ext cx="260604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1" name="Text 9"/>
          <p:cNvSpPr txBox="1"/>
          <p:nvPr/>
        </p:nvSpPr>
        <p:spPr>
          <a:xfrm>
            <a:off x="6355080" y="1901952"/>
            <a:ext cx="2148840" cy="640080"/>
          </a:xfrm>
          <a:prstGeom prst="rect">
            <a:avLst/>
          </a:prstGeom>
          <a:noFill/>
          <a:ln/>
        </p:spPr>
        <p:txBody>
          <a:bodyPr wrap="square" lIns="0" tIns="0" rIns="0" bIns="0" rtlCol="0" anchor="t"/>
          <a:lstStyle/>
          <a:p>
            <a:pPr indent="0" marL="0">
              <a:buNone/>
            </a:pPr>
            <a:r>
              <a:rPr lang="en-US" sz="3400" b="1" dirty="0">
                <a:solidFill>
                  <a:schemeClr val="accent3"/>
                </a:solidFill>
                <a:latin typeface="Segoe UI Semibold" pitchFamily="34" charset="0"/>
                <a:ea typeface="Segoe UI Semibold" pitchFamily="34" charset="-122"/>
                <a:cs typeface="Segoe UI Semibold" pitchFamily="34" charset="-120"/>
              </a:rPr>
              <a:t>4</a:t>
            </a:r>
            <a:endParaRPr lang="en-US" sz="3400" dirty="0"/>
          </a:p>
        </p:txBody>
      </p:sp>
      <p:sp>
        <p:nvSpPr>
          <p:cNvPr id="12" name="Text 10"/>
          <p:cNvSpPr txBox="1"/>
          <p:nvPr/>
        </p:nvSpPr>
        <p:spPr>
          <a:xfrm>
            <a:off x="6355080" y="2560320"/>
            <a:ext cx="2148840" cy="411480"/>
          </a:xfrm>
          <a:prstGeom prst="rect">
            <a:avLst/>
          </a:prstGeom>
          <a:noFill/>
          <a:ln/>
        </p:spPr>
        <p:txBody>
          <a:bodyPr wrap="square" lIns="0" tIns="0" rIns="0" bIns="0" rtlCol="0" anchor="t"/>
          <a:lstStyle/>
          <a:p>
            <a:pPr indent="0" marL="0">
              <a:buNone/>
            </a:pPr>
            <a:r>
              <a:rPr lang="en-US" sz="1200" dirty="0">
                <a:solidFill>
                  <a:schemeClr val="bg2"/>
                </a:solidFill>
              </a:rPr>
              <a:t>seasons</a:t>
            </a:r>
            <a:endParaRPr lang="en-US" sz="1200" dirty="0"/>
          </a:p>
        </p:txBody>
      </p:sp>
      <p:sp>
        <p:nvSpPr>
          <p:cNvPr id="13" name="d4_panel"/>
          <p:cNvSpPr/>
          <p:nvPr/>
        </p:nvSpPr>
        <p:spPr>
          <a:xfrm>
            <a:off x="8915400" y="1737360"/>
            <a:ext cx="26974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4" name="Text 12"/>
          <p:cNvSpPr txBox="1"/>
          <p:nvPr/>
        </p:nvSpPr>
        <p:spPr>
          <a:xfrm>
            <a:off x="9144000" y="1901952"/>
            <a:ext cx="2240280" cy="640080"/>
          </a:xfrm>
          <a:prstGeom prst="rect">
            <a:avLst/>
          </a:prstGeom>
          <a:noFill/>
          <a:ln/>
        </p:spPr>
        <p:txBody>
          <a:bodyPr wrap="square" lIns="0" tIns="0" rIns="0" bIns="0" rtlCol="0" anchor="t"/>
          <a:lstStyle/>
          <a:p>
            <a:pPr indent="0" marL="0">
              <a:buNone/>
            </a:pPr>
            <a:r>
              <a:rPr lang="en-US" sz="3400" b="1" dirty="0">
                <a:solidFill>
                  <a:schemeClr val="accent5"/>
                </a:solidFill>
                <a:latin typeface="Segoe UI Semibold" pitchFamily="34" charset="0"/>
                <a:ea typeface="Segoe UI Semibold" pitchFamily="34" charset="-122"/>
                <a:cs typeface="Segoe UI Semibold" pitchFamily="34" charset="-120"/>
              </a:rPr>
              <a:t>+5.1 dB</a:t>
            </a:r>
            <a:endParaRPr lang="en-US" sz="3400" dirty="0"/>
          </a:p>
        </p:txBody>
      </p:sp>
      <p:sp>
        <p:nvSpPr>
          <p:cNvPr id="15" name="Text 13"/>
          <p:cNvSpPr txBox="1"/>
          <p:nvPr/>
        </p:nvSpPr>
        <p:spPr>
          <a:xfrm>
            <a:off x="9144000" y="2560320"/>
            <a:ext cx="2240280" cy="411480"/>
          </a:xfrm>
          <a:prstGeom prst="rect">
            <a:avLst/>
          </a:prstGeom>
          <a:noFill/>
          <a:ln/>
        </p:spPr>
        <p:txBody>
          <a:bodyPr wrap="square" lIns="0" tIns="0" rIns="0" bIns="0" rtlCol="0" anchor="t"/>
          <a:lstStyle/>
          <a:p>
            <a:pPr indent="0" marL="0">
              <a:buNone/>
            </a:pPr>
            <a:r>
              <a:rPr lang="en-US" sz="1200" dirty="0">
                <a:solidFill>
                  <a:schemeClr val="bg2"/>
                </a:solidFill>
              </a:rPr>
              <a:t>fake gain if patches were split at random (Phase 1 leakage test)</a:t>
            </a:r>
            <a:endParaRPr lang="en-US" sz="1200" dirty="0"/>
          </a:p>
        </p:txBody>
      </p:sp>
      <p:sp>
        <p:nvSpPr>
          <p:cNvPr id="16" name="Text 14"/>
          <p:cNvSpPr txBox="1"/>
          <p:nvPr/>
        </p:nvSpPr>
        <p:spPr>
          <a:xfrm>
            <a:off x="548640" y="3429000"/>
            <a:ext cx="7315200" cy="365760"/>
          </a:xfrm>
          <a:prstGeom prst="rect">
            <a:avLst/>
          </a:prstGeom>
          <a:noFill/>
          <a:ln/>
        </p:spPr>
        <p:txBody>
          <a:bodyPr wrap="square" lIns="0" tIns="0" rIns="0" bIns="0" rtlCol="0" anchor="t"/>
          <a:lstStyle/>
          <a:p>
            <a:pPr indent="0" marL="0">
              <a:buNone/>
            </a:pPr>
            <a:r>
              <a:rPr lang="en-US" sz="1600" b="1" dirty="0">
                <a:solidFill>
                  <a:schemeClr val="bg1"/>
                </a:solidFill>
              </a:rPr>
              <a:t>Scene split (no scene is in two splits)</a:t>
            </a:r>
            <a:endParaRPr lang="en-US" sz="1600" dirty="0"/>
          </a:p>
        </p:txBody>
      </p:sp>
      <p:sp>
        <p:nvSpPr>
          <p:cNvPr id="17" name="split_Train"/>
          <p:cNvSpPr/>
          <p:nvPr/>
        </p:nvSpPr>
        <p:spPr>
          <a:xfrm>
            <a:off x="548640" y="3931920"/>
            <a:ext cx="9264445" cy="640080"/>
          </a:xfrm>
          <a:prstGeom prst="roundRect">
            <a:avLst>
              <a:gd name="adj" fmla="val 11429"/>
            </a:avLst>
          </a:prstGeom>
          <a:solidFill>
            <a:schemeClr val="accent1"/>
          </a:solidFill>
          <a:ln w="12700">
            <a:solidFill>
              <a:schemeClr val="accent1"/>
            </a:solidFill>
            <a:prstDash val="solid"/>
          </a:ln>
        </p:spPr>
      </p:sp>
      <p:sp>
        <p:nvSpPr>
          <p:cNvPr id="18" name="Text 16"/>
          <p:cNvSpPr txBox="1"/>
          <p:nvPr/>
        </p:nvSpPr>
        <p:spPr>
          <a:xfrm>
            <a:off x="640080" y="4069080"/>
            <a:ext cx="9173005" cy="365760"/>
          </a:xfrm>
          <a:prstGeom prst="rect">
            <a:avLst/>
          </a:prstGeom>
          <a:noFill/>
          <a:ln/>
        </p:spPr>
        <p:txBody>
          <a:bodyPr wrap="square" lIns="0" tIns="0" rIns="0" bIns="0" rtlCol="0" anchor="t"/>
          <a:lstStyle/>
          <a:p>
            <a:pPr indent="0" marL="0">
              <a:buNone/>
            </a:pPr>
            <a:r>
              <a:rPr lang="en-US" sz="1300" b="1" dirty="0">
                <a:solidFill>
                  <a:schemeClr val="tx1"/>
                </a:solidFill>
              </a:rPr>
              <a:t>Train · 147</a:t>
            </a:r>
            <a:endParaRPr lang="en-US" sz="1300" dirty="0"/>
          </a:p>
        </p:txBody>
      </p:sp>
      <p:sp>
        <p:nvSpPr>
          <p:cNvPr id="19" name="split_Val"/>
          <p:cNvSpPr/>
          <p:nvPr/>
        </p:nvSpPr>
        <p:spPr>
          <a:xfrm>
            <a:off x="9867949" y="3931920"/>
            <a:ext cx="579103" cy="640080"/>
          </a:xfrm>
          <a:prstGeom prst="roundRect">
            <a:avLst>
              <a:gd name="adj" fmla="val 12632"/>
            </a:avLst>
          </a:prstGeom>
          <a:solidFill>
            <a:schemeClr val="accent4"/>
          </a:solidFill>
          <a:ln w="12700">
            <a:solidFill>
              <a:schemeClr val="accent4"/>
            </a:solidFill>
            <a:prstDash val="solid"/>
          </a:ln>
        </p:spPr>
      </p:sp>
      <p:sp>
        <p:nvSpPr>
          <p:cNvPr id="20" name="Text 18"/>
          <p:cNvSpPr txBox="1"/>
          <p:nvPr/>
        </p:nvSpPr>
        <p:spPr>
          <a:xfrm>
            <a:off x="9959389" y="4069080"/>
            <a:ext cx="487663" cy="365760"/>
          </a:xfrm>
          <a:prstGeom prst="rect">
            <a:avLst/>
          </a:prstGeom>
          <a:noFill/>
          <a:ln/>
        </p:spPr>
        <p:txBody>
          <a:bodyPr wrap="square" lIns="0" tIns="0" rIns="0" bIns="0" rtlCol="0" anchor="t"/>
          <a:lstStyle/>
          <a:p>
            <a:pPr indent="0" marL="0">
              <a:buNone/>
            </a:pPr>
            <a:r>
              <a:rPr lang="en-US" sz="1300" b="1" dirty="0">
                <a:solidFill>
                  <a:schemeClr val="tx1"/>
                </a:solidFill>
              </a:rPr>
              <a:t>Val</a:t>
            </a:r>
            <a:endParaRPr lang="en-US" sz="1300" dirty="0"/>
          </a:p>
        </p:txBody>
      </p:sp>
      <p:sp>
        <p:nvSpPr>
          <p:cNvPr id="21" name="split_Test"/>
          <p:cNvSpPr/>
          <p:nvPr/>
        </p:nvSpPr>
        <p:spPr>
          <a:xfrm>
            <a:off x="10501915" y="3931920"/>
            <a:ext cx="1086276" cy="640080"/>
          </a:xfrm>
          <a:prstGeom prst="roundRect">
            <a:avLst>
              <a:gd name="adj" fmla="val 11429"/>
            </a:avLst>
          </a:prstGeom>
          <a:solidFill>
            <a:schemeClr val="accent3"/>
          </a:solidFill>
          <a:ln w="12700">
            <a:solidFill>
              <a:schemeClr val="accent3"/>
            </a:solidFill>
            <a:prstDash val="solid"/>
          </a:ln>
        </p:spPr>
      </p:sp>
      <p:sp>
        <p:nvSpPr>
          <p:cNvPr id="22" name="Text 20"/>
          <p:cNvSpPr txBox="1"/>
          <p:nvPr/>
        </p:nvSpPr>
        <p:spPr>
          <a:xfrm>
            <a:off x="10593355" y="4069080"/>
            <a:ext cx="994836" cy="365760"/>
          </a:xfrm>
          <a:prstGeom prst="rect">
            <a:avLst/>
          </a:prstGeom>
          <a:noFill/>
          <a:ln/>
        </p:spPr>
        <p:txBody>
          <a:bodyPr wrap="square" lIns="0" tIns="0" rIns="0" bIns="0" rtlCol="0" anchor="t"/>
          <a:lstStyle/>
          <a:p>
            <a:pPr indent="0" marL="0">
              <a:buNone/>
            </a:pPr>
            <a:r>
              <a:rPr lang="en-US" sz="1300" b="1" dirty="0">
                <a:solidFill>
                  <a:schemeClr val="tx1"/>
                </a:solidFill>
              </a:rPr>
              <a:t>Test · 18</a:t>
            </a:r>
            <a:endParaRPr lang="en-US" sz="1300" dirty="0"/>
          </a:p>
        </p:txBody>
      </p:sp>
      <p:sp>
        <p:nvSpPr>
          <p:cNvPr id="23" name="Text 21"/>
          <p:cNvSpPr txBox="1"/>
          <p:nvPr/>
        </p:nvSpPr>
        <p:spPr>
          <a:xfrm>
            <a:off x="548640" y="4754880"/>
            <a:ext cx="11094415" cy="457200"/>
          </a:xfrm>
          <a:prstGeom prst="rect">
            <a:avLst/>
          </a:prstGeom>
          <a:noFill/>
          <a:ln/>
        </p:spPr>
        <p:txBody>
          <a:bodyPr wrap="square" lIns="0" tIns="0" rIns="0" bIns="0" rtlCol="0" anchor="t"/>
          <a:lstStyle/>
          <a:p>
            <a:pPr indent="0" marL="0">
              <a:buNone/>
            </a:pPr>
            <a:r>
              <a:rPr lang="en-US" sz="1400" b="1" dirty="0">
                <a:solidFill>
                  <a:schemeClr val="accent1"/>
                </a:solidFill>
              </a:rPr>
              <a:t>Train: </a:t>
            </a:r>
            <a:pPr indent="0" marL="0">
              <a:buNone/>
            </a:pPr>
            <a:r>
              <a:rPr lang="en-US" sz="1400" dirty="0">
                <a:solidFill>
                  <a:schemeClr val="bg2"/>
                </a:solidFill>
              </a:rPr>
              <a:t>147 scenes, 102,871 patches - all of them.   </a:t>
            </a:r>
            <a:pPr indent="0" marL="0">
              <a:buNone/>
            </a:pPr>
            <a:r>
              <a:rPr lang="en-US" sz="1400" b="1" dirty="0">
                <a:solidFill>
                  <a:schemeClr val="accent4"/>
                </a:solidFill>
              </a:rPr>
              <a:t>Validation: </a:t>
            </a:r>
            <a:pPr indent="0" marL="0">
              <a:buNone/>
            </a:pPr>
            <a:r>
              <a:rPr lang="en-US" sz="1400" dirty="0">
                <a:solidFill>
                  <a:schemeClr val="bg2"/>
                </a:solidFill>
              </a:rPr>
              <a:t>10 scenes, 600 patches.   </a:t>
            </a:r>
            <a:pPr indent="0" marL="0">
              <a:buNone/>
            </a:pPr>
            <a:r>
              <a:rPr lang="en-US" sz="1400" b="1" dirty="0">
                <a:solidFill>
                  <a:schemeClr val="accent3"/>
                </a:solidFill>
              </a:rPr>
              <a:t>Test: </a:t>
            </a:r>
            <a:pPr indent="0" marL="0">
              <a:buNone/>
            </a:pPr>
            <a:r>
              <a:rPr lang="en-US" sz="1400" dirty="0">
                <a:solidFill>
                  <a:schemeClr val="bg2"/>
                </a:solidFill>
              </a:rPr>
              <a:t>18 unseen scenes, 5,400 patches - incl. India.</a:t>
            </a:r>
            <a:endParaRPr lang="en-US" sz="1400" dirty="0"/>
          </a:p>
        </p:txBody>
      </p:sp>
      <p:sp>
        <p:nvSpPr>
          <p:cNvPr id="24" name="Text 22"/>
          <p:cNvSpPr txBox="1"/>
          <p:nvPr/>
        </p:nvSpPr>
        <p:spPr>
          <a:xfrm>
            <a:off x="548640" y="5440680"/>
            <a:ext cx="11094415" cy="548640"/>
          </a:xfrm>
          <a:prstGeom prst="rect">
            <a:avLst/>
          </a:prstGeom>
          <a:noFill/>
          <a:ln/>
        </p:spPr>
        <p:txBody>
          <a:bodyPr wrap="square" lIns="0" tIns="0" rIns="0" bIns="0" rtlCol="0" anchor="t"/>
          <a:lstStyle/>
          <a:p>
            <a:pPr indent="0" marL="0">
              <a:buNone/>
            </a:pPr>
            <a:r>
              <a:rPr lang="en-US" sz="1400" dirty="0">
                <a:solidFill>
                  <a:schemeClr val="bg2"/>
                </a:solidFill>
              </a:rPr>
              <a:t>Neighbouring patches look almost identical. Splitting by scene means the test measures generalisation to new places, not memory.</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02 · HOW WE GOT HERE</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Phase 1: 26 trainings taught four lessons</a:t>
            </a:r>
            <a:endParaRPr lang="en-US" sz="3200" dirty="0"/>
          </a:p>
        </p:txBody>
      </p:sp>
      <p:sp>
        <p:nvSpPr>
          <p:cNvPr id="4"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500" dirty="0">
                <a:solidFill>
                  <a:schemeClr val="bg2"/>
                </a:solidFill>
              </a:rPr>
              <a:t>U-Net vs Swin U-Net vs Vision Transformer + ablations, a GAN, three uncertainty methods - on 3,000 Asian patches.</a:t>
            </a:r>
            <a:endParaRPr lang="en-US" sz="1500" dirty="0"/>
          </a:p>
        </p:txBody>
      </p:sp>
      <p:sp>
        <p:nvSpPr>
          <p:cNvPr id="5" name="l_find0"/>
          <p:cNvSpPr/>
          <p:nvPr/>
        </p:nvSpPr>
        <p:spPr>
          <a:xfrm>
            <a:off x="548640" y="2194560"/>
            <a:ext cx="5486400" cy="841248"/>
          </a:xfrm>
          <a:prstGeom prst="roundRect">
            <a:avLst>
              <a:gd name="adj" fmla="val 13043"/>
            </a:avLst>
          </a:prstGeom>
          <a:solidFill>
            <a:schemeClr val="tx2">
              <a:alpha val="92000"/>
            </a:schemeClr>
          </a:solidFill>
          <a:ln w="9525">
            <a:solidFill>
              <a:schemeClr val="accent5">
                <a:alpha val="45000"/>
              </a:schemeClr>
            </a:solidFill>
            <a:prstDash val="solid"/>
          </a:ln>
        </p:spPr>
      </p:sp>
      <p:sp>
        <p:nvSpPr>
          <p:cNvPr id="6" name="Text 4"/>
          <p:cNvSpPr txBox="1"/>
          <p:nvPr/>
        </p:nvSpPr>
        <p:spPr>
          <a:xfrm>
            <a:off x="777240" y="2304288"/>
            <a:ext cx="5120640" cy="640080"/>
          </a:xfrm>
          <a:prstGeom prst="rect">
            <a:avLst/>
          </a:prstGeom>
          <a:noFill/>
          <a:ln/>
        </p:spPr>
        <p:txBody>
          <a:bodyPr wrap="square" lIns="0" tIns="0" rIns="0" bIns="0" rtlCol="0" anchor="ctr"/>
          <a:lstStyle/>
          <a:p>
            <a:pPr indent="0" marL="0">
              <a:buNone/>
            </a:pPr>
            <a:r>
              <a:rPr lang="en-US" sz="1400" dirty="0">
                <a:solidFill>
                  <a:schemeClr val="bg1"/>
                </a:solidFill>
              </a:rPr>
              <a:t>No architecture clearly best (26.3-27.0 dB)</a:t>
            </a:r>
            <a:endParaRPr lang="en-US" sz="1400" dirty="0"/>
          </a:p>
        </p:txBody>
      </p:sp>
      <p:sp>
        <p:nvSpPr>
          <p:cNvPr id="7" name="l_arrow0"/>
          <p:cNvSpPr/>
          <p:nvPr/>
        </p:nvSpPr>
        <p:spPr>
          <a:xfrm>
            <a:off x="6263640" y="2432304"/>
            <a:ext cx="548640" cy="365760"/>
          </a:xfrm>
          <a:prstGeom prst="rightArrow">
            <a:avLst/>
          </a:prstGeom>
          <a:solidFill>
            <a:schemeClr val="accent1"/>
          </a:solidFill>
          <a:ln w="12700">
            <a:solidFill>
              <a:schemeClr val="accent1"/>
            </a:solidFill>
            <a:prstDash val="solid"/>
          </a:ln>
        </p:spPr>
      </p:sp>
      <p:sp>
        <p:nvSpPr>
          <p:cNvPr id="8" name="l_dec0"/>
          <p:cNvSpPr/>
          <p:nvPr/>
        </p:nvSpPr>
        <p:spPr>
          <a:xfrm>
            <a:off x="6995160" y="2194560"/>
            <a:ext cx="4645152" cy="841248"/>
          </a:xfrm>
          <a:prstGeom prst="roundRect">
            <a:avLst>
              <a:gd name="adj" fmla="val 13043"/>
            </a:avLst>
          </a:prstGeom>
          <a:solidFill>
            <a:schemeClr val="tx2">
              <a:alpha val="92000"/>
            </a:schemeClr>
          </a:solidFill>
          <a:ln w="9525">
            <a:solidFill>
              <a:schemeClr val="accent1">
                <a:alpha val="45000"/>
              </a:schemeClr>
            </a:solidFill>
            <a:prstDash val="solid"/>
          </a:ln>
        </p:spPr>
      </p:sp>
      <p:sp>
        <p:nvSpPr>
          <p:cNvPr id="9" name="Text 7"/>
          <p:cNvSpPr txBox="1"/>
          <p:nvPr/>
        </p:nvSpPr>
        <p:spPr>
          <a:xfrm>
            <a:off x="7223760" y="2304288"/>
            <a:ext cx="4297680" cy="640080"/>
          </a:xfrm>
          <a:prstGeom prst="rect">
            <a:avLst/>
          </a:prstGeom>
          <a:noFill/>
          <a:ln/>
        </p:spPr>
        <p:txBody>
          <a:bodyPr wrap="square" lIns="0" tIns="0" rIns="0" bIns="0" rtlCol="0" anchor="ctr"/>
          <a:lstStyle/>
          <a:p>
            <a:pPr indent="0" marL="0">
              <a:buNone/>
            </a:pPr>
            <a:r>
              <a:rPr lang="en-US" sz="1400" b="1" dirty="0">
                <a:solidFill>
                  <a:schemeClr val="accent1"/>
                </a:solidFill>
              </a:rPr>
              <a:t>U-Net backbone - the most stable</a:t>
            </a:r>
            <a:endParaRPr lang="en-US" sz="1400" dirty="0"/>
          </a:p>
        </p:txBody>
      </p:sp>
      <p:sp>
        <p:nvSpPr>
          <p:cNvPr id="10" name="l_find1"/>
          <p:cNvSpPr/>
          <p:nvPr/>
        </p:nvSpPr>
        <p:spPr>
          <a:xfrm>
            <a:off x="548640" y="3200400"/>
            <a:ext cx="5486400" cy="841248"/>
          </a:xfrm>
          <a:prstGeom prst="roundRect">
            <a:avLst>
              <a:gd name="adj" fmla="val 13043"/>
            </a:avLst>
          </a:prstGeom>
          <a:solidFill>
            <a:schemeClr val="tx2">
              <a:alpha val="92000"/>
            </a:schemeClr>
          </a:solidFill>
          <a:ln w="9525">
            <a:solidFill>
              <a:schemeClr val="accent5">
                <a:alpha val="45000"/>
              </a:schemeClr>
            </a:solidFill>
            <a:prstDash val="solid"/>
          </a:ln>
        </p:spPr>
      </p:sp>
      <p:sp>
        <p:nvSpPr>
          <p:cNvPr id="11" name="Text 9"/>
          <p:cNvSpPr txBox="1"/>
          <p:nvPr/>
        </p:nvSpPr>
        <p:spPr>
          <a:xfrm>
            <a:off x="777240" y="3310128"/>
            <a:ext cx="5120640" cy="640080"/>
          </a:xfrm>
          <a:prstGeom prst="rect">
            <a:avLst/>
          </a:prstGeom>
          <a:noFill/>
          <a:ln/>
        </p:spPr>
        <p:txBody>
          <a:bodyPr wrap="square" lIns="0" tIns="0" rIns="0" bIns="0" rtlCol="0" anchor="ctr"/>
          <a:lstStyle/>
          <a:p>
            <a:pPr indent="0" marL="0">
              <a:buNone/>
            </a:pPr>
            <a:r>
              <a:rPr lang="en-US" sz="1400" dirty="0">
                <a:solidFill>
                  <a:schemeClr val="bg1"/>
                </a:solidFill>
              </a:rPr>
              <a:t>Global context wins under thick cloud: ViT +2-4 dB at 60-100 % cloud</a:t>
            </a:r>
            <a:endParaRPr lang="en-US" sz="1400" dirty="0"/>
          </a:p>
        </p:txBody>
      </p:sp>
      <p:sp>
        <p:nvSpPr>
          <p:cNvPr id="12" name="l_arrow1"/>
          <p:cNvSpPr/>
          <p:nvPr/>
        </p:nvSpPr>
        <p:spPr>
          <a:xfrm>
            <a:off x="6263640" y="3438144"/>
            <a:ext cx="548640" cy="365760"/>
          </a:xfrm>
          <a:prstGeom prst="rightArrow">
            <a:avLst/>
          </a:prstGeom>
          <a:solidFill>
            <a:schemeClr val="accent1"/>
          </a:solidFill>
          <a:ln w="12700">
            <a:solidFill>
              <a:schemeClr val="accent1"/>
            </a:solidFill>
            <a:prstDash val="solid"/>
          </a:ln>
        </p:spPr>
      </p:sp>
      <p:sp>
        <p:nvSpPr>
          <p:cNvPr id="13" name="l_dec1"/>
          <p:cNvSpPr/>
          <p:nvPr/>
        </p:nvSpPr>
        <p:spPr>
          <a:xfrm>
            <a:off x="6995160" y="3200400"/>
            <a:ext cx="4645152" cy="841248"/>
          </a:xfrm>
          <a:prstGeom prst="roundRect">
            <a:avLst>
              <a:gd name="adj" fmla="val 13043"/>
            </a:avLst>
          </a:prstGeom>
          <a:solidFill>
            <a:schemeClr val="tx2">
              <a:alpha val="92000"/>
            </a:schemeClr>
          </a:solidFill>
          <a:ln w="9525">
            <a:solidFill>
              <a:schemeClr val="accent1">
                <a:alpha val="45000"/>
              </a:schemeClr>
            </a:solidFill>
            <a:prstDash val="solid"/>
          </a:ln>
        </p:spPr>
      </p:sp>
      <p:sp>
        <p:nvSpPr>
          <p:cNvPr id="14" name="Text 12"/>
          <p:cNvSpPr txBox="1"/>
          <p:nvPr/>
        </p:nvSpPr>
        <p:spPr>
          <a:xfrm>
            <a:off x="7223760" y="3310128"/>
            <a:ext cx="4297680" cy="640080"/>
          </a:xfrm>
          <a:prstGeom prst="rect">
            <a:avLst/>
          </a:prstGeom>
          <a:noFill/>
          <a:ln/>
        </p:spPr>
        <p:txBody>
          <a:bodyPr wrap="square" lIns="0" tIns="0" rIns="0" bIns="0" rtlCol="0" anchor="ctr"/>
          <a:lstStyle/>
          <a:p>
            <a:pPr indent="0" marL="0">
              <a:buNone/>
            </a:pPr>
            <a:r>
              <a:rPr lang="en-US" sz="1400" b="1" dirty="0">
                <a:solidFill>
                  <a:schemeClr val="accent1"/>
                </a:solidFill>
              </a:rPr>
              <a:t>Self-attention in the U-Net's bottleneck</a:t>
            </a:r>
            <a:endParaRPr lang="en-US" sz="1400" dirty="0"/>
          </a:p>
        </p:txBody>
      </p:sp>
      <p:sp>
        <p:nvSpPr>
          <p:cNvPr id="15" name="l_find2"/>
          <p:cNvSpPr/>
          <p:nvPr/>
        </p:nvSpPr>
        <p:spPr>
          <a:xfrm>
            <a:off x="548640" y="4206240"/>
            <a:ext cx="5486400" cy="841248"/>
          </a:xfrm>
          <a:prstGeom prst="roundRect">
            <a:avLst>
              <a:gd name="adj" fmla="val 13043"/>
            </a:avLst>
          </a:prstGeom>
          <a:solidFill>
            <a:schemeClr val="tx2">
              <a:alpha val="92000"/>
            </a:schemeClr>
          </a:solidFill>
          <a:ln w="9525">
            <a:solidFill>
              <a:schemeClr val="accent5">
                <a:alpha val="45000"/>
              </a:schemeClr>
            </a:solidFill>
            <a:prstDash val="solid"/>
          </a:ln>
        </p:spPr>
      </p:sp>
      <p:sp>
        <p:nvSpPr>
          <p:cNvPr id="16" name="Text 14"/>
          <p:cNvSpPr txBox="1"/>
          <p:nvPr/>
        </p:nvSpPr>
        <p:spPr>
          <a:xfrm>
            <a:off x="777240" y="4315968"/>
            <a:ext cx="5120640" cy="640080"/>
          </a:xfrm>
          <a:prstGeom prst="rect">
            <a:avLst/>
          </a:prstGeom>
          <a:noFill/>
          <a:ln/>
        </p:spPr>
        <p:txBody>
          <a:bodyPr wrap="square" lIns="0" tIns="0" rIns="0" bIns="0" rtlCol="0" anchor="ctr"/>
          <a:lstStyle/>
          <a:p>
            <a:pPr indent="0" marL="0">
              <a:buNone/>
            </a:pPr>
            <a:r>
              <a:rPr lang="en-US" sz="1400" dirty="0">
                <a:solidFill>
                  <a:schemeClr val="bg1"/>
                </a:solidFill>
              </a:rPr>
              <a:t>Learning curves flat: 750 → 3,000 patches barely helped - scene diversity was the limit</a:t>
            </a:r>
            <a:endParaRPr lang="en-US" sz="1400" dirty="0"/>
          </a:p>
        </p:txBody>
      </p:sp>
      <p:sp>
        <p:nvSpPr>
          <p:cNvPr id="17" name="l_arrow2"/>
          <p:cNvSpPr/>
          <p:nvPr/>
        </p:nvSpPr>
        <p:spPr>
          <a:xfrm>
            <a:off x="6263640" y="4443984"/>
            <a:ext cx="548640" cy="365760"/>
          </a:xfrm>
          <a:prstGeom prst="rightArrow">
            <a:avLst/>
          </a:prstGeom>
          <a:solidFill>
            <a:schemeClr val="accent1"/>
          </a:solidFill>
          <a:ln w="12700">
            <a:solidFill>
              <a:schemeClr val="accent1"/>
            </a:solidFill>
            <a:prstDash val="solid"/>
          </a:ln>
        </p:spPr>
      </p:sp>
      <p:sp>
        <p:nvSpPr>
          <p:cNvPr id="18" name="l_dec2"/>
          <p:cNvSpPr/>
          <p:nvPr/>
        </p:nvSpPr>
        <p:spPr>
          <a:xfrm>
            <a:off x="6995160" y="4206240"/>
            <a:ext cx="4645152" cy="841248"/>
          </a:xfrm>
          <a:prstGeom prst="roundRect">
            <a:avLst>
              <a:gd name="adj" fmla="val 13043"/>
            </a:avLst>
          </a:prstGeom>
          <a:solidFill>
            <a:schemeClr val="tx2">
              <a:alpha val="92000"/>
            </a:schemeClr>
          </a:solidFill>
          <a:ln w="9525">
            <a:solidFill>
              <a:schemeClr val="accent1">
                <a:alpha val="45000"/>
              </a:schemeClr>
            </a:solidFill>
            <a:prstDash val="solid"/>
          </a:ln>
        </p:spPr>
      </p:sp>
      <p:sp>
        <p:nvSpPr>
          <p:cNvPr id="19" name="Text 17"/>
          <p:cNvSpPr txBox="1"/>
          <p:nvPr/>
        </p:nvSpPr>
        <p:spPr>
          <a:xfrm>
            <a:off x="7223760" y="4315968"/>
            <a:ext cx="4297680" cy="640080"/>
          </a:xfrm>
          <a:prstGeom prst="rect">
            <a:avLst/>
          </a:prstGeom>
          <a:noFill/>
          <a:ln/>
        </p:spPr>
        <p:txBody>
          <a:bodyPr wrap="square" lIns="0" tIns="0" rIns="0" bIns="0" rtlCol="0" anchor="ctr"/>
          <a:lstStyle/>
          <a:p>
            <a:pPr indent="0" marL="0">
              <a:buNone/>
            </a:pPr>
            <a:r>
              <a:rPr lang="en-US" sz="1400" b="1" dirty="0">
                <a:solidFill>
                  <a:schemeClr val="accent1"/>
                </a:solidFill>
              </a:rPr>
              <a:t>Train on all 147 scenes</a:t>
            </a:r>
            <a:endParaRPr lang="en-US" sz="1400" dirty="0"/>
          </a:p>
        </p:txBody>
      </p:sp>
      <p:sp>
        <p:nvSpPr>
          <p:cNvPr id="20" name="l_find3"/>
          <p:cNvSpPr/>
          <p:nvPr/>
        </p:nvSpPr>
        <p:spPr>
          <a:xfrm>
            <a:off x="548640" y="5212080"/>
            <a:ext cx="5486400" cy="841248"/>
          </a:xfrm>
          <a:prstGeom prst="roundRect">
            <a:avLst>
              <a:gd name="adj" fmla="val 13043"/>
            </a:avLst>
          </a:prstGeom>
          <a:solidFill>
            <a:schemeClr val="tx2">
              <a:alpha val="92000"/>
            </a:schemeClr>
          </a:solidFill>
          <a:ln w="9525">
            <a:solidFill>
              <a:schemeClr val="accent5">
                <a:alpha val="45000"/>
              </a:schemeClr>
            </a:solidFill>
            <a:prstDash val="solid"/>
          </a:ln>
        </p:spPr>
      </p:sp>
      <p:sp>
        <p:nvSpPr>
          <p:cNvPr id="21" name="Text 19"/>
          <p:cNvSpPr txBox="1"/>
          <p:nvPr/>
        </p:nvSpPr>
        <p:spPr>
          <a:xfrm>
            <a:off x="777240" y="5321808"/>
            <a:ext cx="5120640" cy="640080"/>
          </a:xfrm>
          <a:prstGeom prst="rect">
            <a:avLst/>
          </a:prstGeom>
          <a:noFill/>
          <a:ln/>
        </p:spPr>
        <p:txBody>
          <a:bodyPr wrap="square" lIns="0" tIns="0" rIns="0" bIns="0" rtlCol="0" anchor="ctr"/>
          <a:lstStyle/>
          <a:p>
            <a:pPr indent="0" marL="0">
              <a:buNone/>
            </a:pPr>
            <a:r>
              <a:rPr lang="en-US" sz="1400" dirty="0">
                <a:solidFill>
                  <a:schemeClr val="bg1"/>
                </a:solidFill>
              </a:rPr>
              <a:t>GAN gained no realism: checkpoint chosen by L1 after 1-4 k steps</a:t>
            </a:r>
            <a:endParaRPr lang="en-US" sz="1400" dirty="0"/>
          </a:p>
        </p:txBody>
      </p:sp>
      <p:sp>
        <p:nvSpPr>
          <p:cNvPr id="22" name="l_arrow3"/>
          <p:cNvSpPr/>
          <p:nvPr/>
        </p:nvSpPr>
        <p:spPr>
          <a:xfrm>
            <a:off x="6263640" y="5449824"/>
            <a:ext cx="548640" cy="365760"/>
          </a:xfrm>
          <a:prstGeom prst="rightArrow">
            <a:avLst/>
          </a:prstGeom>
          <a:solidFill>
            <a:schemeClr val="accent1"/>
          </a:solidFill>
          <a:ln w="12700">
            <a:solidFill>
              <a:schemeClr val="accent1"/>
            </a:solidFill>
            <a:prstDash val="solid"/>
          </a:ln>
        </p:spPr>
      </p:sp>
      <p:sp>
        <p:nvSpPr>
          <p:cNvPr id="23" name="l_dec3"/>
          <p:cNvSpPr/>
          <p:nvPr/>
        </p:nvSpPr>
        <p:spPr>
          <a:xfrm>
            <a:off x="6995160" y="5212080"/>
            <a:ext cx="4645152" cy="841248"/>
          </a:xfrm>
          <a:prstGeom prst="roundRect">
            <a:avLst>
              <a:gd name="adj" fmla="val 13043"/>
            </a:avLst>
          </a:prstGeom>
          <a:solidFill>
            <a:schemeClr val="tx2">
              <a:alpha val="92000"/>
            </a:schemeClr>
          </a:solidFill>
          <a:ln w="9525">
            <a:solidFill>
              <a:schemeClr val="accent1">
                <a:alpha val="45000"/>
              </a:schemeClr>
            </a:solidFill>
            <a:prstDash val="solid"/>
          </a:ln>
        </p:spPr>
      </p:sp>
      <p:sp>
        <p:nvSpPr>
          <p:cNvPr id="24" name="Text 22"/>
          <p:cNvSpPr txBox="1"/>
          <p:nvPr/>
        </p:nvSpPr>
        <p:spPr>
          <a:xfrm>
            <a:off x="7223760" y="5321808"/>
            <a:ext cx="4297680" cy="640080"/>
          </a:xfrm>
          <a:prstGeom prst="rect">
            <a:avLst/>
          </a:prstGeom>
          <a:noFill/>
          <a:ln/>
        </p:spPr>
        <p:txBody>
          <a:bodyPr wrap="square" lIns="0" tIns="0" rIns="0" bIns="0" rtlCol="0" anchor="ctr"/>
          <a:lstStyle/>
          <a:p>
            <a:pPr indent="0" marL="0">
              <a:buNone/>
            </a:pPr>
            <a:r>
              <a:rPr lang="en-US" sz="1400" b="1" dirty="0">
                <a:solidFill>
                  <a:schemeClr val="accent1"/>
                </a:solidFill>
              </a:rPr>
              <a:t>Two-part training, select by accuracy × sharpness</a:t>
            </a:r>
            <a:endParaRPr lang="en-US" sz="1400" dirty="0"/>
          </a:p>
        </p:txBody>
      </p:sp>
      <p:sp>
        <p:nvSpPr>
          <p:cNvPr id="25" name="Text 23"/>
          <p:cNvSpPr txBox="1"/>
          <p:nvPr/>
        </p:nvSpPr>
        <p:spPr>
          <a:xfrm>
            <a:off x="548640" y="1892808"/>
            <a:ext cx="27432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FINDING</a:t>
            </a:r>
            <a:endParaRPr lang="en-US" sz="1100" dirty="0"/>
          </a:p>
        </p:txBody>
      </p:sp>
      <p:sp>
        <p:nvSpPr>
          <p:cNvPr id="26" name="Text 24"/>
          <p:cNvSpPr txBox="1"/>
          <p:nvPr/>
        </p:nvSpPr>
        <p:spPr>
          <a:xfrm>
            <a:off x="6995160" y="1892808"/>
            <a:ext cx="4572000"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DECISION FOR THE FINAL MODEL</a:t>
            </a:r>
            <a:endParaRPr lang="en-US" sz="11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02 · A HIDDEN CEILING</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The 'clear' image was taken on another day</a:t>
            </a:r>
            <a:endParaRPr lang="en-US" sz="3200" dirty="0"/>
          </a:p>
        </p:txBody>
      </p:sp>
      <p:sp>
        <p:nvSpPr>
          <p:cNvPr id="4" name="ds_in_frame"/>
          <p:cNvSpPr/>
          <p:nvPr/>
        </p:nvSpPr>
        <p:spPr>
          <a:xfrm>
            <a:off x="512064" y="1563624"/>
            <a:ext cx="2816352" cy="2816352"/>
          </a:xfrm>
          <a:prstGeom prst="roundRect">
            <a:avLst>
              <a:gd name="adj" fmla="val 2597"/>
            </a:avLst>
          </a:prstGeom>
          <a:solidFill>
            <a:schemeClr val="tx2"/>
          </a:solidFill>
          <a:ln w="9525">
            <a:solidFill>
              <a:schemeClr val="accent2">
                <a:alpha val="50000"/>
              </a:schemeClr>
            </a:solidFill>
            <a:prstDash val="solid"/>
          </a:ln>
        </p:spPr>
      </p:sp>
      <p:pic>
        <p:nvPicPr>
          <p:cNvPr id="5" name="ds_in" descr="Nearly cloud-free Sentinel-2 input, China">    </p:cNvPr>
          <p:cNvPicPr>
            <a:picLocks noChangeAspect="1"/>
          </p:cNvPicPr>
          <p:nvPr/>
        </p:nvPicPr>
        <p:blipFill>
          <a:blip r:embed="rId1"/>
          <a:stretch>
            <a:fillRect/>
          </a:stretch>
        </p:blipFill>
        <p:spPr>
          <a:xfrm>
            <a:off x="548640" y="1600200"/>
            <a:ext cx="2743200" cy="2743200"/>
          </a:xfrm>
          <a:prstGeom prst="rect">
            <a:avLst/>
          </a:prstGeom>
        </p:spPr>
      </p:pic>
      <p:sp>
        <p:nvSpPr>
          <p:cNvPr id="6" name="ds_truth_frame"/>
          <p:cNvSpPr/>
          <p:nvPr/>
        </p:nvSpPr>
        <p:spPr>
          <a:xfrm>
            <a:off x="3575304" y="1563624"/>
            <a:ext cx="2816352" cy="2816352"/>
          </a:xfrm>
          <a:prstGeom prst="roundRect">
            <a:avLst>
              <a:gd name="adj" fmla="val 2597"/>
            </a:avLst>
          </a:prstGeom>
          <a:solidFill>
            <a:schemeClr val="tx2"/>
          </a:solidFill>
          <a:ln w="9525">
            <a:solidFill>
              <a:schemeClr val="accent2">
                <a:alpha val="50000"/>
              </a:schemeClr>
            </a:solidFill>
            <a:prstDash val="solid"/>
          </a:ln>
        </p:spPr>
      </p:sp>
      <p:pic>
        <p:nvPicPr>
          <p:cNvPr id="7" name="ds_truth" descr="The clear target image of the same place">    </p:cNvPr>
          <p:cNvPicPr>
            <a:picLocks noChangeAspect="1"/>
          </p:cNvPicPr>
          <p:nvPr/>
        </p:nvPicPr>
        <p:blipFill>
          <a:blip r:embed="rId2"/>
          <a:stretch>
            <a:fillRect/>
          </a:stretch>
        </p:blipFill>
        <p:spPr>
          <a:xfrm>
            <a:off x="3611880" y="1600200"/>
            <a:ext cx="2743200" cy="2743200"/>
          </a:xfrm>
          <a:prstGeom prst="rect">
            <a:avLst/>
          </a:prstGeom>
        </p:spPr>
      </p:pic>
      <p:sp>
        <p:nvSpPr>
          <p:cNvPr id="8" name="Text 4"/>
          <p:cNvSpPr txBox="1"/>
          <p:nvPr/>
        </p:nvSpPr>
        <p:spPr>
          <a:xfrm>
            <a:off x="548640" y="4407408"/>
            <a:ext cx="2743200" cy="292608"/>
          </a:xfrm>
          <a:prstGeom prst="rect">
            <a:avLst/>
          </a:prstGeom>
          <a:noFill/>
          <a:ln/>
        </p:spPr>
        <p:txBody>
          <a:bodyPr wrap="square" lIns="0" tIns="0" rIns="0" bIns="0" rtlCol="0" anchor="t"/>
          <a:lstStyle/>
          <a:p>
            <a:pPr algn="ctr" indent="0" marL="0">
              <a:buNone/>
            </a:pPr>
            <a:r>
              <a:rPr lang="en-US" sz="1100" dirty="0">
                <a:solidFill>
                  <a:schemeClr val="bg2"/>
                </a:solidFill>
              </a:rPr>
              <a:t>input - only 2 % cloud</a:t>
            </a:r>
            <a:endParaRPr lang="en-US" sz="1100" dirty="0"/>
          </a:p>
        </p:txBody>
      </p:sp>
      <p:sp>
        <p:nvSpPr>
          <p:cNvPr id="9" name="Text 5"/>
          <p:cNvSpPr txBox="1"/>
          <p:nvPr/>
        </p:nvSpPr>
        <p:spPr>
          <a:xfrm>
            <a:off x="3611880" y="4407408"/>
            <a:ext cx="2743200" cy="292608"/>
          </a:xfrm>
          <a:prstGeom prst="rect">
            <a:avLst/>
          </a:prstGeom>
          <a:noFill/>
          <a:ln/>
        </p:spPr>
        <p:txBody>
          <a:bodyPr wrap="square" lIns="0" tIns="0" rIns="0" bIns="0" rtlCol="0" anchor="t"/>
          <a:lstStyle/>
          <a:p>
            <a:pPr algn="ctr" indent="0" marL="0">
              <a:buNone/>
            </a:pPr>
            <a:r>
              <a:rPr lang="en-US" sz="1100" dirty="0">
                <a:solidFill>
                  <a:schemeClr val="bg2"/>
                </a:solidFill>
              </a:rPr>
              <a:t>'clear' target, different date</a:t>
            </a:r>
            <a:endParaRPr lang="en-US" sz="1100" dirty="0"/>
          </a:p>
        </p:txBody>
      </p:sp>
      <p:sp>
        <p:nvSpPr>
          <p:cNvPr id="10" name="ds1_panel"/>
          <p:cNvSpPr/>
          <p:nvPr/>
        </p:nvSpPr>
        <p:spPr>
          <a:xfrm>
            <a:off x="6766560" y="1600200"/>
            <a:ext cx="487375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1" name="Text 7"/>
          <p:cNvSpPr txBox="1"/>
          <p:nvPr/>
        </p:nvSpPr>
        <p:spPr>
          <a:xfrm>
            <a:off x="6995160" y="1764792"/>
            <a:ext cx="4416552" cy="640080"/>
          </a:xfrm>
          <a:prstGeom prst="rect">
            <a:avLst/>
          </a:prstGeom>
          <a:noFill/>
          <a:ln/>
        </p:spPr>
        <p:txBody>
          <a:bodyPr wrap="square" lIns="0" tIns="0" rIns="0" bIns="0" rtlCol="0" anchor="t"/>
          <a:lstStyle/>
          <a:p>
            <a:pPr indent="0" marL="0">
              <a:buNone/>
            </a:pPr>
            <a:r>
              <a:rPr lang="en-US" sz="3400" b="1" dirty="0">
                <a:solidFill>
                  <a:schemeClr val="accent5"/>
                </a:solidFill>
                <a:latin typeface="Segoe UI Semibold" pitchFamily="34" charset="0"/>
                <a:ea typeface="Segoe UI Semibold" pitchFamily="34" charset="-122"/>
                <a:cs typeface="Segoe UI Semibold" pitchFamily="34" charset="-120"/>
              </a:rPr>
              <a:t>24-27 dB</a:t>
            </a:r>
            <a:endParaRPr lang="en-US" sz="3400" dirty="0"/>
          </a:p>
        </p:txBody>
      </p:sp>
      <p:sp>
        <p:nvSpPr>
          <p:cNvPr id="12" name="Text 8"/>
          <p:cNvSpPr txBox="1"/>
          <p:nvPr/>
        </p:nvSpPr>
        <p:spPr>
          <a:xfrm>
            <a:off x="6995160" y="2423160"/>
            <a:ext cx="4416552" cy="411480"/>
          </a:xfrm>
          <a:prstGeom prst="rect">
            <a:avLst/>
          </a:prstGeom>
          <a:noFill/>
          <a:ln/>
        </p:spPr>
        <p:txBody>
          <a:bodyPr wrap="square" lIns="0" tIns="0" rIns="0" bIns="0" rtlCol="0" anchor="t"/>
          <a:lstStyle/>
          <a:p>
            <a:pPr indent="0" marL="0">
              <a:buNone/>
            </a:pPr>
            <a:r>
              <a:rPr lang="en-US" sz="1200" dirty="0">
                <a:solidFill>
                  <a:schemeClr val="bg2"/>
                </a:solidFill>
              </a:rPr>
              <a:t>a nearly cloud-free input scores only this against its target</a:t>
            </a:r>
            <a:endParaRPr lang="en-US" sz="1200" dirty="0"/>
          </a:p>
        </p:txBody>
      </p:sp>
      <p:sp>
        <p:nvSpPr>
          <p:cNvPr id="13" name="ds2_panel"/>
          <p:cNvSpPr/>
          <p:nvPr/>
        </p:nvSpPr>
        <p:spPr>
          <a:xfrm>
            <a:off x="6766560" y="3063240"/>
            <a:ext cx="487375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4" name="Text 10"/>
          <p:cNvSpPr txBox="1"/>
          <p:nvPr/>
        </p:nvSpPr>
        <p:spPr>
          <a:xfrm>
            <a:off x="6995160" y="3227832"/>
            <a:ext cx="4416552"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31-40 dB</a:t>
            </a:r>
            <a:endParaRPr lang="en-US" sz="3400" dirty="0"/>
          </a:p>
        </p:txBody>
      </p:sp>
      <p:sp>
        <p:nvSpPr>
          <p:cNvPr id="15" name="Text 11"/>
          <p:cNvSpPr txBox="1"/>
          <p:nvPr/>
        </p:nvSpPr>
        <p:spPr>
          <a:xfrm>
            <a:off x="6995160" y="3886200"/>
            <a:ext cx="4416552" cy="411480"/>
          </a:xfrm>
          <a:prstGeom prst="rect">
            <a:avLst/>
          </a:prstGeom>
          <a:noFill/>
          <a:ln/>
        </p:spPr>
        <p:txBody>
          <a:bodyPr wrap="square" lIns="0" tIns="0" rIns="0" bIns="0" rtlCol="0" anchor="t"/>
          <a:lstStyle/>
          <a:p>
            <a:pPr indent="0" marL="0">
              <a:buNone/>
            </a:pPr>
            <a:r>
              <a:rPr lang="en-US" sz="1200" dirty="0">
                <a:solidFill>
                  <a:schemeClr val="bg2"/>
                </a:solidFill>
              </a:rPr>
              <a:t>after a simple per-band brightness fit - the rest was the date difference</a:t>
            </a:r>
            <a:endParaRPr lang="en-US" sz="1200" dirty="0"/>
          </a:p>
        </p:txBody>
      </p:sp>
      <p:sp>
        <p:nvSpPr>
          <p:cNvPr id="16" name="Text 12"/>
          <p:cNvSpPr txBox="1"/>
          <p:nvPr/>
        </p:nvSpPr>
        <p:spPr>
          <a:xfrm>
            <a:off x="6766560" y="4617720"/>
            <a:ext cx="4873752" cy="1188720"/>
          </a:xfrm>
          <a:prstGeom prst="rect">
            <a:avLst/>
          </a:prstGeom>
          <a:noFill/>
          <a:ln/>
        </p:spPr>
        <p:txBody>
          <a:bodyPr wrap="square" lIns="0" tIns="0" rIns="0" bIns="0" rtlCol="0" anchor="t"/>
          <a:lstStyle/>
          <a:p>
            <a:pPr indent="0" marL="0">
              <a:buNone/>
            </a:pPr>
            <a:r>
              <a:rPr lang="en-US" sz="1500" b="1" dirty="0">
                <a:solidFill>
                  <a:schemeClr val="accent1"/>
                </a:solidFill>
              </a:rPr>
              <a:t>So: </a:t>
            </a:r>
            <a:pPr indent="0" marL="0">
              <a:buNone/>
            </a:pPr>
            <a:r>
              <a:rPr lang="en-US" sz="1500" dirty="0">
                <a:solidFill>
                  <a:schemeClr val="bg2"/>
                </a:solidFill>
              </a:rPr>
              <a:t>the model may correct the colours of visible pixels (hybrid output, next slides), and every result is also reported as </a:t>
            </a:r>
            <a:pPr indent="0" marL="0">
              <a:buNone/>
            </a:pPr>
            <a:r>
              <a:rPr lang="en-US" sz="1500" b="1" dirty="0">
                <a:solidFill>
                  <a:schemeClr val="bg1"/>
                </a:solidFill>
              </a:rPr>
              <a:t>PSNR with the date shift removed.</a:t>
            </a:r>
            <a:endParaRPr lang="en-US" sz="1500" dirty="0"/>
          </a:p>
        </p:txBody>
      </p:sp>
      <p:sp>
        <p:nvSpPr>
          <p:cNvPr id="17" name="Text 13"/>
          <p:cNvSpPr txBox="1"/>
          <p:nvPr/>
        </p:nvSpPr>
        <p:spPr>
          <a:xfrm>
            <a:off x="548640" y="4846320"/>
            <a:ext cx="5760720" cy="320040"/>
          </a:xfrm>
          <a:prstGeom prst="rect">
            <a:avLst/>
          </a:prstGeom>
          <a:noFill/>
          <a:ln/>
        </p:spPr>
        <p:txBody>
          <a:bodyPr wrap="square" lIns="0" tIns="0" rIns="0" bIns="0" rtlCol="0" anchor="t"/>
          <a:lstStyle/>
          <a:p>
            <a:pPr indent="0" marL="0">
              <a:buNone/>
            </a:pPr>
            <a:r>
              <a:rPr lang="en-US" sz="1100" dirty="0">
                <a:solidFill>
                  <a:schemeClr val="bg2"/>
                </a:solidFill>
              </a:rPr>
              <a:t>Measured on the nearly cloud-free Phase 1 gallery patches.</a:t>
            </a:r>
            <a:endParaRPr lang="en-US" sz="11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THE MODEL</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ClearSAR-Net: a U-Net that can look across the whole patch</a:t>
            </a:r>
            <a:endParaRPr lang="en-US" sz="3200" dirty="0"/>
          </a:p>
        </p:txBody>
      </p:sp>
      <p:sp>
        <p:nvSpPr>
          <p:cNvPr id="4" name="enc_enc1"/>
          <p:cNvSpPr/>
          <p:nvPr/>
        </p:nvSpPr>
        <p:spPr>
          <a:xfrm>
            <a:off x="548640" y="1783080"/>
            <a:ext cx="960120" cy="2926080"/>
          </a:xfrm>
          <a:prstGeom prst="roundRect">
            <a:avLst>
              <a:gd name="adj" fmla="val 7619"/>
            </a:avLst>
          </a:prstGeom>
          <a:solidFill>
            <a:schemeClr val="accent2">
              <a:alpha val="75000"/>
            </a:schemeClr>
          </a:solidFill>
          <a:ln w="9525">
            <a:solidFill>
              <a:schemeClr val="accent2"/>
            </a:solidFill>
            <a:prstDash val="solid"/>
          </a:ln>
        </p:spPr>
      </p:sp>
      <p:sp>
        <p:nvSpPr>
          <p:cNvPr id="5" name="Text 3"/>
          <p:cNvSpPr txBox="1"/>
          <p:nvPr/>
        </p:nvSpPr>
        <p:spPr>
          <a:xfrm>
            <a:off x="548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enc1</a:t>
            </a:r>
            <a:endParaRPr lang="en-US" sz="1200" dirty="0"/>
          </a:p>
        </p:txBody>
      </p:sp>
      <p:sp>
        <p:nvSpPr>
          <p:cNvPr id="6" name="Text 4"/>
          <p:cNvSpPr txBox="1"/>
          <p:nvPr/>
        </p:nvSpPr>
        <p:spPr>
          <a:xfrm>
            <a:off x="548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64 ch</a:t>
            </a:r>
            <a:endParaRPr lang="en-US" sz="1000" dirty="0"/>
          </a:p>
          <a:p>
            <a:pPr algn="ctr" indent="0" marL="0">
              <a:buNone/>
            </a:pPr>
            <a:r>
              <a:rPr lang="en-US" sz="1000" dirty="0">
                <a:solidFill>
                  <a:schemeClr val="tx1"/>
                </a:solidFill>
              </a:rPr>
              <a:t>256²</a:t>
            </a:r>
            <a:endParaRPr lang="en-US" sz="1000" dirty="0"/>
          </a:p>
        </p:txBody>
      </p:sp>
      <p:sp>
        <p:nvSpPr>
          <p:cNvPr id="7" name="enc_enc2"/>
          <p:cNvSpPr/>
          <p:nvPr/>
        </p:nvSpPr>
        <p:spPr>
          <a:xfrm>
            <a:off x="1691640" y="2011680"/>
            <a:ext cx="960120" cy="2468880"/>
          </a:xfrm>
          <a:prstGeom prst="roundRect">
            <a:avLst>
              <a:gd name="adj" fmla="val 7619"/>
            </a:avLst>
          </a:prstGeom>
          <a:solidFill>
            <a:schemeClr val="accent2">
              <a:alpha val="75000"/>
            </a:schemeClr>
          </a:solidFill>
          <a:ln w="9525">
            <a:solidFill>
              <a:schemeClr val="accent2"/>
            </a:solidFill>
            <a:prstDash val="solid"/>
          </a:ln>
        </p:spPr>
      </p:sp>
      <p:sp>
        <p:nvSpPr>
          <p:cNvPr id="8" name="Text 6"/>
          <p:cNvSpPr txBox="1"/>
          <p:nvPr/>
        </p:nvSpPr>
        <p:spPr>
          <a:xfrm>
            <a:off x="1691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enc2</a:t>
            </a:r>
            <a:endParaRPr lang="en-US" sz="1200" dirty="0"/>
          </a:p>
        </p:txBody>
      </p:sp>
      <p:sp>
        <p:nvSpPr>
          <p:cNvPr id="9" name="Text 7"/>
          <p:cNvSpPr txBox="1"/>
          <p:nvPr/>
        </p:nvSpPr>
        <p:spPr>
          <a:xfrm>
            <a:off x="1691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128 ch</a:t>
            </a:r>
            <a:endParaRPr lang="en-US" sz="1000" dirty="0"/>
          </a:p>
          <a:p>
            <a:pPr algn="ctr" indent="0" marL="0">
              <a:buNone/>
            </a:pPr>
            <a:r>
              <a:rPr lang="en-US" sz="1000" dirty="0">
                <a:solidFill>
                  <a:schemeClr val="tx1"/>
                </a:solidFill>
              </a:rPr>
              <a:t>128²</a:t>
            </a:r>
            <a:endParaRPr lang="en-US" sz="1000" dirty="0"/>
          </a:p>
        </p:txBody>
      </p:sp>
      <p:sp>
        <p:nvSpPr>
          <p:cNvPr id="10" name="enc_enc3"/>
          <p:cNvSpPr/>
          <p:nvPr/>
        </p:nvSpPr>
        <p:spPr>
          <a:xfrm>
            <a:off x="2834640" y="2240280"/>
            <a:ext cx="960120" cy="2011680"/>
          </a:xfrm>
          <a:prstGeom prst="roundRect">
            <a:avLst>
              <a:gd name="adj" fmla="val 7619"/>
            </a:avLst>
          </a:prstGeom>
          <a:solidFill>
            <a:schemeClr val="accent2">
              <a:alpha val="75000"/>
            </a:schemeClr>
          </a:solidFill>
          <a:ln w="9525">
            <a:solidFill>
              <a:schemeClr val="accent2"/>
            </a:solidFill>
            <a:prstDash val="solid"/>
          </a:ln>
        </p:spPr>
      </p:sp>
      <p:sp>
        <p:nvSpPr>
          <p:cNvPr id="11" name="Text 9"/>
          <p:cNvSpPr txBox="1"/>
          <p:nvPr/>
        </p:nvSpPr>
        <p:spPr>
          <a:xfrm>
            <a:off x="2834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enc3</a:t>
            </a:r>
            <a:endParaRPr lang="en-US" sz="1200" dirty="0"/>
          </a:p>
        </p:txBody>
      </p:sp>
      <p:sp>
        <p:nvSpPr>
          <p:cNvPr id="12" name="Text 10"/>
          <p:cNvSpPr txBox="1"/>
          <p:nvPr/>
        </p:nvSpPr>
        <p:spPr>
          <a:xfrm>
            <a:off x="2834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256 ch</a:t>
            </a:r>
            <a:endParaRPr lang="en-US" sz="1000" dirty="0"/>
          </a:p>
          <a:p>
            <a:pPr algn="ctr" indent="0" marL="0">
              <a:buNone/>
            </a:pPr>
            <a:r>
              <a:rPr lang="en-US" sz="1000" dirty="0">
                <a:solidFill>
                  <a:schemeClr val="tx1"/>
                </a:solidFill>
              </a:rPr>
              <a:t>64²</a:t>
            </a:r>
            <a:endParaRPr lang="en-US" sz="1000" dirty="0"/>
          </a:p>
        </p:txBody>
      </p:sp>
      <p:sp>
        <p:nvSpPr>
          <p:cNvPr id="13" name="enc_bottleneck"/>
          <p:cNvSpPr/>
          <p:nvPr/>
        </p:nvSpPr>
        <p:spPr>
          <a:xfrm>
            <a:off x="3977640" y="2423160"/>
            <a:ext cx="960120" cy="1645920"/>
          </a:xfrm>
          <a:prstGeom prst="roundRect">
            <a:avLst>
              <a:gd name="adj" fmla="val 7619"/>
            </a:avLst>
          </a:prstGeom>
          <a:solidFill>
            <a:schemeClr val="accent2">
              <a:alpha val="75000"/>
            </a:schemeClr>
          </a:solidFill>
          <a:ln w="9525">
            <a:solidFill>
              <a:schemeClr val="accent2"/>
            </a:solidFill>
            <a:prstDash val="solid"/>
          </a:ln>
        </p:spPr>
      </p:sp>
      <p:sp>
        <p:nvSpPr>
          <p:cNvPr id="14" name="Text 12"/>
          <p:cNvSpPr txBox="1"/>
          <p:nvPr/>
        </p:nvSpPr>
        <p:spPr>
          <a:xfrm>
            <a:off x="3977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bottleneck</a:t>
            </a:r>
            <a:endParaRPr lang="en-US" sz="1200" dirty="0"/>
          </a:p>
        </p:txBody>
      </p:sp>
      <p:sp>
        <p:nvSpPr>
          <p:cNvPr id="15" name="Text 13"/>
          <p:cNvSpPr txBox="1"/>
          <p:nvPr/>
        </p:nvSpPr>
        <p:spPr>
          <a:xfrm>
            <a:off x="3977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512 ch</a:t>
            </a:r>
            <a:endParaRPr lang="en-US" sz="1000" dirty="0"/>
          </a:p>
          <a:p>
            <a:pPr algn="ctr" indent="0" marL="0">
              <a:buNone/>
            </a:pPr>
            <a:r>
              <a:rPr lang="en-US" sz="1000" dirty="0">
                <a:solidFill>
                  <a:schemeClr val="tx1"/>
                </a:solidFill>
              </a:rPr>
              <a:t>32²</a:t>
            </a:r>
            <a:endParaRPr lang="en-US" sz="1000" dirty="0"/>
          </a:p>
        </p:txBody>
      </p:sp>
      <p:sp>
        <p:nvSpPr>
          <p:cNvPr id="16" name="attn_block"/>
          <p:cNvSpPr/>
          <p:nvPr/>
        </p:nvSpPr>
        <p:spPr>
          <a:xfrm>
            <a:off x="5120640" y="2057400"/>
            <a:ext cx="2103120" cy="2377440"/>
          </a:xfrm>
          <a:prstGeom prst="roundRect">
            <a:avLst>
              <a:gd name="adj" fmla="val 5217"/>
            </a:avLst>
          </a:prstGeom>
          <a:solidFill>
            <a:schemeClr val="accent3">
              <a:alpha val="90000"/>
            </a:schemeClr>
          </a:solidFill>
          <a:ln w="9525">
            <a:solidFill>
              <a:schemeClr val="accent3"/>
            </a:solidFill>
            <a:prstDash val="solid"/>
          </a:ln>
        </p:spPr>
      </p:sp>
      <p:sp>
        <p:nvSpPr>
          <p:cNvPr id="17" name="Text 15"/>
          <p:cNvSpPr txBox="1"/>
          <p:nvPr/>
        </p:nvSpPr>
        <p:spPr>
          <a:xfrm>
            <a:off x="5212080" y="2240280"/>
            <a:ext cx="1920240" cy="548640"/>
          </a:xfrm>
          <a:prstGeom prst="rect">
            <a:avLst/>
          </a:prstGeom>
          <a:noFill/>
          <a:ln/>
        </p:spPr>
        <p:txBody>
          <a:bodyPr wrap="square" lIns="0" tIns="0" rIns="0" bIns="0" rtlCol="0" anchor="t"/>
          <a:lstStyle/>
          <a:p>
            <a:pPr algn="ctr" indent="0" marL="0">
              <a:buNone/>
            </a:pPr>
            <a:r>
              <a:rPr lang="en-US" sz="1400" b="1" dirty="0">
                <a:solidFill>
                  <a:schemeClr val="tx1"/>
                </a:solidFill>
              </a:rPr>
              <a:t>2 × global self-attention</a:t>
            </a:r>
            <a:endParaRPr lang="en-US" sz="1400" dirty="0"/>
          </a:p>
        </p:txBody>
      </p:sp>
      <p:sp>
        <p:nvSpPr>
          <p:cNvPr id="18" name="Text 16"/>
          <p:cNvSpPr txBox="1"/>
          <p:nvPr/>
        </p:nvSpPr>
        <p:spPr>
          <a:xfrm>
            <a:off x="5212080" y="2834640"/>
            <a:ext cx="1920240" cy="1097280"/>
          </a:xfrm>
          <a:prstGeom prst="rect">
            <a:avLst/>
          </a:prstGeom>
          <a:noFill/>
          <a:ln/>
        </p:spPr>
        <p:txBody>
          <a:bodyPr wrap="square" lIns="0" tIns="0" rIns="0" bIns="0" rtlCol="0" anchor="t"/>
          <a:lstStyle/>
          <a:p>
            <a:pPr algn="ctr" indent="0" marL="0">
              <a:buNone/>
            </a:pPr>
            <a:r>
              <a:rPr lang="en-US" sz="1100" dirty="0">
                <a:solidFill>
                  <a:schemeClr val="tx1"/>
                </a:solidFill>
              </a:rPr>
              <a:t>1,024 tokens, 8 heads</a:t>
            </a:r>
            <a:endParaRPr lang="en-US" sz="1100" dirty="0"/>
          </a:p>
          <a:p>
            <a:pPr algn="ctr" indent="0" marL="0">
              <a:buNone/>
            </a:pPr>
            <a:r>
              <a:rPr lang="en-US" sz="1100" dirty="0">
                <a:solidFill>
                  <a:schemeClr val="tx1"/>
                </a:solidFill>
              </a:rPr>
              <a:t>2-D sine position code</a:t>
            </a:r>
            <a:endParaRPr lang="en-US" sz="1100" dirty="0"/>
          </a:p>
          <a:p>
            <a:pPr algn="ctr" indent="0" marL="0">
              <a:buNone/>
            </a:pPr>
            <a:r>
              <a:rPr lang="en-US" sz="1100" dirty="0">
                <a:solidFill>
                  <a:schemeClr val="tx1"/>
                </a:solidFill>
              </a:rPr>
              <a:t>fp32 stream + LayerNorm</a:t>
            </a:r>
            <a:endParaRPr lang="en-US" sz="1100" dirty="0"/>
          </a:p>
        </p:txBody>
      </p:sp>
      <p:sp>
        <p:nvSpPr>
          <p:cNvPr id="19" name="dec_2"/>
          <p:cNvSpPr/>
          <p:nvPr/>
        </p:nvSpPr>
        <p:spPr>
          <a:xfrm>
            <a:off x="7406640" y="2240280"/>
            <a:ext cx="960120" cy="2011680"/>
          </a:xfrm>
          <a:prstGeom prst="roundRect">
            <a:avLst>
              <a:gd name="adj" fmla="val 7619"/>
            </a:avLst>
          </a:prstGeom>
          <a:solidFill>
            <a:schemeClr val="accent1">
              <a:alpha val="75000"/>
            </a:schemeClr>
          </a:solidFill>
          <a:ln w="9525">
            <a:solidFill>
              <a:schemeClr val="accent1"/>
            </a:solidFill>
            <a:prstDash val="solid"/>
          </a:ln>
        </p:spPr>
      </p:sp>
      <p:sp>
        <p:nvSpPr>
          <p:cNvPr id="20" name="Text 18"/>
          <p:cNvSpPr txBox="1"/>
          <p:nvPr/>
        </p:nvSpPr>
        <p:spPr>
          <a:xfrm>
            <a:off x="7406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dec3</a:t>
            </a:r>
            <a:endParaRPr lang="en-US" sz="1200" dirty="0"/>
          </a:p>
        </p:txBody>
      </p:sp>
      <p:sp>
        <p:nvSpPr>
          <p:cNvPr id="21" name="Text 19"/>
          <p:cNvSpPr txBox="1"/>
          <p:nvPr/>
        </p:nvSpPr>
        <p:spPr>
          <a:xfrm>
            <a:off x="7406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256 ch</a:t>
            </a:r>
            <a:endParaRPr lang="en-US" sz="1000" dirty="0"/>
          </a:p>
          <a:p>
            <a:pPr algn="ctr" indent="0" marL="0">
              <a:buNone/>
            </a:pPr>
            <a:r>
              <a:rPr lang="en-US" sz="1000" dirty="0">
                <a:solidFill>
                  <a:schemeClr val="tx1"/>
                </a:solidFill>
              </a:rPr>
              <a:t>64²</a:t>
            </a:r>
            <a:endParaRPr lang="en-US" sz="1000" dirty="0"/>
          </a:p>
        </p:txBody>
      </p:sp>
      <p:sp>
        <p:nvSpPr>
          <p:cNvPr id="22" name="dec_1"/>
          <p:cNvSpPr/>
          <p:nvPr/>
        </p:nvSpPr>
        <p:spPr>
          <a:xfrm>
            <a:off x="8549640" y="2011680"/>
            <a:ext cx="960120" cy="2468880"/>
          </a:xfrm>
          <a:prstGeom prst="roundRect">
            <a:avLst>
              <a:gd name="adj" fmla="val 7619"/>
            </a:avLst>
          </a:prstGeom>
          <a:solidFill>
            <a:schemeClr val="accent1">
              <a:alpha val="75000"/>
            </a:schemeClr>
          </a:solidFill>
          <a:ln w="9525">
            <a:solidFill>
              <a:schemeClr val="accent1"/>
            </a:solidFill>
            <a:prstDash val="solid"/>
          </a:ln>
        </p:spPr>
      </p:sp>
      <p:sp>
        <p:nvSpPr>
          <p:cNvPr id="23" name="Text 21"/>
          <p:cNvSpPr txBox="1"/>
          <p:nvPr/>
        </p:nvSpPr>
        <p:spPr>
          <a:xfrm>
            <a:off x="8549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dec2</a:t>
            </a:r>
            <a:endParaRPr lang="en-US" sz="1200" dirty="0"/>
          </a:p>
        </p:txBody>
      </p:sp>
      <p:sp>
        <p:nvSpPr>
          <p:cNvPr id="24" name="Text 22"/>
          <p:cNvSpPr txBox="1"/>
          <p:nvPr/>
        </p:nvSpPr>
        <p:spPr>
          <a:xfrm>
            <a:off x="8549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128 ch</a:t>
            </a:r>
            <a:endParaRPr lang="en-US" sz="1000" dirty="0"/>
          </a:p>
          <a:p>
            <a:pPr algn="ctr" indent="0" marL="0">
              <a:buNone/>
            </a:pPr>
            <a:r>
              <a:rPr lang="en-US" sz="1000" dirty="0">
                <a:solidFill>
                  <a:schemeClr val="tx1"/>
                </a:solidFill>
              </a:rPr>
              <a:t>128²</a:t>
            </a:r>
            <a:endParaRPr lang="en-US" sz="1000" dirty="0"/>
          </a:p>
        </p:txBody>
      </p:sp>
      <p:sp>
        <p:nvSpPr>
          <p:cNvPr id="25" name="dec_0"/>
          <p:cNvSpPr/>
          <p:nvPr/>
        </p:nvSpPr>
        <p:spPr>
          <a:xfrm>
            <a:off x="9692640" y="1783080"/>
            <a:ext cx="960120" cy="2926080"/>
          </a:xfrm>
          <a:prstGeom prst="roundRect">
            <a:avLst>
              <a:gd name="adj" fmla="val 7619"/>
            </a:avLst>
          </a:prstGeom>
          <a:solidFill>
            <a:schemeClr val="accent1">
              <a:alpha val="75000"/>
            </a:schemeClr>
          </a:solidFill>
          <a:ln w="9525">
            <a:solidFill>
              <a:schemeClr val="accent1"/>
            </a:solidFill>
            <a:prstDash val="solid"/>
          </a:ln>
        </p:spPr>
      </p:sp>
      <p:sp>
        <p:nvSpPr>
          <p:cNvPr id="26" name="Text 24"/>
          <p:cNvSpPr txBox="1"/>
          <p:nvPr/>
        </p:nvSpPr>
        <p:spPr>
          <a:xfrm>
            <a:off x="9692640" y="2971800"/>
            <a:ext cx="960120" cy="274320"/>
          </a:xfrm>
          <a:prstGeom prst="rect">
            <a:avLst/>
          </a:prstGeom>
          <a:noFill/>
          <a:ln/>
        </p:spPr>
        <p:txBody>
          <a:bodyPr wrap="square" lIns="0" tIns="0" rIns="0" bIns="0" rtlCol="0" anchor="t"/>
          <a:lstStyle/>
          <a:p>
            <a:pPr algn="ctr" indent="0" marL="0">
              <a:buNone/>
            </a:pPr>
            <a:r>
              <a:rPr lang="en-US" sz="1200" b="1" dirty="0">
                <a:solidFill>
                  <a:schemeClr val="tx1"/>
                </a:solidFill>
              </a:rPr>
              <a:t>dec1</a:t>
            </a:r>
            <a:endParaRPr lang="en-US" sz="1200" dirty="0"/>
          </a:p>
        </p:txBody>
      </p:sp>
      <p:sp>
        <p:nvSpPr>
          <p:cNvPr id="27" name="Text 25"/>
          <p:cNvSpPr txBox="1"/>
          <p:nvPr/>
        </p:nvSpPr>
        <p:spPr>
          <a:xfrm>
            <a:off x="9692640" y="3246120"/>
            <a:ext cx="960120" cy="502920"/>
          </a:xfrm>
          <a:prstGeom prst="rect">
            <a:avLst/>
          </a:prstGeom>
          <a:noFill/>
          <a:ln/>
        </p:spPr>
        <p:txBody>
          <a:bodyPr wrap="square" lIns="0" tIns="0" rIns="0" bIns="0" rtlCol="0" anchor="t"/>
          <a:lstStyle/>
          <a:p>
            <a:pPr algn="ctr" indent="0" marL="0">
              <a:buNone/>
            </a:pPr>
            <a:r>
              <a:rPr lang="en-US" sz="1000" dirty="0">
                <a:solidFill>
                  <a:schemeClr val="tx1"/>
                </a:solidFill>
              </a:rPr>
              <a:t>64 ch</a:t>
            </a:r>
            <a:endParaRPr lang="en-US" sz="1000" dirty="0"/>
          </a:p>
          <a:p>
            <a:pPr algn="ctr" indent="0" marL="0">
              <a:buNone/>
            </a:pPr>
            <a:r>
              <a:rPr lang="en-US" sz="1000" dirty="0">
                <a:solidFill>
                  <a:schemeClr val="tx1"/>
                </a:solidFill>
              </a:rPr>
              <a:t>256²</a:t>
            </a:r>
            <a:endParaRPr lang="en-US" sz="1000" dirty="0"/>
          </a:p>
        </p:txBody>
      </p:sp>
      <p:sp>
        <p:nvSpPr>
          <p:cNvPr id="28" name="Text 26"/>
          <p:cNvSpPr txBox="1"/>
          <p:nvPr/>
        </p:nvSpPr>
        <p:spPr>
          <a:xfrm>
            <a:off x="548640" y="4892040"/>
            <a:ext cx="8686800" cy="320040"/>
          </a:xfrm>
          <a:prstGeom prst="rect">
            <a:avLst/>
          </a:prstGeom>
          <a:noFill/>
          <a:ln/>
        </p:spPr>
        <p:txBody>
          <a:bodyPr wrap="square" lIns="0" tIns="0" rIns="0" bIns="0" rtlCol="0" anchor="t"/>
          <a:lstStyle/>
          <a:p>
            <a:pPr indent="0" marL="0">
              <a:buNone/>
            </a:pPr>
            <a:r>
              <a:rPr lang="en-US" sz="1200" dirty="0">
                <a:solidFill>
                  <a:schemeClr val="bg2"/>
                </a:solidFill>
              </a:rPr>
              <a:t>skip connections carry fine detail from each encoder level to the decoder</a:t>
            </a:r>
            <a:endParaRPr lang="en-US" sz="1200" dirty="0"/>
          </a:p>
        </p:txBody>
      </p:sp>
      <p:sp>
        <p:nvSpPr>
          <p:cNvPr id="29" name="Text 27"/>
          <p:cNvSpPr txBox="1"/>
          <p:nvPr/>
        </p:nvSpPr>
        <p:spPr>
          <a:xfrm>
            <a:off x="548640" y="5349240"/>
            <a:ext cx="3520440" cy="1005840"/>
          </a:xfrm>
          <a:prstGeom prst="rect">
            <a:avLst/>
          </a:prstGeom>
          <a:noFill/>
          <a:ln/>
        </p:spPr>
        <p:txBody>
          <a:bodyPr wrap="square" lIns="0" tIns="0" rIns="0" bIns="0" rtlCol="0" anchor="t"/>
          <a:lstStyle/>
          <a:p>
            <a:pPr indent="0" marL="0">
              <a:buNone/>
            </a:pPr>
            <a:r>
              <a:rPr lang="en-US" sz="1300" b="1" dirty="0">
                <a:solidFill>
                  <a:schemeClr val="bg1"/>
                </a:solidFill>
              </a:rPr>
              <a:t>Attention where it is cheap - </a:t>
            </a:r>
            <a:pPr indent="0" marL="0">
              <a:buNone/>
            </a:pPr>
            <a:r>
              <a:rPr lang="en-US" sz="1300" dirty="0">
                <a:solidFill>
                  <a:schemeClr val="bg2"/>
                </a:solidFill>
              </a:rPr>
              <a:t>at 32 × 32 every region of the 2.56 km patch can use evidence from every other - what made the ViT best under thick cloud.</a:t>
            </a:r>
            <a:endParaRPr lang="en-US" sz="1300" dirty="0"/>
          </a:p>
        </p:txBody>
      </p:sp>
      <p:sp>
        <p:nvSpPr>
          <p:cNvPr id="30" name="Text 28"/>
          <p:cNvSpPr txBox="1"/>
          <p:nvPr/>
        </p:nvSpPr>
        <p:spPr>
          <a:xfrm>
            <a:off x="4297680" y="5349240"/>
            <a:ext cx="3520440" cy="1005840"/>
          </a:xfrm>
          <a:prstGeom prst="rect">
            <a:avLst/>
          </a:prstGeom>
          <a:noFill/>
          <a:ln/>
        </p:spPr>
        <p:txBody>
          <a:bodyPr wrap="square" lIns="0" tIns="0" rIns="0" bIns="0" rtlCol="0" anchor="t"/>
          <a:lstStyle/>
          <a:p>
            <a:pPr indent="0" marL="0">
              <a:buNone/>
            </a:pPr>
            <a:r>
              <a:rPr lang="en-US" sz="1300" b="1" dirty="0">
                <a:solidFill>
                  <a:schemeClr val="bg1"/>
                </a:solidFill>
              </a:rPr>
              <a:t>Bilinear upsampling - </a:t>
            </a:r>
            <a:pPr indent="0" marL="0">
              <a:buNone/>
            </a:pPr>
            <a:r>
              <a:rPr lang="en-US" sz="1300" dirty="0">
                <a:solidFill>
                  <a:schemeClr val="bg2"/>
                </a:solidFill>
              </a:rPr>
              <a:t>instead of transposed convolutions: no checkerboard artefacts for the GAN to amplify.</a:t>
            </a:r>
            <a:endParaRPr lang="en-US" sz="1300" dirty="0"/>
          </a:p>
        </p:txBody>
      </p:sp>
      <p:sp>
        <p:nvSpPr>
          <p:cNvPr id="31" name="Text 29"/>
          <p:cNvSpPr txBox="1"/>
          <p:nvPr/>
        </p:nvSpPr>
        <p:spPr>
          <a:xfrm>
            <a:off x="8046720" y="5349240"/>
            <a:ext cx="3520440" cy="1005840"/>
          </a:xfrm>
          <a:prstGeom prst="rect">
            <a:avLst/>
          </a:prstGeom>
          <a:noFill/>
          <a:ln/>
        </p:spPr>
        <p:txBody>
          <a:bodyPr wrap="square" lIns="0" tIns="0" rIns="0" bIns="0" rtlCol="0" anchor="t"/>
          <a:lstStyle/>
          <a:p>
            <a:pPr indent="0" marL="0">
              <a:buNone/>
            </a:pPr>
            <a:r>
              <a:rPr lang="en-US" sz="1300" b="1" dirty="0">
                <a:solidFill>
                  <a:schemeClr val="bg1"/>
                </a:solidFill>
              </a:rPr>
              <a:t>Full 256 × 256 patches - </a:t>
            </a:r>
            <a:pPr indent="0" marL="0">
              <a:buNone/>
            </a:pPr>
            <a:r>
              <a:rPr lang="en-US" sz="1300" dirty="0">
                <a:solidFill>
                  <a:schemeClr val="bg2"/>
                </a:solidFill>
              </a:rPr>
              <a:t>in training and test - no tiling, the whole context is visible.</a:t>
            </a:r>
            <a:endParaRPr lang="en-US" sz="13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THE KEY IDEA</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The cloud gate: keep what is visible, rebuild the rest</a:t>
            </a:r>
            <a:endParaRPr lang="en-US" sz="3200" dirty="0"/>
          </a:p>
        </p:txBody>
      </p:sp>
      <p:sp>
        <p:nvSpPr>
          <p:cNvPr id="4" name="gate_formula"/>
          <p:cNvSpPr/>
          <p:nvPr/>
        </p:nvSpPr>
        <p:spPr>
          <a:xfrm>
            <a:off x="548640" y="1600200"/>
            <a:ext cx="11094415" cy="914400"/>
          </a:xfrm>
          <a:prstGeom prst="roundRect">
            <a:avLst>
              <a:gd name="adj" fmla="val 12000"/>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822960" y="1783080"/>
            <a:ext cx="10545775" cy="548640"/>
          </a:xfrm>
          <a:prstGeom prst="rect">
            <a:avLst/>
          </a:prstGeom>
          <a:noFill/>
          <a:ln/>
        </p:spPr>
        <p:txBody>
          <a:bodyPr wrap="square" lIns="0" tIns="0" rIns="0" bIns="0" rtlCol="0" anchor="ctr"/>
          <a:lstStyle/>
          <a:p>
            <a:pPr algn="ctr" indent="0" marL="0">
              <a:buNone/>
            </a:pPr>
            <a:r>
              <a:rPr lang="en-US" sz="1800" dirty="0">
                <a:solidFill>
                  <a:schemeClr val="bg2"/>
                </a:solidFill>
                <a:latin typeface="Segoe UI Semibold" pitchFamily="34" charset="0"/>
                <a:ea typeface="Segoe UI Semibold" pitchFamily="34" charset="-122"/>
                <a:cs typeface="Segoe UI Semibold" pitchFamily="34" charset="-120"/>
              </a:rPr>
              <a:t>output = </a:t>
            </a:r>
            <a:pPr algn="ctr" indent="0" marL="0">
              <a:buNone/>
            </a:pPr>
            <a:r>
              <a:rPr lang="en-US" sz="1800" b="1" dirty="0">
                <a:solidFill>
                  <a:schemeClr val="accent4"/>
                </a:solidFill>
                <a:latin typeface="Segoe UI Semibold" pitchFamily="34" charset="0"/>
                <a:ea typeface="Segoe UI Semibold" pitchFamily="34" charset="-122"/>
                <a:cs typeface="Segoe UI Semibold" pitchFamily="34" charset="-120"/>
              </a:rPr>
              <a:t>m</a:t>
            </a:r>
            <a:pPr algn="ctr" indent="0" marL="0">
              <a:buNone/>
            </a:pPr>
            <a:r>
              <a:rPr lang="en-US" sz="1800" dirty="0">
                <a:solidFill>
                  <a:schemeClr val="bg1"/>
                </a:solidFill>
                <a:latin typeface="Segoe UI Semibold" pitchFamily="34" charset="0"/>
                <a:ea typeface="Segoe UI Semibold" pitchFamily="34" charset="-122"/>
                <a:cs typeface="Segoe UI Semibold" pitchFamily="34" charset="-120"/>
              </a:rPr>
              <a:t> · (input + learned colour correction)  +  (1 − </a:t>
            </a:r>
            <a:pPr algn="ctr" indent="0" marL="0">
              <a:buNone/>
            </a:pPr>
            <a:r>
              <a:rPr lang="en-US" sz="1800" b="1" dirty="0">
                <a:solidFill>
                  <a:schemeClr val="accent4"/>
                </a:solidFill>
                <a:latin typeface="Segoe UI Semibold" pitchFamily="34" charset="0"/>
                <a:ea typeface="Segoe UI Semibold" pitchFamily="34" charset="-122"/>
                <a:cs typeface="Segoe UI Semibold" pitchFamily="34" charset="-120"/>
              </a:rPr>
              <a:t>m</a:t>
            </a:r>
            <a:pPr algn="ctr" indent="0" marL="0">
              <a:buNone/>
            </a:pPr>
            <a:r>
              <a:rPr lang="en-US" sz="1800" dirty="0">
                <a:solidFill>
                  <a:schemeClr val="bg1"/>
                </a:solidFill>
                <a:latin typeface="Segoe UI Semibold" pitchFamily="34" charset="0"/>
                <a:ea typeface="Segoe UI Semibold" pitchFamily="34" charset="-122"/>
                <a:cs typeface="Segoe UI Semibold" pitchFamily="34" charset="-120"/>
              </a:rPr>
              <a:t>) · (generated from radar + context)</a:t>
            </a:r>
            <a:endParaRPr lang="en-US" sz="1800" dirty="0"/>
          </a:p>
        </p:txBody>
      </p:sp>
      <p:sp>
        <p:nvSpPr>
          <p:cNvPr id="6" name="g_in_frame"/>
          <p:cNvSpPr/>
          <p:nvPr/>
        </p:nvSpPr>
        <p:spPr>
          <a:xfrm>
            <a:off x="512064" y="2843784"/>
            <a:ext cx="2450592" cy="2450592"/>
          </a:xfrm>
          <a:prstGeom prst="roundRect">
            <a:avLst>
              <a:gd name="adj" fmla="val 2985"/>
            </a:avLst>
          </a:prstGeom>
          <a:solidFill>
            <a:schemeClr val="tx2"/>
          </a:solidFill>
          <a:ln w="9525">
            <a:solidFill>
              <a:schemeClr val="accent2">
                <a:alpha val="50000"/>
              </a:schemeClr>
            </a:solidFill>
            <a:prstDash val="solid"/>
          </a:ln>
        </p:spPr>
      </p:sp>
      <p:pic>
        <p:nvPicPr>
          <p:cNvPr id="7" name="g_in" descr="Cloudy input, Portugal, 81 % cloud">    </p:cNvPr>
          <p:cNvPicPr>
            <a:picLocks noChangeAspect="1"/>
          </p:cNvPicPr>
          <p:nvPr/>
        </p:nvPicPr>
        <p:blipFill>
          <a:blip r:embed="rId1"/>
          <a:stretch>
            <a:fillRect/>
          </a:stretch>
        </p:blipFill>
        <p:spPr>
          <a:xfrm>
            <a:off x="548640" y="2880360"/>
            <a:ext cx="2377440" cy="2377440"/>
          </a:xfrm>
          <a:prstGeom prst="rect">
            <a:avLst/>
          </a:prstGeom>
        </p:spPr>
      </p:pic>
      <p:sp>
        <p:nvSpPr>
          <p:cNvPr id="8" name="g_gate_frame"/>
          <p:cNvSpPr/>
          <p:nvPr/>
        </p:nvSpPr>
        <p:spPr>
          <a:xfrm>
            <a:off x="3118104" y="2843784"/>
            <a:ext cx="2450592" cy="2450592"/>
          </a:xfrm>
          <a:prstGeom prst="roundRect">
            <a:avLst>
              <a:gd name="adj" fmla="val 2985"/>
            </a:avLst>
          </a:prstGeom>
          <a:solidFill>
            <a:schemeClr val="tx2"/>
          </a:solidFill>
          <a:ln w="9525">
            <a:solidFill>
              <a:schemeClr val="accent2">
                <a:alpha val="50000"/>
              </a:schemeClr>
            </a:solidFill>
            <a:prstDash val="solid"/>
          </a:ln>
        </p:spPr>
      </p:sp>
      <p:pic>
        <p:nvPicPr>
          <p:cNvPr id="9" name="g_gate" descr="Gate map m: bright in the cloud gap, where the input is kept; dark under cloud">    </p:cNvPr>
          <p:cNvPicPr>
            <a:picLocks noChangeAspect="1"/>
          </p:cNvPicPr>
          <p:nvPr/>
        </p:nvPicPr>
        <p:blipFill>
          <a:blip r:embed="rId2"/>
          <a:stretch>
            <a:fillRect/>
          </a:stretch>
        </p:blipFill>
        <p:spPr>
          <a:xfrm>
            <a:off x="3154680" y="2880360"/>
            <a:ext cx="2377440" cy="2377440"/>
          </a:xfrm>
          <a:prstGeom prst="rect">
            <a:avLst/>
          </a:prstGeom>
        </p:spPr>
      </p:pic>
      <p:sp>
        <p:nvSpPr>
          <p:cNvPr id="10" name="g_out_frame"/>
          <p:cNvSpPr/>
          <p:nvPr/>
        </p:nvSpPr>
        <p:spPr>
          <a:xfrm>
            <a:off x="5724144" y="2843784"/>
            <a:ext cx="2450592" cy="2450592"/>
          </a:xfrm>
          <a:prstGeom prst="roundRect">
            <a:avLst>
              <a:gd name="adj" fmla="val 2985"/>
            </a:avLst>
          </a:prstGeom>
          <a:solidFill>
            <a:schemeClr val="tx2"/>
          </a:solidFill>
          <a:ln w="9525">
            <a:solidFill>
              <a:schemeClr val="accent2">
                <a:alpha val="50000"/>
              </a:schemeClr>
            </a:solidFill>
            <a:prstDash val="solid"/>
          </a:ln>
        </p:spPr>
      </p:sp>
      <p:pic>
        <p:nvPicPr>
          <p:cNvPr id="11" name="g_out" descr="Reconstruction of the same patch">    </p:cNvPr>
          <p:cNvPicPr>
            <a:picLocks noChangeAspect="1"/>
          </p:cNvPicPr>
          <p:nvPr/>
        </p:nvPicPr>
        <p:blipFill>
          <a:blip r:embed="rId3"/>
          <a:stretch>
            <a:fillRect/>
          </a:stretch>
        </p:blipFill>
        <p:spPr>
          <a:xfrm>
            <a:off x="5760720" y="2880360"/>
            <a:ext cx="2377440" cy="2377440"/>
          </a:xfrm>
          <a:prstGeom prst="rect">
            <a:avLst/>
          </a:prstGeom>
        </p:spPr>
      </p:pic>
      <p:sp>
        <p:nvSpPr>
          <p:cNvPr id="12" name="Text 7"/>
          <p:cNvSpPr txBox="1"/>
          <p:nvPr/>
        </p:nvSpPr>
        <p:spPr>
          <a:xfrm>
            <a:off x="548640" y="5321808"/>
            <a:ext cx="2377440" cy="292608"/>
          </a:xfrm>
          <a:prstGeom prst="rect">
            <a:avLst/>
          </a:prstGeom>
          <a:noFill/>
          <a:ln/>
        </p:spPr>
        <p:txBody>
          <a:bodyPr wrap="square" lIns="0" tIns="0" rIns="0" bIns="0" rtlCol="0" anchor="t"/>
          <a:lstStyle/>
          <a:p>
            <a:pPr algn="ctr" indent="0" marL="0">
              <a:buNone/>
            </a:pPr>
            <a:r>
              <a:rPr lang="en-US" sz="1100" dirty="0">
                <a:solidFill>
                  <a:schemeClr val="bg2"/>
                </a:solidFill>
              </a:rPr>
              <a:t>cloudy input (Portugal, 81 %)</a:t>
            </a:r>
            <a:endParaRPr lang="en-US" sz="1100" dirty="0"/>
          </a:p>
        </p:txBody>
      </p:sp>
      <p:sp>
        <p:nvSpPr>
          <p:cNvPr id="13" name="Text 8"/>
          <p:cNvSpPr txBox="1"/>
          <p:nvPr/>
        </p:nvSpPr>
        <p:spPr>
          <a:xfrm>
            <a:off x="3154680" y="5321808"/>
            <a:ext cx="2377440" cy="292608"/>
          </a:xfrm>
          <a:prstGeom prst="rect">
            <a:avLst/>
          </a:prstGeom>
          <a:noFill/>
          <a:ln/>
        </p:spPr>
        <p:txBody>
          <a:bodyPr wrap="square" lIns="0" tIns="0" rIns="0" bIns="0" rtlCol="0" anchor="t"/>
          <a:lstStyle/>
          <a:p>
            <a:pPr algn="ctr" indent="0" marL="0">
              <a:buNone/>
            </a:pPr>
            <a:r>
              <a:rPr lang="en-US" sz="1100" dirty="0">
                <a:solidFill>
                  <a:schemeClr val="bg2"/>
                </a:solidFill>
              </a:rPr>
              <a:t>gate m (bright = keep input)</a:t>
            </a:r>
            <a:endParaRPr lang="en-US" sz="1100" dirty="0"/>
          </a:p>
        </p:txBody>
      </p:sp>
      <p:sp>
        <p:nvSpPr>
          <p:cNvPr id="14" name="Text 9"/>
          <p:cNvSpPr txBox="1"/>
          <p:nvPr/>
        </p:nvSpPr>
        <p:spPr>
          <a:xfrm>
            <a:off x="5760720" y="5321808"/>
            <a:ext cx="2377440" cy="292608"/>
          </a:xfrm>
          <a:prstGeom prst="rect">
            <a:avLst/>
          </a:prstGeom>
          <a:noFill/>
          <a:ln/>
        </p:spPr>
        <p:txBody>
          <a:bodyPr wrap="square" lIns="0" tIns="0" rIns="0" bIns="0" rtlCol="0" anchor="t"/>
          <a:lstStyle/>
          <a:p>
            <a:pPr algn="ctr" indent="0" marL="0">
              <a:buNone/>
            </a:pPr>
            <a:r>
              <a:rPr lang="en-US" sz="1100" dirty="0">
                <a:solidFill>
                  <a:schemeClr val="bg2"/>
                </a:solidFill>
              </a:rPr>
              <a:t>result</a:t>
            </a:r>
            <a:endParaRPr lang="en-US" sz="1100" dirty="0"/>
          </a:p>
        </p:txBody>
      </p:sp>
      <p:sp>
        <p:nvSpPr>
          <p:cNvPr id="15" name="g1_panel"/>
          <p:cNvSpPr/>
          <p:nvPr/>
        </p:nvSpPr>
        <p:spPr>
          <a:xfrm>
            <a:off x="8458200" y="2880360"/>
            <a:ext cx="318211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6" name="Text 11"/>
          <p:cNvSpPr txBox="1"/>
          <p:nvPr/>
        </p:nvSpPr>
        <p:spPr>
          <a:xfrm>
            <a:off x="8686800" y="3044952"/>
            <a:ext cx="2724912" cy="640080"/>
          </a:xfrm>
          <a:prstGeom prst="rect">
            <a:avLst/>
          </a:prstGeom>
          <a:noFill/>
          <a:ln/>
        </p:spPr>
        <p:txBody>
          <a:bodyPr wrap="square" lIns="0" tIns="0" rIns="0" bIns="0" rtlCol="0" anchor="t"/>
          <a:lstStyle/>
          <a:p>
            <a:pPr indent="0" marL="0">
              <a:buNone/>
            </a:pPr>
            <a:r>
              <a:rPr lang="en-US" sz="3400" b="1" dirty="0">
                <a:solidFill>
                  <a:schemeClr val="accent4"/>
                </a:solidFill>
                <a:latin typeface="Segoe UI Semibold" pitchFamily="34" charset="0"/>
                <a:ea typeface="Segoe UI Semibold" pitchFamily="34" charset="-122"/>
                <a:cs typeface="Segoe UI Semibold" pitchFamily="34" charset="-120"/>
              </a:rPr>
              <a:t>51 % → 15 %</a:t>
            </a:r>
            <a:endParaRPr lang="en-US" sz="3400" dirty="0"/>
          </a:p>
        </p:txBody>
      </p:sp>
      <p:sp>
        <p:nvSpPr>
          <p:cNvPr id="17" name="Text 12"/>
          <p:cNvSpPr txBox="1"/>
          <p:nvPr/>
        </p:nvSpPr>
        <p:spPr>
          <a:xfrm>
            <a:off x="8686800" y="3703320"/>
            <a:ext cx="2724912" cy="411480"/>
          </a:xfrm>
          <a:prstGeom prst="rect">
            <a:avLst/>
          </a:prstGeom>
          <a:noFill/>
          <a:ln/>
        </p:spPr>
        <p:txBody>
          <a:bodyPr wrap="square" lIns="0" tIns="0" rIns="0" bIns="0" rtlCol="0" anchor="t"/>
          <a:lstStyle/>
          <a:p>
            <a:pPr indent="0" marL="0">
              <a:buNone/>
            </a:pPr>
            <a:r>
              <a:rPr lang="en-US" sz="1200" dirty="0">
                <a:solidFill>
                  <a:schemeClr val="bg2"/>
                </a:solidFill>
              </a:rPr>
              <a:t>share of pixels kept, from &lt; 10 % cloud to 90-100 % cloud</a:t>
            </a:r>
            <a:endParaRPr lang="en-US" sz="1200" dirty="0"/>
          </a:p>
        </p:txBody>
      </p:sp>
      <p:sp>
        <p:nvSpPr>
          <p:cNvPr id="18" name="g2_panel"/>
          <p:cNvSpPr/>
          <p:nvPr/>
        </p:nvSpPr>
        <p:spPr>
          <a:xfrm>
            <a:off x="8458200" y="4343400"/>
            <a:ext cx="318211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9" name="Text 14"/>
          <p:cNvSpPr txBox="1"/>
          <p:nvPr/>
        </p:nvSpPr>
        <p:spPr>
          <a:xfrm>
            <a:off x="8686800" y="4507992"/>
            <a:ext cx="2724912"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ρ = −0.84</a:t>
            </a:r>
            <a:endParaRPr lang="en-US" sz="3400" dirty="0"/>
          </a:p>
        </p:txBody>
      </p:sp>
      <p:sp>
        <p:nvSpPr>
          <p:cNvPr id="20" name="Text 15"/>
          <p:cNvSpPr txBox="1"/>
          <p:nvPr/>
        </p:nvSpPr>
        <p:spPr>
          <a:xfrm>
            <a:off x="8686800" y="5166360"/>
            <a:ext cx="2724912" cy="411480"/>
          </a:xfrm>
          <a:prstGeom prst="rect">
            <a:avLst/>
          </a:prstGeom>
          <a:noFill/>
          <a:ln/>
        </p:spPr>
        <p:txBody>
          <a:bodyPr wrap="square" lIns="0" tIns="0" rIns="0" bIns="0" rtlCol="0" anchor="t"/>
          <a:lstStyle/>
          <a:p>
            <a:pPr indent="0" marL="0">
              <a:buNone/>
            </a:pPr>
            <a:r>
              <a:rPr lang="en-US" sz="1200" dirty="0">
                <a:solidFill>
                  <a:schemeClr val="bg2"/>
                </a:solidFill>
              </a:rPr>
              <a:t>gate vs cloud cover - learned without any cloud labels</a:t>
            </a:r>
            <a:endParaRPr lang="en-US" sz="12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TRAINING</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Two parts: first accurate, then realistic</a:t>
            </a:r>
            <a:endParaRPr lang="en-US" sz="3200" dirty="0"/>
          </a:p>
        </p:txBody>
      </p:sp>
      <p:sp>
        <p:nvSpPr>
          <p:cNvPr id="4" name="tl_0"/>
          <p:cNvSpPr/>
          <p:nvPr/>
        </p:nvSpPr>
        <p:spPr>
          <a:xfrm>
            <a:off x="548640" y="1691640"/>
            <a:ext cx="6010488" cy="566928"/>
          </a:xfrm>
          <a:prstGeom prst="roundRect">
            <a:avLst>
              <a:gd name="adj" fmla="val 16129"/>
            </a:avLst>
          </a:prstGeom>
          <a:solidFill>
            <a:schemeClr val="accent2"/>
          </a:solidFill>
          <a:ln w="12700">
            <a:solidFill>
              <a:schemeClr val="accent2"/>
            </a:solidFill>
            <a:prstDash val="solid"/>
          </a:ln>
        </p:spPr>
      </p:sp>
      <p:sp>
        <p:nvSpPr>
          <p:cNvPr id="5" name="Text 3"/>
          <p:cNvSpPr txBox="1"/>
          <p:nvPr/>
        </p:nvSpPr>
        <p:spPr>
          <a:xfrm>
            <a:off x="731520" y="1783080"/>
            <a:ext cx="5644728" cy="384048"/>
          </a:xfrm>
          <a:prstGeom prst="rect">
            <a:avLst/>
          </a:prstGeom>
          <a:noFill/>
          <a:ln/>
        </p:spPr>
        <p:txBody>
          <a:bodyPr wrap="square" lIns="0" tIns="0" rIns="0" bIns="0" rtlCol="0" anchor="ctr"/>
          <a:lstStyle/>
          <a:p>
            <a:pPr indent="0" marL="0">
              <a:buNone/>
            </a:pPr>
            <a:r>
              <a:rPr lang="en-US" sz="1600" b="1" dirty="0">
                <a:solidFill>
                  <a:schemeClr val="tx1"/>
                </a:solidFill>
              </a:rPr>
              <a:t>Part A · reconstruction</a:t>
            </a:r>
            <a:endParaRPr lang="en-US" sz="1600" dirty="0"/>
          </a:p>
        </p:txBody>
      </p:sp>
      <p:sp>
        <p:nvSpPr>
          <p:cNvPr id="6" name="tl_panel0"/>
          <p:cNvSpPr/>
          <p:nvPr/>
        </p:nvSpPr>
        <p:spPr>
          <a:xfrm>
            <a:off x="548640" y="2423160"/>
            <a:ext cx="6010488" cy="1600200"/>
          </a:xfrm>
          <a:prstGeom prst="roundRect">
            <a:avLst>
              <a:gd name="adj" fmla="val 6857"/>
            </a:avLst>
          </a:prstGeom>
          <a:solidFill>
            <a:schemeClr val="tx2">
              <a:alpha val="92000"/>
            </a:schemeClr>
          </a:solidFill>
          <a:ln w="9525">
            <a:solidFill>
              <a:schemeClr val="accent1">
                <a:alpha val="45000"/>
              </a:schemeClr>
            </a:solidFill>
            <a:prstDash val="solid"/>
          </a:ln>
        </p:spPr>
      </p:sp>
      <p:sp>
        <p:nvSpPr>
          <p:cNvPr id="7" name="Text 5"/>
          <p:cNvSpPr txBox="1"/>
          <p:nvPr/>
        </p:nvSpPr>
        <p:spPr>
          <a:xfrm>
            <a:off x="777240" y="2606040"/>
            <a:ext cx="5553288" cy="128016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5.96 h · steps 0 - 47,940</a:t>
            </a:r>
            <a:endParaRPr lang="en-US" sz="1400" dirty="0"/>
          </a:p>
          <a:p>
            <a:pPr indent="0" marL="0">
              <a:spcAft>
                <a:spcPts val="600"/>
              </a:spcAft>
              <a:buNone/>
            </a:pPr>
            <a:r>
              <a:rPr lang="en-US" sz="1400" dirty="0">
                <a:solidFill>
                  <a:schemeClr val="bg2"/>
                </a:solidFill>
              </a:rPr>
              <a:t>loss = L1 + 0.05 · (1 − SSIM)</a:t>
            </a:r>
            <a:endParaRPr lang="en-US" sz="1400" dirty="0"/>
          </a:p>
          <a:p>
            <a:pPr indent="0" marL="0">
              <a:spcAft>
                <a:spcPts val="600"/>
              </a:spcAft>
              <a:buNone/>
            </a:pPr>
            <a:r>
              <a:rPr lang="en-US" sz="1400" dirty="0">
                <a:solidFill>
                  <a:schemeClr val="bg2"/>
                </a:solidFill>
              </a:rPr>
              <a:t>saves the model 'before GAN'</a:t>
            </a:r>
            <a:endParaRPr lang="en-US" sz="1400" dirty="0"/>
          </a:p>
        </p:txBody>
      </p:sp>
      <p:sp>
        <p:nvSpPr>
          <p:cNvPr id="8" name="tl_0.55"/>
          <p:cNvSpPr/>
          <p:nvPr/>
        </p:nvSpPr>
        <p:spPr>
          <a:xfrm>
            <a:off x="6650568" y="1691640"/>
            <a:ext cx="4901047" cy="566928"/>
          </a:xfrm>
          <a:prstGeom prst="roundRect">
            <a:avLst>
              <a:gd name="adj" fmla="val 16129"/>
            </a:avLst>
          </a:prstGeom>
          <a:solidFill>
            <a:schemeClr val="accent3"/>
          </a:solidFill>
          <a:ln w="12700">
            <a:solidFill>
              <a:schemeClr val="accent3"/>
            </a:solidFill>
            <a:prstDash val="solid"/>
          </a:ln>
        </p:spPr>
      </p:sp>
      <p:sp>
        <p:nvSpPr>
          <p:cNvPr id="9" name="Text 7"/>
          <p:cNvSpPr txBox="1"/>
          <p:nvPr/>
        </p:nvSpPr>
        <p:spPr>
          <a:xfrm>
            <a:off x="6833448" y="1783080"/>
            <a:ext cx="4535287" cy="384048"/>
          </a:xfrm>
          <a:prstGeom prst="rect">
            <a:avLst/>
          </a:prstGeom>
          <a:noFill/>
          <a:ln/>
        </p:spPr>
        <p:txBody>
          <a:bodyPr wrap="square" lIns="0" tIns="0" rIns="0" bIns="0" rtlCol="0" anchor="ctr"/>
          <a:lstStyle/>
          <a:p>
            <a:pPr indent="0" marL="0">
              <a:buNone/>
            </a:pPr>
            <a:r>
              <a:rPr lang="en-US" sz="1600" b="1" dirty="0">
                <a:solidFill>
                  <a:schemeClr val="tx1"/>
                </a:solidFill>
              </a:rPr>
              <a:t>Part B · PatchGAN refinement</a:t>
            </a:r>
            <a:endParaRPr lang="en-US" sz="1600" dirty="0"/>
          </a:p>
        </p:txBody>
      </p:sp>
      <p:sp>
        <p:nvSpPr>
          <p:cNvPr id="10" name="tl_panel0.55"/>
          <p:cNvSpPr/>
          <p:nvPr/>
        </p:nvSpPr>
        <p:spPr>
          <a:xfrm>
            <a:off x="6650568" y="2423160"/>
            <a:ext cx="4901047" cy="1600200"/>
          </a:xfrm>
          <a:prstGeom prst="roundRect">
            <a:avLst>
              <a:gd name="adj" fmla="val 6857"/>
            </a:avLst>
          </a:prstGeom>
          <a:solidFill>
            <a:schemeClr val="tx2">
              <a:alpha val="92000"/>
            </a:schemeClr>
          </a:solidFill>
          <a:ln w="9525">
            <a:solidFill>
              <a:schemeClr val="accent1">
                <a:alpha val="45000"/>
              </a:schemeClr>
            </a:solidFill>
            <a:prstDash val="solid"/>
          </a:ln>
        </p:spPr>
      </p:sp>
      <p:sp>
        <p:nvSpPr>
          <p:cNvPr id="11" name="Text 9"/>
          <p:cNvSpPr txBox="1"/>
          <p:nvPr/>
        </p:nvSpPr>
        <p:spPr>
          <a:xfrm>
            <a:off x="6879168" y="2606040"/>
            <a:ext cx="4443847" cy="128016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4.88 h · steps 47,940 - 86,380</a:t>
            </a:r>
            <a:endParaRPr lang="en-US" sz="1400" dirty="0"/>
          </a:p>
          <a:p>
            <a:pPr indent="0" marL="0">
              <a:spcAft>
                <a:spcPts val="600"/>
              </a:spcAft>
              <a:buNone/>
            </a:pPr>
            <a:r>
              <a:rPr lang="en-US" sz="1400" dirty="0">
                <a:solidFill>
                  <a:schemeClr val="bg2"/>
                </a:solidFill>
              </a:rPr>
              <a:t>+ adversarial loss, adaptive weight</a:t>
            </a:r>
            <a:endParaRPr lang="en-US" sz="1400" dirty="0"/>
          </a:p>
          <a:p>
            <a:pPr indent="0" marL="0">
              <a:spcAft>
                <a:spcPts val="600"/>
              </a:spcAft>
              <a:buNone/>
            </a:pPr>
            <a:r>
              <a:rPr lang="en-US" sz="1400" dirty="0">
                <a:solidFill>
                  <a:schemeClr val="bg2"/>
                </a:solidFill>
              </a:rPr>
              <a:t>saves the final model</a:t>
            </a:r>
            <a:endParaRPr lang="en-US" sz="1400" dirty="0"/>
          </a:p>
        </p:txBody>
      </p:sp>
      <p:sp>
        <p:nvSpPr>
          <p:cNvPr id="12" name="tip0_dot"/>
          <p:cNvSpPr/>
          <p:nvPr/>
        </p:nvSpPr>
        <p:spPr>
          <a:xfrm>
            <a:off x="548640" y="4526280"/>
            <a:ext cx="548640" cy="548640"/>
          </a:xfrm>
          <a:prstGeom prst="ellipse">
            <a:avLst/>
          </a:prstGeom>
          <a:solidFill>
            <a:schemeClr val="accent1"/>
          </a:solidFill>
          <a:ln w="12700">
            <a:solidFill>
              <a:schemeClr val="accent1"/>
            </a:solidFill>
            <a:prstDash val="solid"/>
          </a:ln>
        </p:spPr>
      </p:sp>
      <p:pic>
        <p:nvPicPr>
          <p:cNvPr id="13" name="tip0_icon" descr="preencoded.png">    </p:cNvPr>
          <p:cNvPicPr>
            <a:picLocks noChangeAspect="1"/>
          </p:cNvPicPr>
          <p:nvPr/>
        </p:nvPicPr>
        <p:blipFill>
          <a:blip r:embed="rId1"/>
          <a:stretch>
            <a:fillRect/>
          </a:stretch>
        </p:blipFill>
        <p:spPr>
          <a:xfrm>
            <a:off x="680314" y="4657954"/>
            <a:ext cx="285293" cy="285293"/>
          </a:xfrm>
          <a:prstGeom prst="rect">
            <a:avLst/>
          </a:prstGeom>
        </p:spPr>
      </p:pic>
      <p:sp>
        <p:nvSpPr>
          <p:cNvPr id="14" name="Text 11"/>
          <p:cNvSpPr txBox="1"/>
          <p:nvPr/>
        </p:nvSpPr>
        <p:spPr>
          <a:xfrm>
            <a:off x="1280160" y="4553712"/>
            <a:ext cx="2880360" cy="365760"/>
          </a:xfrm>
          <a:prstGeom prst="rect">
            <a:avLst/>
          </a:prstGeom>
          <a:noFill/>
          <a:ln/>
        </p:spPr>
        <p:txBody>
          <a:bodyPr wrap="square" lIns="0" tIns="0" rIns="0" bIns="0" rtlCol="0" anchor="t"/>
          <a:lstStyle/>
          <a:p>
            <a:pPr indent="0" marL="0">
              <a:buNone/>
            </a:pPr>
            <a:r>
              <a:rPr lang="en-US" sz="1500" b="1" dirty="0">
                <a:solidFill>
                  <a:schemeClr val="bg1"/>
                </a:solidFill>
              </a:rPr>
              <a:t>SSIM weight measured</a:t>
            </a:r>
            <a:endParaRPr lang="en-US" sz="1500" dirty="0"/>
          </a:p>
        </p:txBody>
      </p:sp>
      <p:sp>
        <p:nvSpPr>
          <p:cNvPr id="15" name="Text 12"/>
          <p:cNvSpPr txBox="1"/>
          <p:nvPr/>
        </p:nvSpPr>
        <p:spPr>
          <a:xfrm>
            <a:off x="1280160" y="4956048"/>
            <a:ext cx="2880360" cy="1097280"/>
          </a:xfrm>
          <a:prstGeom prst="rect">
            <a:avLst/>
          </a:prstGeom>
          <a:noFill/>
          <a:ln/>
        </p:spPr>
        <p:txBody>
          <a:bodyPr wrap="square" lIns="0" tIns="0" rIns="0" bIns="0" rtlCol="0" anchor="t"/>
          <a:lstStyle/>
          <a:p>
            <a:pPr indent="0" marL="0">
              <a:buNone/>
            </a:pPr>
            <a:r>
              <a:rPr lang="en-US" sz="1300" dirty="0">
                <a:solidFill>
                  <a:schemeClr val="bg2"/>
                </a:solidFill>
              </a:rPr>
              <a:t>Its gradient is 14 × L1's - 0.2 would have dominated; 0.05 balances them.</a:t>
            </a:r>
            <a:endParaRPr lang="en-US" sz="1300" dirty="0"/>
          </a:p>
        </p:txBody>
      </p:sp>
      <p:sp>
        <p:nvSpPr>
          <p:cNvPr id="16" name="tip1_dot"/>
          <p:cNvSpPr/>
          <p:nvPr/>
        </p:nvSpPr>
        <p:spPr>
          <a:xfrm>
            <a:off x="4297680" y="4526280"/>
            <a:ext cx="548640" cy="548640"/>
          </a:xfrm>
          <a:prstGeom prst="ellipse">
            <a:avLst/>
          </a:prstGeom>
          <a:solidFill>
            <a:schemeClr val="accent1"/>
          </a:solidFill>
          <a:ln w="12700">
            <a:solidFill>
              <a:schemeClr val="accent1"/>
            </a:solidFill>
            <a:prstDash val="solid"/>
          </a:ln>
        </p:spPr>
      </p:sp>
      <p:pic>
        <p:nvPicPr>
          <p:cNvPr id="17" name="tip1_icon" descr="preencoded.png">    </p:cNvPr>
          <p:cNvPicPr>
            <a:picLocks noChangeAspect="1"/>
          </p:cNvPicPr>
          <p:nvPr/>
        </p:nvPicPr>
        <p:blipFill>
          <a:blip r:embed="rId2"/>
          <a:stretch>
            <a:fillRect/>
          </a:stretch>
        </p:blipFill>
        <p:spPr>
          <a:xfrm>
            <a:off x="4429354" y="4657954"/>
            <a:ext cx="285293" cy="285293"/>
          </a:xfrm>
          <a:prstGeom prst="rect">
            <a:avLst/>
          </a:prstGeom>
        </p:spPr>
      </p:pic>
      <p:sp>
        <p:nvSpPr>
          <p:cNvPr id="18" name="Text 14"/>
          <p:cNvSpPr txBox="1"/>
          <p:nvPr/>
        </p:nvSpPr>
        <p:spPr>
          <a:xfrm>
            <a:off x="5029200" y="4553712"/>
            <a:ext cx="2880360" cy="365760"/>
          </a:xfrm>
          <a:prstGeom prst="rect">
            <a:avLst/>
          </a:prstGeom>
          <a:noFill/>
          <a:ln/>
        </p:spPr>
        <p:txBody>
          <a:bodyPr wrap="square" lIns="0" tIns="0" rIns="0" bIns="0" rtlCol="0" anchor="t"/>
          <a:lstStyle/>
          <a:p>
            <a:pPr indent="0" marL="0">
              <a:buNone/>
            </a:pPr>
            <a:r>
              <a:rPr lang="en-US" sz="1500" b="1" dirty="0">
                <a:solidFill>
                  <a:schemeClr val="bg1"/>
                </a:solidFill>
              </a:rPr>
              <a:t>Adaptive GAN weight λ</a:t>
            </a:r>
            <a:endParaRPr lang="en-US" sz="1500" dirty="0"/>
          </a:p>
        </p:txBody>
      </p:sp>
      <p:sp>
        <p:nvSpPr>
          <p:cNvPr id="19" name="Text 15"/>
          <p:cNvSpPr txBox="1"/>
          <p:nvPr/>
        </p:nvSpPr>
        <p:spPr>
          <a:xfrm>
            <a:off x="5029200" y="4956048"/>
            <a:ext cx="2880360" cy="1097280"/>
          </a:xfrm>
          <a:prstGeom prst="rect">
            <a:avLst/>
          </a:prstGeom>
          <a:noFill/>
          <a:ln/>
        </p:spPr>
        <p:txBody>
          <a:bodyPr wrap="square" lIns="0" tIns="0" rIns="0" bIns="0" rtlCol="0" anchor="t"/>
          <a:lstStyle/>
          <a:p>
            <a:pPr indent="0" marL="0">
              <a:buNone/>
            </a:pPr>
            <a:r>
              <a:rPr lang="en-US" sz="1300" dirty="0">
                <a:solidFill>
                  <a:schemeClr val="bg2"/>
                </a:solidFill>
              </a:rPr>
              <a:t>Set so the GAN's gradient is 20 % of the pixel loss's, whatever the loss scales (VQGAN).</a:t>
            </a:r>
            <a:endParaRPr lang="en-US" sz="1300" dirty="0"/>
          </a:p>
        </p:txBody>
      </p:sp>
      <p:sp>
        <p:nvSpPr>
          <p:cNvPr id="20" name="tip2_dot"/>
          <p:cNvSpPr/>
          <p:nvPr/>
        </p:nvSpPr>
        <p:spPr>
          <a:xfrm>
            <a:off x="8046720" y="4526280"/>
            <a:ext cx="548640" cy="548640"/>
          </a:xfrm>
          <a:prstGeom prst="ellipse">
            <a:avLst/>
          </a:prstGeom>
          <a:solidFill>
            <a:schemeClr val="accent1"/>
          </a:solidFill>
          <a:ln w="12700">
            <a:solidFill>
              <a:schemeClr val="accent1"/>
            </a:solidFill>
            <a:prstDash val="solid"/>
          </a:ln>
        </p:spPr>
      </p:sp>
      <p:pic>
        <p:nvPicPr>
          <p:cNvPr id="21" name="tip2_icon" descr="preencoded.png">    </p:cNvPr>
          <p:cNvPicPr>
            <a:picLocks noChangeAspect="1"/>
          </p:cNvPicPr>
          <p:nvPr/>
        </p:nvPicPr>
        <p:blipFill>
          <a:blip r:embed="rId3"/>
          <a:stretch>
            <a:fillRect/>
          </a:stretch>
        </p:blipFill>
        <p:spPr>
          <a:xfrm>
            <a:off x="8178394" y="4657954"/>
            <a:ext cx="285293" cy="285293"/>
          </a:xfrm>
          <a:prstGeom prst="rect">
            <a:avLst/>
          </a:prstGeom>
        </p:spPr>
      </p:pic>
      <p:sp>
        <p:nvSpPr>
          <p:cNvPr id="22" name="Text 17"/>
          <p:cNvSpPr txBox="1"/>
          <p:nvPr/>
        </p:nvSpPr>
        <p:spPr>
          <a:xfrm>
            <a:off x="8778240" y="4553712"/>
            <a:ext cx="2880360" cy="365760"/>
          </a:xfrm>
          <a:prstGeom prst="rect">
            <a:avLst/>
          </a:prstGeom>
          <a:noFill/>
          <a:ln/>
        </p:spPr>
        <p:txBody>
          <a:bodyPr wrap="square" lIns="0" tIns="0" rIns="0" bIns="0" rtlCol="0" anchor="t"/>
          <a:lstStyle/>
          <a:p>
            <a:pPr indent="0" marL="0">
              <a:buNone/>
            </a:pPr>
            <a:r>
              <a:rPr lang="en-US" sz="1500" b="1" dirty="0">
                <a:solidFill>
                  <a:schemeClr val="bg1"/>
                </a:solidFill>
              </a:rPr>
              <a:t>Selection that matches the goal</a:t>
            </a:r>
            <a:endParaRPr lang="en-US" sz="1500" dirty="0"/>
          </a:p>
        </p:txBody>
      </p:sp>
      <p:sp>
        <p:nvSpPr>
          <p:cNvPr id="23" name="Text 18"/>
          <p:cNvSpPr txBox="1"/>
          <p:nvPr/>
        </p:nvSpPr>
        <p:spPr>
          <a:xfrm>
            <a:off x="8778240" y="4956048"/>
            <a:ext cx="2880360" cy="1097280"/>
          </a:xfrm>
          <a:prstGeom prst="rect">
            <a:avLst/>
          </a:prstGeom>
          <a:noFill/>
          <a:ln/>
        </p:spPr>
        <p:txBody>
          <a:bodyPr wrap="square" lIns="0" tIns="0" rIns="0" bIns="0" rtlCol="0" anchor="t"/>
          <a:lstStyle/>
          <a:p>
            <a:pPr indent="0" marL="0">
              <a:buNone/>
            </a:pPr>
            <a:r>
              <a:rPr lang="en-US" sz="1300" dirty="0">
                <a:solidFill>
                  <a:schemeClr val="bg2"/>
                </a:solidFill>
              </a:rPr>
              <a:t>Final checkpoint = lowest L1 × (1 + |1 − sharpness|), only once the GAN is fully on.</a:t>
            </a:r>
            <a:endParaRPr lang="en-US" sz="13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THE GAN PART</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A PatchGAN critic judges texture, 70 × 70 pixels at a time</a:t>
            </a:r>
            <a:endParaRPr lang="en-US" sz="3200" dirty="0"/>
          </a:p>
        </p:txBody>
      </p:sp>
      <p:sp>
        <p:nvSpPr>
          <p:cNvPr id="4" name="gan0_dot"/>
          <p:cNvSpPr/>
          <p:nvPr/>
        </p:nvSpPr>
        <p:spPr>
          <a:xfrm>
            <a:off x="548640" y="1645920"/>
            <a:ext cx="594360" cy="594360"/>
          </a:xfrm>
          <a:prstGeom prst="ellipse">
            <a:avLst/>
          </a:prstGeom>
          <a:solidFill>
            <a:schemeClr val="accent3"/>
          </a:solidFill>
          <a:ln w="12700">
            <a:solidFill>
              <a:schemeClr val="accent3"/>
            </a:solidFill>
            <a:prstDash val="solid"/>
          </a:ln>
        </p:spPr>
      </p:sp>
      <p:pic>
        <p:nvPicPr>
          <p:cNvPr id="5" name="gan0_icon" descr="preencoded.png">    </p:cNvPr>
          <p:cNvPicPr>
            <a:picLocks noChangeAspect="1"/>
          </p:cNvPicPr>
          <p:nvPr/>
        </p:nvPicPr>
        <p:blipFill>
          <a:blip r:embed="rId1"/>
          <a:stretch>
            <a:fillRect/>
          </a:stretch>
        </p:blipFill>
        <p:spPr>
          <a:xfrm>
            <a:off x="691286" y="1788566"/>
            <a:ext cx="309067" cy="309067"/>
          </a:xfrm>
          <a:prstGeom prst="rect">
            <a:avLst/>
          </a:prstGeom>
        </p:spPr>
      </p:pic>
      <p:sp>
        <p:nvSpPr>
          <p:cNvPr id="6" name="Text 3"/>
          <p:cNvSpPr txBox="1"/>
          <p:nvPr/>
        </p:nvSpPr>
        <p:spPr>
          <a:xfrm>
            <a:off x="1371600" y="1627632"/>
            <a:ext cx="4572000" cy="365760"/>
          </a:xfrm>
          <a:prstGeom prst="rect">
            <a:avLst/>
          </a:prstGeom>
          <a:noFill/>
          <a:ln/>
        </p:spPr>
        <p:txBody>
          <a:bodyPr wrap="square" lIns="0" tIns="0" rIns="0" bIns="0" rtlCol="0" anchor="t"/>
          <a:lstStyle/>
          <a:p>
            <a:pPr indent="0" marL="0">
              <a:buNone/>
            </a:pPr>
            <a:r>
              <a:rPr lang="en-US" sz="1600" b="1" dirty="0">
                <a:solidFill>
                  <a:schemeClr val="bg1"/>
                </a:solidFill>
              </a:rPr>
              <a:t>Conditional PatchGAN</a:t>
            </a:r>
            <a:endParaRPr lang="en-US" sz="1600" dirty="0"/>
          </a:p>
        </p:txBody>
      </p:sp>
      <p:sp>
        <p:nvSpPr>
          <p:cNvPr id="7" name="Text 4"/>
          <p:cNvSpPr txBox="1"/>
          <p:nvPr/>
        </p:nvSpPr>
        <p:spPr>
          <a:xfrm>
            <a:off x="1371600" y="2011680"/>
            <a:ext cx="4572000" cy="1005840"/>
          </a:xfrm>
          <a:prstGeom prst="rect">
            <a:avLst/>
          </a:prstGeom>
          <a:noFill/>
          <a:ln/>
        </p:spPr>
        <p:txBody>
          <a:bodyPr wrap="square" lIns="0" tIns="0" rIns="0" bIns="0" rtlCol="0" anchor="t"/>
          <a:lstStyle/>
          <a:p>
            <a:pPr indent="0" marL="0">
              <a:buNone/>
            </a:pPr>
            <a:r>
              <a:rPr lang="en-US" sz="1300" dirty="0">
                <a:solidFill>
                  <a:schemeClr val="bg2"/>
                </a:solidFill>
              </a:rPr>
              <a:t>Sees radar + cloudy input next to a candidate clear image; scores 30 × 30 overlapping windows: is this window a plausible clear image for this input?</a:t>
            </a:r>
            <a:endParaRPr lang="en-US" sz="1300" dirty="0"/>
          </a:p>
        </p:txBody>
      </p:sp>
      <p:sp>
        <p:nvSpPr>
          <p:cNvPr id="8" name="gan1_dot"/>
          <p:cNvSpPr/>
          <p:nvPr/>
        </p:nvSpPr>
        <p:spPr>
          <a:xfrm>
            <a:off x="548640" y="3108960"/>
            <a:ext cx="594360" cy="594360"/>
          </a:xfrm>
          <a:prstGeom prst="ellipse">
            <a:avLst/>
          </a:prstGeom>
          <a:solidFill>
            <a:schemeClr val="accent3"/>
          </a:solidFill>
          <a:ln w="12700">
            <a:solidFill>
              <a:schemeClr val="accent3"/>
            </a:solidFill>
            <a:prstDash val="solid"/>
          </a:ln>
        </p:spPr>
      </p:sp>
      <p:pic>
        <p:nvPicPr>
          <p:cNvPr id="9" name="gan1_icon" descr="preencoded.png">    </p:cNvPr>
          <p:cNvPicPr>
            <a:picLocks noChangeAspect="1"/>
          </p:cNvPicPr>
          <p:nvPr/>
        </p:nvPicPr>
        <p:blipFill>
          <a:blip r:embed="rId2"/>
          <a:stretch>
            <a:fillRect/>
          </a:stretch>
        </p:blipFill>
        <p:spPr>
          <a:xfrm>
            <a:off x="691286" y="3251606"/>
            <a:ext cx="309067" cy="309067"/>
          </a:xfrm>
          <a:prstGeom prst="rect">
            <a:avLst/>
          </a:prstGeom>
        </p:spPr>
      </p:pic>
      <p:sp>
        <p:nvSpPr>
          <p:cNvPr id="10" name="Text 6"/>
          <p:cNvSpPr txBox="1"/>
          <p:nvPr/>
        </p:nvSpPr>
        <p:spPr>
          <a:xfrm>
            <a:off x="1371600" y="3090672"/>
            <a:ext cx="4572000" cy="365760"/>
          </a:xfrm>
          <a:prstGeom prst="rect">
            <a:avLst/>
          </a:prstGeom>
          <a:noFill/>
          <a:ln/>
        </p:spPr>
        <p:txBody>
          <a:bodyPr wrap="square" lIns="0" tIns="0" rIns="0" bIns="0" rtlCol="0" anchor="t"/>
          <a:lstStyle/>
          <a:p>
            <a:pPr indent="0" marL="0">
              <a:buNone/>
            </a:pPr>
            <a:r>
              <a:rPr lang="en-US" sz="1600" b="1" dirty="0">
                <a:solidFill>
                  <a:schemeClr val="bg1"/>
                </a:solidFill>
              </a:rPr>
              <a:t>Spectral normalisation</a:t>
            </a:r>
            <a:endParaRPr lang="en-US" sz="1600" dirty="0"/>
          </a:p>
        </p:txBody>
      </p:sp>
      <p:sp>
        <p:nvSpPr>
          <p:cNvPr id="11" name="Text 7"/>
          <p:cNvSpPr txBox="1"/>
          <p:nvPr/>
        </p:nvSpPr>
        <p:spPr>
          <a:xfrm>
            <a:off x="1371600" y="3474720"/>
            <a:ext cx="4572000" cy="1005840"/>
          </a:xfrm>
          <a:prstGeom prst="rect">
            <a:avLst/>
          </a:prstGeom>
          <a:noFill/>
          <a:ln/>
        </p:spPr>
        <p:txBody>
          <a:bodyPr wrap="square" lIns="0" tIns="0" rIns="0" bIns="0" rtlCol="0" anchor="t"/>
          <a:lstStyle/>
          <a:p>
            <a:pPr indent="0" marL="0">
              <a:buNone/>
            </a:pPr>
            <a:r>
              <a:rPr lang="en-US" sz="1300" dirty="0">
                <a:solidFill>
                  <a:schemeClr val="bg2"/>
                </a:solidFill>
              </a:rPr>
              <a:t>Every layer is limited to a gain of 1 - the discriminator changes smoothly and gives the generator usable gradients.</a:t>
            </a:r>
            <a:endParaRPr lang="en-US" sz="1300" dirty="0"/>
          </a:p>
        </p:txBody>
      </p:sp>
      <p:sp>
        <p:nvSpPr>
          <p:cNvPr id="12" name="gan2_dot"/>
          <p:cNvSpPr/>
          <p:nvPr/>
        </p:nvSpPr>
        <p:spPr>
          <a:xfrm>
            <a:off x="548640" y="4572000"/>
            <a:ext cx="594360" cy="594360"/>
          </a:xfrm>
          <a:prstGeom prst="ellipse">
            <a:avLst/>
          </a:prstGeom>
          <a:solidFill>
            <a:schemeClr val="accent3"/>
          </a:solidFill>
          <a:ln w="12700">
            <a:solidFill>
              <a:schemeClr val="accent3"/>
            </a:solidFill>
            <a:prstDash val="solid"/>
          </a:ln>
        </p:spPr>
      </p:sp>
      <p:pic>
        <p:nvPicPr>
          <p:cNvPr id="13" name="gan2_icon" descr="preencoded.png">    </p:cNvPr>
          <p:cNvPicPr>
            <a:picLocks noChangeAspect="1"/>
          </p:cNvPicPr>
          <p:nvPr/>
        </p:nvPicPr>
        <p:blipFill>
          <a:blip r:embed="rId3"/>
          <a:stretch>
            <a:fillRect/>
          </a:stretch>
        </p:blipFill>
        <p:spPr>
          <a:xfrm>
            <a:off x="691286" y="4714646"/>
            <a:ext cx="309067" cy="309067"/>
          </a:xfrm>
          <a:prstGeom prst="rect">
            <a:avLst/>
          </a:prstGeom>
        </p:spPr>
      </p:pic>
      <p:sp>
        <p:nvSpPr>
          <p:cNvPr id="14" name="Text 9"/>
          <p:cNvSpPr txBox="1"/>
          <p:nvPr/>
        </p:nvSpPr>
        <p:spPr>
          <a:xfrm>
            <a:off x="1371600" y="4553712"/>
            <a:ext cx="4572000" cy="365760"/>
          </a:xfrm>
          <a:prstGeom prst="rect">
            <a:avLst/>
          </a:prstGeom>
          <a:noFill/>
          <a:ln/>
        </p:spPr>
        <p:txBody>
          <a:bodyPr wrap="square" lIns="0" tIns="0" rIns="0" bIns="0" rtlCol="0" anchor="t"/>
          <a:lstStyle/>
          <a:p>
            <a:pPr indent="0" marL="0">
              <a:buNone/>
            </a:pPr>
            <a:r>
              <a:rPr lang="en-US" sz="1600" b="1" dirty="0">
                <a:solidFill>
                  <a:schemeClr val="bg1"/>
                </a:solidFill>
              </a:rPr>
              <a:t>Least-squares loss (LSGAN)</a:t>
            </a:r>
            <a:endParaRPr lang="en-US" sz="1600" dirty="0"/>
          </a:p>
        </p:txBody>
      </p:sp>
      <p:sp>
        <p:nvSpPr>
          <p:cNvPr id="15" name="Text 10"/>
          <p:cNvSpPr txBox="1"/>
          <p:nvPr/>
        </p:nvSpPr>
        <p:spPr>
          <a:xfrm>
            <a:off x="1371600" y="4937760"/>
            <a:ext cx="4572000" cy="1005840"/>
          </a:xfrm>
          <a:prstGeom prst="rect">
            <a:avLst/>
          </a:prstGeom>
          <a:noFill/>
          <a:ln/>
        </p:spPr>
        <p:txBody>
          <a:bodyPr wrap="square" lIns="0" tIns="0" rIns="0" bIns="0" rtlCol="0" anchor="t"/>
          <a:lstStyle/>
          <a:p>
            <a:pPr indent="0" marL="0">
              <a:buNone/>
            </a:pPr>
            <a:r>
              <a:rPr lang="en-US" sz="1300" dirty="0">
                <a:solidFill>
                  <a:schemeClr val="bg2"/>
                </a:solidFill>
              </a:rPr>
              <a:t>Real → 1, generated → 0; gradients do not vanish when the critic is confident.</a:t>
            </a:r>
            <a:endParaRPr lang="en-US" sz="1300" dirty="0"/>
          </a:p>
        </p:txBody>
      </p:sp>
      <p:sp>
        <p:nvSpPr>
          <p:cNvPr id="16" name="gan_chart_panel"/>
          <p:cNvSpPr/>
          <p:nvPr/>
        </p:nvSpPr>
        <p:spPr>
          <a:xfrm>
            <a:off x="6172200" y="1600200"/>
            <a:ext cx="5468112" cy="4434840"/>
          </a:xfrm>
          <a:prstGeom prst="roundRect">
            <a:avLst>
              <a:gd name="adj" fmla="val 2474"/>
            </a:avLst>
          </a:prstGeom>
          <a:solidFill>
            <a:schemeClr val="tx2">
              <a:alpha val="92000"/>
            </a:schemeClr>
          </a:solidFill>
          <a:ln w="9525">
            <a:solidFill>
              <a:schemeClr val="accent1">
                <a:alpha val="45000"/>
              </a:schemeClr>
            </a:solidFill>
            <a:prstDash val="solid"/>
          </a:ln>
        </p:spPr>
      </p:sp>
      <p:graphicFrame>
        <p:nvGraphicFramePr>
          <p:cNvPr id="17" name="gan_chart" descr=""/>
          <p:cNvGraphicFramePr/>
          <p:nvPr/>
        </p:nvGraphicFramePr>
        <p:xfrm>
          <a:off x="6309360" y="1737360"/>
          <a:ext cx="5212080" cy="416052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ENGINEERING</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11 hours on two Kaggle T4 GPUs - built not to fail</a:t>
            </a:r>
            <a:endParaRPr lang="en-US" sz="3200" dirty="0"/>
          </a:p>
        </p:txBody>
      </p:sp>
      <p:sp>
        <p:nvSpPr>
          <p:cNvPr id="4" name="eng0"/>
          <p:cNvSpPr/>
          <p:nvPr/>
        </p:nvSpPr>
        <p:spPr>
          <a:xfrm>
            <a:off x="548640" y="1645920"/>
            <a:ext cx="3520440" cy="2011680"/>
          </a:xfrm>
          <a:prstGeom prst="roundRect">
            <a:avLst>
              <a:gd name="adj" fmla="val 5455"/>
            </a:avLst>
          </a:prstGeom>
          <a:solidFill>
            <a:schemeClr val="tx2">
              <a:alpha val="92000"/>
            </a:schemeClr>
          </a:solidFill>
          <a:ln w="9525">
            <a:solidFill>
              <a:schemeClr val="accent1">
                <a:alpha val="45000"/>
              </a:schemeClr>
            </a:solidFill>
            <a:prstDash val="solid"/>
          </a:ln>
        </p:spPr>
      </p:sp>
      <p:sp>
        <p:nvSpPr>
          <p:cNvPr id="5" name="engi0_dot"/>
          <p:cNvSpPr/>
          <p:nvPr/>
        </p:nvSpPr>
        <p:spPr>
          <a:xfrm>
            <a:off x="777240" y="1874520"/>
            <a:ext cx="548640" cy="548640"/>
          </a:xfrm>
          <a:prstGeom prst="ellipse">
            <a:avLst/>
          </a:prstGeom>
          <a:solidFill>
            <a:schemeClr val="accent1"/>
          </a:solidFill>
          <a:ln w="12700">
            <a:solidFill>
              <a:schemeClr val="accent1"/>
            </a:solidFill>
            <a:prstDash val="solid"/>
          </a:ln>
        </p:spPr>
      </p:sp>
      <p:pic>
        <p:nvPicPr>
          <p:cNvPr id="6" name="engi0_icon" descr="preencoded.png">    </p:cNvPr>
          <p:cNvPicPr>
            <a:picLocks noChangeAspect="1"/>
          </p:cNvPicPr>
          <p:nvPr/>
        </p:nvPicPr>
        <p:blipFill>
          <a:blip r:embed="rId1"/>
          <a:stretch>
            <a:fillRect/>
          </a:stretch>
        </p:blipFill>
        <p:spPr>
          <a:xfrm>
            <a:off x="908914" y="2006194"/>
            <a:ext cx="285293" cy="285293"/>
          </a:xfrm>
          <a:prstGeom prst="rect">
            <a:avLst/>
          </a:prstGeom>
        </p:spPr>
      </p:pic>
      <p:sp>
        <p:nvSpPr>
          <p:cNvPr id="7" name="Text 4"/>
          <p:cNvSpPr txBox="1"/>
          <p:nvPr/>
        </p:nvSpPr>
        <p:spPr>
          <a:xfrm>
            <a:off x="1463040" y="192024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Two GPUs, one model</a:t>
            </a:r>
            <a:endParaRPr lang="en-US" sz="1500" dirty="0"/>
          </a:p>
        </p:txBody>
      </p:sp>
      <p:sp>
        <p:nvSpPr>
          <p:cNvPr id="8" name="Text 5"/>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250" dirty="0">
                <a:solidFill>
                  <a:schemeClr val="bg2"/>
                </a:solidFill>
              </a:rPr>
              <a:t>DistributedDataParallel, mixed precision (fp16), batch size probed to fit the 15 GB.</a:t>
            </a:r>
            <a:endParaRPr lang="en-US" sz="1250" dirty="0"/>
          </a:p>
        </p:txBody>
      </p:sp>
      <p:sp>
        <p:nvSpPr>
          <p:cNvPr id="9" name="eng1"/>
          <p:cNvSpPr/>
          <p:nvPr/>
        </p:nvSpPr>
        <p:spPr>
          <a:xfrm>
            <a:off x="4297680" y="1645920"/>
            <a:ext cx="3520440" cy="2011680"/>
          </a:xfrm>
          <a:prstGeom prst="roundRect">
            <a:avLst>
              <a:gd name="adj" fmla="val 5455"/>
            </a:avLst>
          </a:prstGeom>
          <a:solidFill>
            <a:schemeClr val="tx2">
              <a:alpha val="92000"/>
            </a:schemeClr>
          </a:solidFill>
          <a:ln w="9525">
            <a:solidFill>
              <a:schemeClr val="accent1">
                <a:alpha val="45000"/>
              </a:schemeClr>
            </a:solidFill>
            <a:prstDash val="solid"/>
          </a:ln>
        </p:spPr>
      </p:sp>
      <p:sp>
        <p:nvSpPr>
          <p:cNvPr id="10" name="engi1_dot"/>
          <p:cNvSpPr/>
          <p:nvPr/>
        </p:nvSpPr>
        <p:spPr>
          <a:xfrm>
            <a:off x="4526280" y="1874520"/>
            <a:ext cx="548640" cy="548640"/>
          </a:xfrm>
          <a:prstGeom prst="ellipse">
            <a:avLst/>
          </a:prstGeom>
          <a:solidFill>
            <a:schemeClr val="accent1"/>
          </a:solidFill>
          <a:ln w="12700">
            <a:solidFill>
              <a:schemeClr val="accent1"/>
            </a:solidFill>
            <a:prstDash val="solid"/>
          </a:ln>
        </p:spPr>
      </p:sp>
      <p:pic>
        <p:nvPicPr>
          <p:cNvPr id="11" name="engi1_icon" descr="preencoded.png">    </p:cNvPr>
          <p:cNvPicPr>
            <a:picLocks noChangeAspect="1"/>
          </p:cNvPicPr>
          <p:nvPr/>
        </p:nvPicPr>
        <p:blipFill>
          <a:blip r:embed="rId2"/>
          <a:stretch>
            <a:fillRect/>
          </a:stretch>
        </p:blipFill>
        <p:spPr>
          <a:xfrm>
            <a:off x="4657954" y="2006194"/>
            <a:ext cx="285293" cy="285293"/>
          </a:xfrm>
          <a:prstGeom prst="rect">
            <a:avLst/>
          </a:prstGeom>
        </p:spPr>
      </p:pic>
      <p:sp>
        <p:nvSpPr>
          <p:cNvPr id="12" name="Text 8"/>
          <p:cNvSpPr txBox="1"/>
          <p:nvPr/>
        </p:nvSpPr>
        <p:spPr>
          <a:xfrm>
            <a:off x="5212080" y="192024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No 450 GB cache</a:t>
            </a:r>
            <a:endParaRPr lang="en-US" sz="1500" dirty="0"/>
          </a:p>
        </p:txBody>
      </p:sp>
      <p:sp>
        <p:nvSpPr>
          <p:cNvPr id="13" name="Text 9"/>
          <p:cNvSpPr txBox="1"/>
          <p:nvPr/>
        </p:nvSpPr>
        <p:spPr>
          <a:xfrm>
            <a:off x="4526280" y="2560320"/>
            <a:ext cx="3108960" cy="1005840"/>
          </a:xfrm>
          <a:prstGeom prst="rect">
            <a:avLst/>
          </a:prstGeom>
          <a:noFill/>
          <a:ln/>
        </p:spPr>
        <p:txBody>
          <a:bodyPr wrap="square" lIns="0" tIns="0" rIns="0" bIns="0" rtlCol="0" anchor="t"/>
          <a:lstStyle/>
          <a:p>
            <a:pPr indent="0" marL="0">
              <a:buNone/>
            </a:pPr>
            <a:r>
              <a:rPr lang="en-US" sz="1250" dirty="0">
                <a:solidFill>
                  <a:schemeClr val="bg2"/>
                </a:solidFill>
              </a:rPr>
              <a:t>GeoTIFFs streamed with parallel reads; when the disk lags, recent patches are re-used with new flips (52 % fresh).</a:t>
            </a:r>
            <a:endParaRPr lang="en-US" sz="1250" dirty="0"/>
          </a:p>
        </p:txBody>
      </p:sp>
      <p:sp>
        <p:nvSpPr>
          <p:cNvPr id="14" name="eng2"/>
          <p:cNvSpPr/>
          <p:nvPr/>
        </p:nvSpPr>
        <p:spPr>
          <a:xfrm>
            <a:off x="8046720" y="1645920"/>
            <a:ext cx="3520440" cy="2011680"/>
          </a:xfrm>
          <a:prstGeom prst="roundRect">
            <a:avLst>
              <a:gd name="adj" fmla="val 5455"/>
            </a:avLst>
          </a:prstGeom>
          <a:solidFill>
            <a:schemeClr val="tx2">
              <a:alpha val="92000"/>
            </a:schemeClr>
          </a:solidFill>
          <a:ln w="9525">
            <a:solidFill>
              <a:schemeClr val="accent1">
                <a:alpha val="45000"/>
              </a:schemeClr>
            </a:solidFill>
            <a:prstDash val="solid"/>
          </a:ln>
        </p:spPr>
      </p:sp>
      <p:sp>
        <p:nvSpPr>
          <p:cNvPr id="15" name="engi2_dot"/>
          <p:cNvSpPr/>
          <p:nvPr/>
        </p:nvSpPr>
        <p:spPr>
          <a:xfrm>
            <a:off x="8275320" y="1874520"/>
            <a:ext cx="548640" cy="548640"/>
          </a:xfrm>
          <a:prstGeom prst="ellipse">
            <a:avLst/>
          </a:prstGeom>
          <a:solidFill>
            <a:schemeClr val="accent1"/>
          </a:solidFill>
          <a:ln w="12700">
            <a:solidFill>
              <a:schemeClr val="accent1"/>
            </a:solidFill>
            <a:prstDash val="solid"/>
          </a:ln>
        </p:spPr>
      </p:sp>
      <p:pic>
        <p:nvPicPr>
          <p:cNvPr id="16" name="engi2_icon" descr="preencoded.png">    </p:cNvPr>
          <p:cNvPicPr>
            <a:picLocks noChangeAspect="1"/>
          </p:cNvPicPr>
          <p:nvPr/>
        </p:nvPicPr>
        <p:blipFill>
          <a:blip r:embed="rId3"/>
          <a:stretch>
            <a:fillRect/>
          </a:stretch>
        </p:blipFill>
        <p:spPr>
          <a:xfrm>
            <a:off x="8406994" y="2006194"/>
            <a:ext cx="285293" cy="285293"/>
          </a:xfrm>
          <a:prstGeom prst="rect">
            <a:avLst/>
          </a:prstGeom>
        </p:spPr>
      </p:pic>
      <p:sp>
        <p:nvSpPr>
          <p:cNvPr id="17" name="Text 12"/>
          <p:cNvSpPr txBox="1"/>
          <p:nvPr/>
        </p:nvSpPr>
        <p:spPr>
          <a:xfrm>
            <a:off x="8961120" y="192024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Time-based schedule</a:t>
            </a:r>
            <a:endParaRPr lang="en-US" sz="1500" dirty="0"/>
          </a:p>
        </p:txBody>
      </p:sp>
      <p:sp>
        <p:nvSpPr>
          <p:cNvPr id="18" name="Text 13"/>
          <p:cNvSpPr txBox="1"/>
          <p:nvPr/>
        </p:nvSpPr>
        <p:spPr>
          <a:xfrm>
            <a:off x="8275320" y="2560320"/>
            <a:ext cx="3108960" cy="1005840"/>
          </a:xfrm>
          <a:prstGeom prst="rect">
            <a:avLst/>
          </a:prstGeom>
          <a:noFill/>
          <a:ln/>
        </p:spPr>
        <p:txBody>
          <a:bodyPr wrap="square" lIns="0" tIns="0" rIns="0" bIns="0" rtlCol="0" anchor="t"/>
          <a:lstStyle/>
          <a:p>
            <a:pPr indent="0" marL="0">
              <a:buNone/>
            </a:pPr>
            <a:r>
              <a:rPr lang="en-US" sz="1250" dirty="0">
                <a:solidFill>
                  <a:schemeClr val="bg2"/>
                </a:solidFill>
              </a:rPr>
              <a:t>Learning rate and parts defined in hours, so the run always ends inside Kaggle's 12-hour limit.</a:t>
            </a:r>
            <a:endParaRPr lang="en-US" sz="1250" dirty="0"/>
          </a:p>
        </p:txBody>
      </p:sp>
      <p:sp>
        <p:nvSpPr>
          <p:cNvPr id="19" name="eng3"/>
          <p:cNvSpPr/>
          <p:nvPr/>
        </p:nvSpPr>
        <p:spPr>
          <a:xfrm>
            <a:off x="548640" y="3886200"/>
            <a:ext cx="3520440" cy="2011680"/>
          </a:xfrm>
          <a:prstGeom prst="roundRect">
            <a:avLst>
              <a:gd name="adj" fmla="val 5455"/>
            </a:avLst>
          </a:prstGeom>
          <a:solidFill>
            <a:schemeClr val="tx2">
              <a:alpha val="92000"/>
            </a:schemeClr>
          </a:solidFill>
          <a:ln w="9525">
            <a:solidFill>
              <a:schemeClr val="accent5">
                <a:alpha val="45000"/>
              </a:schemeClr>
            </a:solidFill>
            <a:prstDash val="solid"/>
          </a:ln>
        </p:spPr>
      </p:sp>
      <p:sp>
        <p:nvSpPr>
          <p:cNvPr id="20" name="engi3_dot"/>
          <p:cNvSpPr/>
          <p:nvPr/>
        </p:nvSpPr>
        <p:spPr>
          <a:xfrm>
            <a:off x="777240" y="4114800"/>
            <a:ext cx="548640" cy="548640"/>
          </a:xfrm>
          <a:prstGeom prst="ellipse">
            <a:avLst/>
          </a:prstGeom>
          <a:solidFill>
            <a:schemeClr val="accent5"/>
          </a:solidFill>
          <a:ln w="12700">
            <a:solidFill>
              <a:schemeClr val="accent5"/>
            </a:solidFill>
            <a:prstDash val="solid"/>
          </a:ln>
        </p:spPr>
      </p:sp>
      <p:pic>
        <p:nvPicPr>
          <p:cNvPr id="21" name="engi3_icon" descr="preencoded.png">    </p:cNvPr>
          <p:cNvPicPr>
            <a:picLocks noChangeAspect="1"/>
          </p:cNvPicPr>
          <p:nvPr/>
        </p:nvPicPr>
        <p:blipFill>
          <a:blip r:embed="rId4"/>
          <a:stretch>
            <a:fillRect/>
          </a:stretch>
        </p:blipFill>
        <p:spPr>
          <a:xfrm>
            <a:off x="908914" y="4246474"/>
            <a:ext cx="285293" cy="285293"/>
          </a:xfrm>
          <a:prstGeom prst="rect">
            <a:avLst/>
          </a:prstGeom>
        </p:spPr>
      </p:pic>
      <p:sp>
        <p:nvSpPr>
          <p:cNvPr id="22" name="Text 16"/>
          <p:cNvSpPr txBox="1"/>
          <p:nvPr/>
        </p:nvSpPr>
        <p:spPr>
          <a:xfrm>
            <a:off x="1463040" y="416052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The NaN incident</a:t>
            </a:r>
            <a:endParaRPr lang="en-US" sz="1500" dirty="0"/>
          </a:p>
        </p:txBody>
      </p:sp>
      <p:sp>
        <p:nvSpPr>
          <p:cNvPr id="23" name="Text 17"/>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250" dirty="0">
                <a:solidFill>
                  <a:schemeClr val="bg2"/>
                </a:solidFill>
              </a:rPr>
              <a:t>The first full run went NaN at step ~4,900: an fp16 overflow in the attention stream. Fixed with fp32 + LayerNorm.</a:t>
            </a:r>
            <a:endParaRPr lang="en-US" sz="1250" dirty="0"/>
          </a:p>
        </p:txBody>
      </p:sp>
      <p:sp>
        <p:nvSpPr>
          <p:cNvPr id="24" name="eng4"/>
          <p:cNvSpPr/>
          <p:nvPr/>
        </p:nvSpPr>
        <p:spPr>
          <a:xfrm>
            <a:off x="4297680" y="3886200"/>
            <a:ext cx="3520440" cy="2011680"/>
          </a:xfrm>
          <a:prstGeom prst="roundRect">
            <a:avLst>
              <a:gd name="adj" fmla="val 5455"/>
            </a:avLst>
          </a:prstGeom>
          <a:solidFill>
            <a:schemeClr val="tx2">
              <a:alpha val="92000"/>
            </a:schemeClr>
          </a:solidFill>
          <a:ln w="9525">
            <a:solidFill>
              <a:schemeClr val="accent1">
                <a:alpha val="45000"/>
              </a:schemeClr>
            </a:solidFill>
            <a:prstDash val="solid"/>
          </a:ln>
        </p:spPr>
      </p:sp>
      <p:sp>
        <p:nvSpPr>
          <p:cNvPr id="25" name="engi4_dot"/>
          <p:cNvSpPr/>
          <p:nvPr/>
        </p:nvSpPr>
        <p:spPr>
          <a:xfrm>
            <a:off x="4526280" y="4114800"/>
            <a:ext cx="548640" cy="548640"/>
          </a:xfrm>
          <a:prstGeom prst="ellipse">
            <a:avLst/>
          </a:prstGeom>
          <a:solidFill>
            <a:schemeClr val="accent1"/>
          </a:solidFill>
          <a:ln w="12700">
            <a:solidFill>
              <a:schemeClr val="accent1"/>
            </a:solidFill>
            <a:prstDash val="solid"/>
          </a:ln>
        </p:spPr>
      </p:sp>
      <p:pic>
        <p:nvPicPr>
          <p:cNvPr id="26" name="engi4_icon" descr="preencoded.png">    </p:cNvPr>
          <p:cNvPicPr>
            <a:picLocks noChangeAspect="1"/>
          </p:cNvPicPr>
          <p:nvPr/>
        </p:nvPicPr>
        <p:blipFill>
          <a:blip r:embed="rId5"/>
          <a:stretch>
            <a:fillRect/>
          </a:stretch>
        </p:blipFill>
        <p:spPr>
          <a:xfrm>
            <a:off x="4657954" y="4246474"/>
            <a:ext cx="285293" cy="285293"/>
          </a:xfrm>
          <a:prstGeom prst="rect">
            <a:avLst/>
          </a:prstGeom>
        </p:spPr>
      </p:pic>
      <p:sp>
        <p:nvSpPr>
          <p:cNvPr id="27" name="Text 20"/>
          <p:cNvSpPr txBox="1"/>
          <p:nvPr/>
        </p:nvSpPr>
        <p:spPr>
          <a:xfrm>
            <a:off x="5212080" y="416052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Automatic NaN guard</a:t>
            </a:r>
            <a:endParaRPr lang="en-US" sz="1500" dirty="0"/>
          </a:p>
        </p:txBody>
      </p:sp>
      <p:sp>
        <p:nvSpPr>
          <p:cNvPr id="28" name="Text 21"/>
          <p:cNvSpPr txBox="1"/>
          <p:nvPr/>
        </p:nvSpPr>
        <p:spPr>
          <a:xfrm>
            <a:off x="4526280" y="4800600"/>
            <a:ext cx="3108960" cy="1005840"/>
          </a:xfrm>
          <a:prstGeom prst="rect">
            <a:avLst/>
          </a:prstGeom>
          <a:noFill/>
          <a:ln/>
        </p:spPr>
        <p:txBody>
          <a:bodyPr wrap="square" lIns="0" tIns="0" rIns="0" bIns="0" rtlCol="0" anchor="t"/>
          <a:lstStyle/>
          <a:p>
            <a:pPr indent="0" marL="0">
              <a:buNone/>
            </a:pPr>
            <a:r>
              <a:rPr lang="en-US" sz="1250" dirty="0">
                <a:solidFill>
                  <a:schemeClr val="bg2"/>
                </a:solidFill>
              </a:rPr>
              <a:t>Snapshots every 1,000 steps; rolls back and halves the LR if training breaks. Final run: no events.</a:t>
            </a:r>
            <a:endParaRPr lang="en-US" sz="1250" dirty="0"/>
          </a:p>
        </p:txBody>
      </p:sp>
      <p:sp>
        <p:nvSpPr>
          <p:cNvPr id="29" name="eng5"/>
          <p:cNvSpPr/>
          <p:nvPr/>
        </p:nvSpPr>
        <p:spPr>
          <a:xfrm>
            <a:off x="8046720" y="3886200"/>
            <a:ext cx="3520440" cy="2011680"/>
          </a:xfrm>
          <a:prstGeom prst="roundRect">
            <a:avLst>
              <a:gd name="adj" fmla="val 5455"/>
            </a:avLst>
          </a:prstGeom>
          <a:solidFill>
            <a:schemeClr val="tx2">
              <a:alpha val="92000"/>
            </a:schemeClr>
          </a:solidFill>
          <a:ln w="9525">
            <a:solidFill>
              <a:schemeClr val="accent1">
                <a:alpha val="45000"/>
              </a:schemeClr>
            </a:solidFill>
            <a:prstDash val="solid"/>
          </a:ln>
        </p:spPr>
      </p:sp>
      <p:sp>
        <p:nvSpPr>
          <p:cNvPr id="30" name="engi5_dot"/>
          <p:cNvSpPr/>
          <p:nvPr/>
        </p:nvSpPr>
        <p:spPr>
          <a:xfrm>
            <a:off x="8275320" y="4114800"/>
            <a:ext cx="548640" cy="548640"/>
          </a:xfrm>
          <a:prstGeom prst="ellipse">
            <a:avLst/>
          </a:prstGeom>
          <a:solidFill>
            <a:schemeClr val="accent1"/>
          </a:solidFill>
          <a:ln w="12700">
            <a:solidFill>
              <a:schemeClr val="accent1"/>
            </a:solidFill>
            <a:prstDash val="solid"/>
          </a:ln>
        </p:spPr>
      </p:sp>
      <p:pic>
        <p:nvPicPr>
          <p:cNvPr id="31" name="engi5_icon" descr="preencoded.png">    </p:cNvPr>
          <p:cNvPicPr>
            <a:picLocks noChangeAspect="1"/>
          </p:cNvPicPr>
          <p:nvPr/>
        </p:nvPicPr>
        <p:blipFill>
          <a:blip r:embed="rId6"/>
          <a:stretch>
            <a:fillRect/>
          </a:stretch>
        </p:blipFill>
        <p:spPr>
          <a:xfrm>
            <a:off x="8406994" y="4246474"/>
            <a:ext cx="285293" cy="285293"/>
          </a:xfrm>
          <a:prstGeom prst="rect">
            <a:avLst/>
          </a:prstGeom>
        </p:spPr>
      </p:pic>
      <p:sp>
        <p:nvSpPr>
          <p:cNvPr id="32" name="Text 24"/>
          <p:cNvSpPr txBox="1"/>
          <p:nvPr/>
        </p:nvSpPr>
        <p:spPr>
          <a:xfrm>
            <a:off x="8961120" y="4160520"/>
            <a:ext cx="2468880" cy="457200"/>
          </a:xfrm>
          <a:prstGeom prst="rect">
            <a:avLst/>
          </a:prstGeom>
          <a:noFill/>
          <a:ln/>
        </p:spPr>
        <p:txBody>
          <a:bodyPr wrap="square" lIns="0" tIns="0" rIns="0" bIns="0" rtlCol="0" anchor="ctr"/>
          <a:lstStyle/>
          <a:p>
            <a:pPr indent="0" marL="0">
              <a:buNone/>
            </a:pPr>
            <a:r>
              <a:rPr lang="en-US" sz="1500" b="1" dirty="0">
                <a:solidFill>
                  <a:schemeClr val="bg1"/>
                </a:solidFill>
              </a:rPr>
              <a:t>Tested before using GPU time</a:t>
            </a:r>
            <a:endParaRPr lang="en-US" sz="1500" dirty="0"/>
          </a:p>
        </p:txBody>
      </p:sp>
      <p:sp>
        <p:nvSpPr>
          <p:cNvPr id="33" name="Text 25"/>
          <p:cNvSpPr txBox="1"/>
          <p:nvPr/>
        </p:nvSpPr>
        <p:spPr>
          <a:xfrm>
            <a:off x="8275320" y="4800600"/>
            <a:ext cx="3108960" cy="1005840"/>
          </a:xfrm>
          <a:prstGeom prst="rect">
            <a:avLst/>
          </a:prstGeom>
          <a:noFill/>
          <a:ln/>
        </p:spPr>
        <p:txBody>
          <a:bodyPr wrap="square" lIns="0" tIns="0" rIns="0" bIns="0" rtlCol="0" anchor="t"/>
          <a:lstStyle/>
          <a:p>
            <a:pPr indent="0" marL="0">
              <a:buNone/>
            </a:pPr>
            <a:r>
              <a:rPr lang="en-US" sz="1250" dirty="0">
                <a:solidFill>
                  <a:schemeClr val="bg2"/>
                </a:solidFill>
              </a:rPr>
              <a:t>60 unit tests, synthetic end-to-end runs, a deliberately broken run to test the guard.</a:t>
            </a:r>
            <a:endParaRPr lang="en-US" sz="125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03 · HOW IT LEARNED</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Accuracy first, then sharpness</a:t>
            </a:r>
            <a:endParaRPr lang="en-US" sz="3200" dirty="0"/>
          </a:p>
        </p:txBody>
      </p:sp>
      <p:sp>
        <p:nvSpPr>
          <p:cNvPr id="4" name="curve_panel"/>
          <p:cNvSpPr/>
          <p:nvPr/>
        </p:nvSpPr>
        <p:spPr>
          <a:xfrm>
            <a:off x="548640" y="1600200"/>
            <a:ext cx="7498080" cy="4526280"/>
          </a:xfrm>
          <a:prstGeom prst="roundRect">
            <a:avLst>
              <a:gd name="adj" fmla="val 2424"/>
            </a:avLst>
          </a:prstGeom>
          <a:solidFill>
            <a:schemeClr val="tx2">
              <a:alpha val="92000"/>
            </a:schemeClr>
          </a:solidFill>
          <a:ln w="9525">
            <a:solidFill>
              <a:schemeClr val="accent1">
                <a:alpha val="45000"/>
              </a:schemeClr>
            </a:solidFill>
            <a:prstDash val="solid"/>
          </a:ln>
        </p:spPr>
      </p:sp>
      <p:graphicFrame>
        <p:nvGraphicFramePr>
          <p:cNvPr id="5" name="val_psnr" descr=""/>
          <p:cNvGraphicFramePr/>
          <p:nvPr/>
        </p:nvGraphicFramePr>
        <p:xfrm>
          <a:off x="685800" y="1737360"/>
          <a:ext cx="722376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val_sharp" descr=""/>
          <p:cNvGraphicFramePr/>
          <p:nvPr/>
        </p:nvGraphicFramePr>
        <p:xfrm>
          <a:off x="685800" y="3931920"/>
          <a:ext cx="7223760" cy="2103120"/>
        </p:xfrm>
        <a:graphic xmlns:a="http://schemas.openxmlformats.org/drawingml/2006/main">
          <a:graphicData uri="http://schemas.openxmlformats.org/drawingml/2006/chart">
            <c:chart xmlns:c="http://schemas.openxmlformats.org/drawingml/2006/chart" r:id="rId2"/>
          </a:graphicData>
        </a:graphic>
      </p:graphicFrame>
      <p:sp>
        <p:nvSpPr>
          <p:cNvPr id="7" name="c1_panel"/>
          <p:cNvSpPr/>
          <p:nvPr/>
        </p:nvSpPr>
        <p:spPr>
          <a:xfrm>
            <a:off x="8321040" y="1600200"/>
            <a:ext cx="331927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8" name="Text 4"/>
          <p:cNvSpPr txBox="1"/>
          <p:nvPr/>
        </p:nvSpPr>
        <p:spPr>
          <a:xfrm>
            <a:off x="8549640" y="1764792"/>
            <a:ext cx="2862072"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29.48 dB</a:t>
            </a:r>
            <a:endParaRPr lang="en-US" sz="3400" dirty="0"/>
          </a:p>
        </p:txBody>
      </p:sp>
      <p:sp>
        <p:nvSpPr>
          <p:cNvPr id="9" name="Text 5"/>
          <p:cNvSpPr txBox="1"/>
          <p:nvPr/>
        </p:nvSpPr>
        <p:spPr>
          <a:xfrm>
            <a:off x="8549640" y="2423160"/>
            <a:ext cx="2862072" cy="411480"/>
          </a:xfrm>
          <a:prstGeom prst="rect">
            <a:avLst/>
          </a:prstGeom>
          <a:noFill/>
          <a:ln/>
        </p:spPr>
        <p:txBody>
          <a:bodyPr wrap="square" lIns="0" tIns="0" rIns="0" bIns="0" rtlCol="0" anchor="t"/>
          <a:lstStyle/>
          <a:p>
            <a:pPr indent="0" marL="0">
              <a:buNone/>
            </a:pPr>
            <a:r>
              <a:rPr lang="en-US" sz="1200" dirty="0">
                <a:solidFill>
                  <a:schemeClr val="bg2"/>
                </a:solidFill>
              </a:rPr>
              <a:t>best validation PSNR in part A (hour 4.1)</a:t>
            </a:r>
            <a:endParaRPr lang="en-US" sz="1200" dirty="0"/>
          </a:p>
        </p:txBody>
      </p:sp>
      <p:sp>
        <p:nvSpPr>
          <p:cNvPr id="10" name="c2_panel"/>
          <p:cNvSpPr/>
          <p:nvPr/>
        </p:nvSpPr>
        <p:spPr>
          <a:xfrm>
            <a:off x="8321040" y="3063240"/>
            <a:ext cx="331927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1" name="Text 7"/>
          <p:cNvSpPr txBox="1"/>
          <p:nvPr/>
        </p:nvSpPr>
        <p:spPr>
          <a:xfrm>
            <a:off x="8549640" y="3227832"/>
            <a:ext cx="2862072" cy="640080"/>
          </a:xfrm>
          <a:prstGeom prst="rect">
            <a:avLst/>
          </a:prstGeom>
          <a:noFill/>
          <a:ln/>
        </p:spPr>
        <p:txBody>
          <a:bodyPr wrap="square" lIns="0" tIns="0" rIns="0" bIns="0" rtlCol="0" anchor="t"/>
          <a:lstStyle/>
          <a:p>
            <a:pPr indent="0" marL="0">
              <a:buNone/>
            </a:pPr>
            <a:r>
              <a:rPr lang="en-US" sz="3400" b="1" dirty="0">
                <a:solidFill>
                  <a:schemeClr val="accent4"/>
                </a:solidFill>
                <a:latin typeface="Segoe UI Semibold" pitchFamily="34" charset="0"/>
                <a:ea typeface="Segoe UI Semibold" pitchFamily="34" charset="-122"/>
                <a:cs typeface="Segoe UI Semibold" pitchFamily="34" charset="-120"/>
              </a:rPr>
              <a:t>0.64 → 0.71</a:t>
            </a:r>
            <a:endParaRPr lang="en-US" sz="3400" dirty="0"/>
          </a:p>
        </p:txBody>
      </p:sp>
      <p:sp>
        <p:nvSpPr>
          <p:cNvPr id="12" name="Text 8"/>
          <p:cNvSpPr txBox="1"/>
          <p:nvPr/>
        </p:nvSpPr>
        <p:spPr>
          <a:xfrm>
            <a:off x="8549640" y="3886200"/>
            <a:ext cx="2862072" cy="411480"/>
          </a:xfrm>
          <a:prstGeom prst="rect">
            <a:avLst/>
          </a:prstGeom>
          <a:noFill/>
          <a:ln/>
        </p:spPr>
        <p:txBody>
          <a:bodyPr wrap="square" lIns="0" tIns="0" rIns="0" bIns="0" rtlCol="0" anchor="t"/>
          <a:lstStyle/>
          <a:p>
            <a:pPr indent="0" marL="0">
              <a:buNone/>
            </a:pPr>
            <a:r>
              <a:rPr lang="en-US" sz="1200" dirty="0">
                <a:solidFill>
                  <a:schemeClr val="bg2"/>
                </a:solidFill>
              </a:rPr>
              <a:t>validation sharpness jumps when the GAN joins (hour 6.0)</a:t>
            </a:r>
            <a:endParaRPr lang="en-US" sz="1200" dirty="0"/>
          </a:p>
        </p:txBody>
      </p:sp>
      <p:sp>
        <p:nvSpPr>
          <p:cNvPr id="13" name="c3_panel"/>
          <p:cNvSpPr/>
          <p:nvPr/>
        </p:nvSpPr>
        <p:spPr>
          <a:xfrm>
            <a:off x="8321040" y="4526280"/>
            <a:ext cx="331927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4" name="Text 10"/>
          <p:cNvSpPr txBox="1"/>
          <p:nvPr/>
        </p:nvSpPr>
        <p:spPr>
          <a:xfrm>
            <a:off x="8549640" y="4690872"/>
            <a:ext cx="2862072" cy="640080"/>
          </a:xfrm>
          <a:prstGeom prst="rect">
            <a:avLst/>
          </a:prstGeom>
          <a:noFill/>
          <a:ln/>
        </p:spPr>
        <p:txBody>
          <a:bodyPr wrap="square" lIns="0" tIns="0" rIns="0" bIns="0" rtlCol="0" anchor="t"/>
          <a:lstStyle/>
          <a:p>
            <a:pPr indent="0" marL="0">
              <a:buNone/>
            </a:pPr>
            <a:r>
              <a:rPr lang="en-US" sz="3400" b="1" dirty="0">
                <a:solidFill>
                  <a:schemeClr val="accent2"/>
                </a:solidFill>
                <a:latin typeface="Segoe UI Semibold" pitchFamily="34" charset="0"/>
                <a:ea typeface="Segoe UI Semibold" pitchFamily="34" charset="-122"/>
                <a:cs typeface="Segoe UI Semibold" pitchFamily="34" charset="-120"/>
              </a:rPr>
              <a:t>86,380</a:t>
            </a:r>
            <a:endParaRPr lang="en-US" sz="3400" dirty="0"/>
          </a:p>
        </p:txBody>
      </p:sp>
      <p:sp>
        <p:nvSpPr>
          <p:cNvPr id="15" name="Text 11"/>
          <p:cNvSpPr txBox="1"/>
          <p:nvPr/>
        </p:nvSpPr>
        <p:spPr>
          <a:xfrm>
            <a:off x="8549640" y="5349240"/>
            <a:ext cx="2862072" cy="411480"/>
          </a:xfrm>
          <a:prstGeom prst="rect">
            <a:avLst/>
          </a:prstGeom>
          <a:noFill/>
          <a:ln/>
        </p:spPr>
        <p:txBody>
          <a:bodyPr wrap="square" lIns="0" tIns="0" rIns="0" bIns="0" rtlCol="0" anchor="t"/>
          <a:lstStyle/>
          <a:p>
            <a:pPr indent="0" marL="0">
              <a:buNone/>
            </a:pPr>
            <a:r>
              <a:rPr lang="en-US" sz="1200" dirty="0">
                <a:solidFill>
                  <a:schemeClr val="bg2"/>
                </a:solidFill>
              </a:rPr>
              <a:t>training steps · 6 passes over the data</a:t>
            </a:r>
            <a:endParaRPr lang="en-US" sz="12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04 · RESULTS</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One honest test: 5,400 patches from 18 unseen scenes</a:t>
            </a:r>
            <a:endParaRPr lang="en-US" sz="3200" dirty="0"/>
          </a:p>
        </p:txBody>
      </p:sp>
      <p:sp>
        <p:nvSpPr>
          <p:cNvPr id="4" name="r1_panel"/>
          <p:cNvSpPr/>
          <p:nvPr/>
        </p:nvSpPr>
        <p:spPr>
          <a:xfrm>
            <a:off x="548640" y="1600200"/>
            <a:ext cx="265176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777240" y="1764792"/>
            <a:ext cx="2194560"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28.59 dB</a:t>
            </a:r>
            <a:endParaRPr lang="en-US" sz="3400" dirty="0"/>
          </a:p>
        </p:txBody>
      </p:sp>
      <p:sp>
        <p:nvSpPr>
          <p:cNvPr id="6" name="Text 4"/>
          <p:cNvSpPr txBox="1"/>
          <p:nvPr/>
        </p:nvSpPr>
        <p:spPr>
          <a:xfrm>
            <a:off x="777240" y="2423160"/>
            <a:ext cx="2194560" cy="411480"/>
          </a:xfrm>
          <a:prstGeom prst="rect">
            <a:avLst/>
          </a:prstGeom>
          <a:noFill/>
          <a:ln/>
        </p:spPr>
        <p:txBody>
          <a:bodyPr wrap="square" lIns="0" tIns="0" rIns="0" bIns="0" rtlCol="0" anchor="t"/>
          <a:lstStyle/>
          <a:p>
            <a:pPr indent="0" marL="0">
              <a:buNone/>
            </a:pPr>
            <a:r>
              <a:rPr lang="en-US" sz="1200" dirty="0">
                <a:solidFill>
                  <a:schemeClr val="bg2"/>
                </a:solidFill>
              </a:rPr>
              <a:t>PSNR of the final model, all 13 bands</a:t>
            </a:r>
            <a:endParaRPr lang="en-US" sz="1200" dirty="0"/>
          </a:p>
        </p:txBody>
      </p:sp>
      <p:sp>
        <p:nvSpPr>
          <p:cNvPr id="7" name="r2_panel"/>
          <p:cNvSpPr/>
          <p:nvPr/>
        </p:nvSpPr>
        <p:spPr>
          <a:xfrm>
            <a:off x="3355848" y="1600200"/>
            <a:ext cx="265176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8" name="Text 6"/>
          <p:cNvSpPr txBox="1"/>
          <p:nvPr/>
        </p:nvSpPr>
        <p:spPr>
          <a:xfrm>
            <a:off x="3584448" y="1764792"/>
            <a:ext cx="2194560" cy="640080"/>
          </a:xfrm>
          <a:prstGeom prst="rect">
            <a:avLst/>
          </a:prstGeom>
          <a:noFill/>
          <a:ln/>
        </p:spPr>
        <p:txBody>
          <a:bodyPr wrap="square" lIns="0" tIns="0" rIns="0" bIns="0" rtlCol="0" anchor="t"/>
          <a:lstStyle/>
          <a:p>
            <a:pPr indent="0" marL="0">
              <a:buNone/>
            </a:pPr>
            <a:r>
              <a:rPr lang="en-US" sz="3400" b="1" dirty="0">
                <a:solidFill>
                  <a:schemeClr val="accent2"/>
                </a:solidFill>
                <a:latin typeface="Segoe UI Semibold" pitchFamily="34" charset="0"/>
                <a:ea typeface="Segoe UI Semibold" pitchFamily="34" charset="-122"/>
                <a:cs typeface="Segoe UI Semibold" pitchFamily="34" charset="-120"/>
              </a:rPr>
              <a:t>+1.89 dB</a:t>
            </a:r>
            <a:endParaRPr lang="en-US" sz="3400" dirty="0"/>
          </a:p>
        </p:txBody>
      </p:sp>
      <p:sp>
        <p:nvSpPr>
          <p:cNvPr id="9" name="Text 7"/>
          <p:cNvSpPr txBox="1"/>
          <p:nvPr/>
        </p:nvSpPr>
        <p:spPr>
          <a:xfrm>
            <a:off x="3584448" y="2423160"/>
            <a:ext cx="2194560" cy="411480"/>
          </a:xfrm>
          <a:prstGeom prst="rect">
            <a:avLst/>
          </a:prstGeom>
          <a:noFill/>
          <a:ln/>
        </p:spPr>
        <p:txBody>
          <a:bodyPr wrap="square" lIns="0" tIns="0" rIns="0" bIns="0" rtlCol="0" anchor="t"/>
          <a:lstStyle/>
          <a:p>
            <a:pPr indent="0" marL="0">
              <a:buNone/>
            </a:pPr>
            <a:r>
              <a:rPr lang="en-US" sz="1200" dirty="0">
                <a:solidFill>
                  <a:schemeClr val="bg2"/>
                </a:solidFill>
              </a:rPr>
              <a:t>over the Phase 1 U-Net · better in 17 of 18 scenes</a:t>
            </a:r>
            <a:endParaRPr lang="en-US" sz="1200" dirty="0"/>
          </a:p>
        </p:txBody>
      </p:sp>
      <p:sp>
        <p:nvSpPr>
          <p:cNvPr id="10" name="r3_panel"/>
          <p:cNvSpPr/>
          <p:nvPr/>
        </p:nvSpPr>
        <p:spPr>
          <a:xfrm>
            <a:off x="6163056" y="1600200"/>
            <a:ext cx="265176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1" name="Text 9"/>
          <p:cNvSpPr txBox="1"/>
          <p:nvPr/>
        </p:nvSpPr>
        <p:spPr>
          <a:xfrm>
            <a:off x="6391656" y="1764792"/>
            <a:ext cx="2194560" cy="640080"/>
          </a:xfrm>
          <a:prstGeom prst="rect">
            <a:avLst/>
          </a:prstGeom>
          <a:noFill/>
          <a:ln/>
        </p:spPr>
        <p:txBody>
          <a:bodyPr wrap="square" lIns="0" tIns="0" rIns="0" bIns="0" rtlCol="0" anchor="t"/>
          <a:lstStyle/>
          <a:p>
            <a:pPr indent="0" marL="0">
              <a:buNone/>
            </a:pPr>
            <a:r>
              <a:rPr lang="en-US" sz="3400" b="1" dirty="0">
                <a:solidFill>
                  <a:schemeClr val="accent3"/>
                </a:solidFill>
                <a:latin typeface="Segoe UI Semibold" pitchFamily="34" charset="0"/>
                <a:ea typeface="Segoe UI Semibold" pitchFamily="34" charset="-122"/>
                <a:cs typeface="Segoe UI Semibold" pitchFamily="34" charset="-120"/>
              </a:rPr>
              <a:t>+8.3 dB</a:t>
            </a:r>
            <a:endParaRPr lang="en-US" sz="3400" dirty="0"/>
          </a:p>
        </p:txBody>
      </p:sp>
      <p:sp>
        <p:nvSpPr>
          <p:cNvPr id="12" name="Text 10"/>
          <p:cNvSpPr txBox="1"/>
          <p:nvPr/>
        </p:nvSpPr>
        <p:spPr>
          <a:xfrm>
            <a:off x="6391656" y="2423160"/>
            <a:ext cx="2194560" cy="411480"/>
          </a:xfrm>
          <a:prstGeom prst="rect">
            <a:avLst/>
          </a:prstGeom>
          <a:noFill/>
          <a:ln/>
        </p:spPr>
        <p:txBody>
          <a:bodyPr wrap="square" lIns="0" tIns="0" rIns="0" bIns="0" rtlCol="0" anchor="t"/>
          <a:lstStyle/>
          <a:p>
            <a:pPr indent="0" marL="0">
              <a:buNone/>
            </a:pPr>
            <a:r>
              <a:rPr lang="en-US" sz="1200" dirty="0">
                <a:solidFill>
                  <a:schemeClr val="bg2"/>
                </a:solidFill>
              </a:rPr>
              <a:t>over the cloudy input itself · 18 of 18 scenes</a:t>
            </a:r>
            <a:endParaRPr lang="en-US" sz="1200" dirty="0"/>
          </a:p>
        </p:txBody>
      </p:sp>
      <p:sp>
        <p:nvSpPr>
          <p:cNvPr id="13" name="r4_panel"/>
          <p:cNvSpPr/>
          <p:nvPr/>
        </p:nvSpPr>
        <p:spPr>
          <a:xfrm>
            <a:off x="8970264" y="1600200"/>
            <a:ext cx="2670048"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4" name="Text 12"/>
          <p:cNvSpPr txBox="1"/>
          <p:nvPr/>
        </p:nvSpPr>
        <p:spPr>
          <a:xfrm>
            <a:off x="9198864" y="1764792"/>
            <a:ext cx="2212848" cy="640080"/>
          </a:xfrm>
          <a:prstGeom prst="rect">
            <a:avLst/>
          </a:prstGeom>
          <a:noFill/>
          <a:ln/>
        </p:spPr>
        <p:txBody>
          <a:bodyPr wrap="square" lIns="0" tIns="0" rIns="0" bIns="0" rtlCol="0" anchor="t"/>
          <a:lstStyle/>
          <a:p>
            <a:pPr indent="0" marL="0">
              <a:buNone/>
            </a:pPr>
            <a:r>
              <a:rPr lang="en-US" sz="3400" b="1" dirty="0">
                <a:solidFill>
                  <a:schemeClr val="accent4"/>
                </a:solidFill>
                <a:latin typeface="Segoe UI Semibold" pitchFamily="34" charset="0"/>
                <a:ea typeface="Segoe UI Semibold" pitchFamily="34" charset="-122"/>
                <a:cs typeface="Segoe UI Semibold" pitchFamily="34" charset="-120"/>
              </a:rPr>
              <a:t>34.53 dB</a:t>
            </a:r>
            <a:endParaRPr lang="en-US" sz="3400" dirty="0"/>
          </a:p>
        </p:txBody>
      </p:sp>
      <p:sp>
        <p:nvSpPr>
          <p:cNvPr id="15" name="Text 13"/>
          <p:cNvSpPr txBox="1"/>
          <p:nvPr/>
        </p:nvSpPr>
        <p:spPr>
          <a:xfrm>
            <a:off x="9198864" y="2423160"/>
            <a:ext cx="2212848" cy="411480"/>
          </a:xfrm>
          <a:prstGeom prst="rect">
            <a:avLst/>
          </a:prstGeom>
          <a:noFill/>
          <a:ln/>
        </p:spPr>
        <p:txBody>
          <a:bodyPr wrap="square" lIns="0" tIns="0" rIns="0" bIns="0" rtlCol="0" anchor="t"/>
          <a:lstStyle/>
          <a:p>
            <a:pPr indent="0" marL="0">
              <a:buNone/>
            </a:pPr>
            <a:r>
              <a:rPr lang="en-US" sz="1200" dirty="0">
                <a:solidFill>
                  <a:schemeClr val="bg2"/>
                </a:solidFill>
              </a:rPr>
              <a:t>PSNR with the date shift removed</a:t>
            </a:r>
            <a:endParaRPr lang="en-US" sz="1200" dirty="0"/>
          </a:p>
        </p:txBody>
      </p:sp>
      <p:graphicFrame>
        <p:nvGraphicFramePr>
          <p:cNvPr id="14" name="results_table"/>
          <p:cNvGraphicFramePr>
            <a:graphicFrameLocks noGrp="1"/>
          </p:cNvGraphicFramePr>
          <p:nvPr>
            <p:extLst>
              <p:ext uri="{D42A27DB-BD31-4B8C-83A1-F6EECF244321}">
                <p14:modId xmlns:p14="http://schemas.microsoft.com/office/powerpoint/2010/main" val="1579011935"/>
              </p:ext>
            </p:extLst>
          </p:nvPr>
        </p:nvGraphicFramePr>
        <p:xfrm>
          <a:off x="548640" y="3200400"/>
          <a:ext cx="11094415" cy="914400"/>
        </p:xfrm>
        <a:graphic>
          <a:graphicData uri="http://schemas.openxmlformats.org/drawingml/2006/table">
            <a:tbl>
              <a:tblPr/>
              <a:tblGrid>
                <a:gridCol w="3657600"/>
                <a:gridCol w="1371600"/>
                <a:gridCol w="1188720"/>
                <a:gridCol w="1188720"/>
                <a:gridCol w="2286000"/>
                <a:gridCol w="1399032"/>
              </a:tblGrid>
              <a:tr h="438912">
                <a:tc>
                  <a:txBody>
                    <a:bodyPr/>
                    <a:lstStyle/>
                    <a:p>
                      <a:pPr indent="0" marL="0">
                        <a:buNone/>
                      </a:pPr>
                      <a:r>
                        <a:rPr lang="en-US" sz="1400" b="1" dirty="0">
                          <a:solidFill>
                            <a:schemeClr val="bg1"/>
                          </a:solidFill>
                        </a:rPr>
                        <a:t>Model</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PSNR (dB)</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SSIM</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SAM (°)</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PSNR, date shift removed</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Sharpness</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r>
              <a:tr h="438912">
                <a:tc>
                  <a:txBody>
                    <a:bodyPr/>
                    <a:lstStyle/>
                    <a:p>
                      <a:pPr indent="0" marL="0">
                        <a:buNone/>
                      </a:pPr>
                      <a:r>
                        <a:rPr lang="en-US" sz="1400" dirty="0">
                          <a:solidFill>
                            <a:schemeClr val="bg1"/>
                          </a:solidFill>
                        </a:rPr>
                        <a:t>Cloudy input (no model)</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20.29</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0.703</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13.37</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33.71</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1.88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bg1"/>
                          </a:solidFill>
                        </a:rPr>
                        <a:t>Phase 1 U-Net (3,000 Asian patches)</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26.70</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0.853</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9.78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33.86</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0.90</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bg1"/>
                          </a:solidFill>
                        </a:rPr>
                        <a:t>ClearSAR-Net before GAN</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28.68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0.881</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8.38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34.58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0.78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38912">
                <a:tc>
                  <a:txBody>
                    <a:bodyPr/>
                    <a:lstStyle/>
                    <a:p>
                      <a:pPr indent="0" marL="0">
                        <a:buNone/>
                      </a:pPr>
                      <a:r>
                        <a:rPr lang="en-US" sz="1400" b="1" dirty="0">
                          <a:solidFill>
                            <a:schemeClr val="bg1"/>
                          </a:solidFill>
                        </a:rPr>
                        <a:t>ClearSAR-Net final (GAN)</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28.59</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0.879</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8.33</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34.53</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0.87</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bl>
          </a:graphicData>
        </a:graphic>
      </p:graphicFrame>
      <p:sp>
        <p:nvSpPr>
          <p:cNvPr id="17" name="Text 14"/>
          <p:cNvSpPr txBox="1"/>
          <p:nvPr/>
        </p:nvSpPr>
        <p:spPr>
          <a:xfrm>
            <a:off x="548640" y="5532120"/>
            <a:ext cx="11094415" cy="685800"/>
          </a:xfrm>
          <a:prstGeom prst="rect">
            <a:avLst/>
          </a:prstGeom>
          <a:noFill/>
          <a:ln/>
        </p:spPr>
        <p:txBody>
          <a:bodyPr wrap="square" lIns="0" tIns="0" rIns="0" bIns="0" rtlCol="0" anchor="t"/>
          <a:lstStyle/>
          <a:p>
            <a:pPr indent="0" marL="0">
              <a:spcAft>
                <a:spcPts val="400"/>
              </a:spcAft>
              <a:buNone/>
            </a:pPr>
            <a:r>
              <a:rPr lang="en-US" sz="1300" dirty="0">
                <a:solidFill>
                  <a:schemeClr val="bg2"/>
                </a:solidFill>
              </a:rPr>
              <a:t>Scene bootstrap (18 scenes, 5,000 resamples): +1.89 dB over Phase 1 has a 95 % interval of +1.1 to +2.7 dB.</a:t>
            </a:r>
            <a:endParaRPr lang="en-US" sz="1300" dirty="0"/>
          </a:p>
          <a:p>
            <a:pPr indent="0" marL="0">
              <a:spcAft>
                <a:spcPts val="400"/>
              </a:spcAft>
              <a:buNone/>
            </a:pPr>
            <a:r>
              <a:rPr lang="en-US" sz="1300" dirty="0">
                <a:solidFill>
                  <a:schemeClr val="bg2"/>
                </a:solidFill>
              </a:rPr>
              <a:t>Sharpness = edge energy relative to the true image (1 = as sharp as reality); above 1 means extra edges - the cloudy input scores 1.88 because cloud edges are sharp.</a:t>
            </a:r>
            <a:endParaRPr lang="en-US" sz="13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04 · WHERE IT IS HARD</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The more cloud, the more the network adds</a:t>
            </a:r>
            <a:endParaRPr lang="en-US" sz="3200" dirty="0"/>
          </a:p>
        </p:txBody>
      </p:sp>
      <p:sp>
        <p:nvSpPr>
          <p:cNvPr id="4" name="cloud_panel"/>
          <p:cNvSpPr/>
          <p:nvPr/>
        </p:nvSpPr>
        <p:spPr>
          <a:xfrm>
            <a:off x="548640" y="1600200"/>
            <a:ext cx="7680960" cy="4572000"/>
          </a:xfrm>
          <a:prstGeom prst="roundRect">
            <a:avLst>
              <a:gd name="adj" fmla="val 2400"/>
            </a:avLst>
          </a:prstGeom>
          <a:solidFill>
            <a:schemeClr val="tx2">
              <a:alpha val="92000"/>
            </a:schemeClr>
          </a:solidFill>
          <a:ln w="9525">
            <a:solidFill>
              <a:schemeClr val="accent1">
                <a:alpha val="45000"/>
              </a:schemeClr>
            </a:solidFill>
            <a:prstDash val="solid"/>
          </a:ln>
        </p:spPr>
      </p:sp>
      <p:graphicFrame>
        <p:nvGraphicFramePr>
          <p:cNvPr id="5" name="cloud_chart" descr=""/>
          <p:cNvGraphicFramePr/>
          <p:nvPr/>
        </p:nvGraphicFramePr>
        <p:xfrm>
          <a:off x="685800" y="1737360"/>
          <a:ext cx="7406640" cy="4297680"/>
        </p:xfrm>
        <a:graphic xmlns:a="http://schemas.openxmlformats.org/drawingml/2006/main">
          <a:graphicData uri="http://schemas.openxmlformats.org/drawingml/2006/chart">
            <c:chart xmlns:c="http://schemas.openxmlformats.org/drawingml/2006/chart" r:id="rId1"/>
          </a:graphicData>
        </a:graphic>
      </p:graphicFrame>
      <p:sp>
        <p:nvSpPr>
          <p:cNvPr id="6" name="b1_panel"/>
          <p:cNvSpPr/>
          <p:nvPr/>
        </p:nvSpPr>
        <p:spPr>
          <a:xfrm>
            <a:off x="8503920" y="1600200"/>
            <a:ext cx="313639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7" name="Text 4"/>
          <p:cNvSpPr txBox="1"/>
          <p:nvPr/>
        </p:nvSpPr>
        <p:spPr>
          <a:xfrm>
            <a:off x="8732520" y="1764792"/>
            <a:ext cx="2679192"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+14.8 dB</a:t>
            </a:r>
            <a:endParaRPr lang="en-US" sz="3400" dirty="0"/>
          </a:p>
        </p:txBody>
      </p:sp>
      <p:sp>
        <p:nvSpPr>
          <p:cNvPr id="8" name="Text 5"/>
          <p:cNvSpPr txBox="1"/>
          <p:nvPr/>
        </p:nvSpPr>
        <p:spPr>
          <a:xfrm>
            <a:off x="8732520" y="2423160"/>
            <a:ext cx="2679192" cy="411480"/>
          </a:xfrm>
          <a:prstGeom prst="rect">
            <a:avLst/>
          </a:prstGeom>
          <a:noFill/>
          <a:ln/>
        </p:spPr>
        <p:txBody>
          <a:bodyPr wrap="square" lIns="0" tIns="0" rIns="0" bIns="0" rtlCol="0" anchor="t"/>
          <a:lstStyle/>
          <a:p>
            <a:pPr indent="0" marL="0">
              <a:buNone/>
            </a:pPr>
            <a:r>
              <a:rPr lang="en-US" sz="1200" dirty="0">
                <a:solidFill>
                  <a:schemeClr val="bg2"/>
                </a:solidFill>
              </a:rPr>
              <a:t>over the cloudy input at 90-100 % cloud (+2.7 dB at 0-10 %)</a:t>
            </a:r>
            <a:endParaRPr lang="en-US" sz="1200" dirty="0"/>
          </a:p>
        </p:txBody>
      </p:sp>
      <p:sp>
        <p:nvSpPr>
          <p:cNvPr id="9" name="b2_panel"/>
          <p:cNvSpPr/>
          <p:nvPr/>
        </p:nvSpPr>
        <p:spPr>
          <a:xfrm>
            <a:off x="8503920" y="3063240"/>
            <a:ext cx="3136392"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0" name="Text 7"/>
          <p:cNvSpPr txBox="1"/>
          <p:nvPr/>
        </p:nvSpPr>
        <p:spPr>
          <a:xfrm>
            <a:off x="8732520" y="3227832"/>
            <a:ext cx="2679192" cy="640080"/>
          </a:xfrm>
          <a:prstGeom prst="rect">
            <a:avLst/>
          </a:prstGeom>
          <a:noFill/>
          <a:ln/>
        </p:spPr>
        <p:txBody>
          <a:bodyPr wrap="square" lIns="0" tIns="0" rIns="0" bIns="0" rtlCol="0" anchor="t"/>
          <a:lstStyle/>
          <a:p>
            <a:pPr indent="0" marL="0">
              <a:buNone/>
            </a:pPr>
            <a:r>
              <a:rPr lang="en-US" sz="3400" b="1" dirty="0">
                <a:solidFill>
                  <a:schemeClr val="accent3"/>
                </a:solidFill>
                <a:latin typeface="Segoe UI Semibold" pitchFamily="34" charset="0"/>
                <a:ea typeface="Segoe UI Semibold" pitchFamily="34" charset="-122"/>
                <a:cs typeface="Segoe UI Semibold" pitchFamily="34" charset="-120"/>
              </a:rPr>
              <a:t>+3.2 dB</a:t>
            </a:r>
            <a:endParaRPr lang="en-US" sz="3400" dirty="0"/>
          </a:p>
        </p:txBody>
      </p:sp>
      <p:sp>
        <p:nvSpPr>
          <p:cNvPr id="11" name="Text 8"/>
          <p:cNvSpPr txBox="1"/>
          <p:nvPr/>
        </p:nvSpPr>
        <p:spPr>
          <a:xfrm>
            <a:off x="8732520" y="3886200"/>
            <a:ext cx="2679192" cy="411480"/>
          </a:xfrm>
          <a:prstGeom prst="rect">
            <a:avLst/>
          </a:prstGeom>
          <a:noFill/>
          <a:ln/>
        </p:spPr>
        <p:txBody>
          <a:bodyPr wrap="square" lIns="0" tIns="0" rIns="0" bIns="0" rtlCol="0" anchor="t"/>
          <a:lstStyle/>
          <a:p>
            <a:pPr indent="0" marL="0">
              <a:buNone/>
            </a:pPr>
            <a:r>
              <a:rPr lang="en-US" sz="1200" dirty="0">
                <a:solidFill>
                  <a:schemeClr val="bg2"/>
                </a:solidFill>
              </a:rPr>
              <a:t>over Phase 1 under full cloud - global attention and scene diversity pay off most here</a:t>
            </a:r>
            <a:endParaRPr lang="en-US" sz="1200" dirty="0"/>
          </a:p>
        </p:txBody>
      </p:sp>
      <p:sp>
        <p:nvSpPr>
          <p:cNvPr id="12" name="Text 9"/>
          <p:cNvSpPr txBox="1"/>
          <p:nvPr/>
        </p:nvSpPr>
        <p:spPr>
          <a:xfrm>
            <a:off x="8503920" y="4572000"/>
            <a:ext cx="3136392" cy="1554480"/>
          </a:xfrm>
          <a:prstGeom prst="rect">
            <a:avLst/>
          </a:prstGeom>
          <a:noFill/>
          <a:ln/>
        </p:spPr>
        <p:txBody>
          <a:bodyPr wrap="square" lIns="0" tIns="0" rIns="0" bIns="0" rtlCol="0" anchor="t"/>
          <a:lstStyle/>
          <a:p>
            <a:pPr indent="0" marL="0">
              <a:buNone/>
            </a:pPr>
            <a:r>
              <a:rPr lang="en-US" sz="1250" dirty="0">
                <a:solidFill>
                  <a:schemeClr val="bg2"/>
                </a:solidFill>
              </a:rPr>
              <a:t>Why is 90-100 % higher than 60-90 %? Scene mix, not physics: that bin holds easy scenes (Canada, Central African Rep., New Zealand).</a:t>
            </a:r>
            <a:endParaRPr lang="en-US" sz="125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04 · WHAT THE GAN CHANGED</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Sharper, with no measurable loss of accuracy</a:t>
            </a:r>
            <a:endParaRPr lang="en-US" sz="3200" dirty="0"/>
          </a:p>
        </p:txBody>
      </p:sp>
      <p:sp>
        <p:nvSpPr>
          <p:cNvPr id="4" name="ge1_panel"/>
          <p:cNvSpPr/>
          <p:nvPr/>
        </p:nvSpPr>
        <p:spPr>
          <a:xfrm>
            <a:off x="548640" y="1600200"/>
            <a:ext cx="365760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777240" y="1764792"/>
            <a:ext cx="3200400" cy="640080"/>
          </a:xfrm>
          <a:prstGeom prst="rect">
            <a:avLst/>
          </a:prstGeom>
          <a:noFill/>
          <a:ln/>
        </p:spPr>
        <p:txBody>
          <a:bodyPr wrap="square" lIns="0" tIns="0" rIns="0" bIns="0" rtlCol="0" anchor="t"/>
          <a:lstStyle/>
          <a:p>
            <a:pPr indent="0" marL="0">
              <a:buNone/>
            </a:pPr>
            <a:r>
              <a:rPr lang="en-US" sz="3400" b="1" dirty="0">
                <a:solidFill>
                  <a:schemeClr val="accent4"/>
                </a:solidFill>
                <a:latin typeface="Segoe UI Semibold" pitchFamily="34" charset="0"/>
                <a:ea typeface="Segoe UI Semibold" pitchFamily="34" charset="-122"/>
                <a:cs typeface="Segoe UI Semibold" pitchFamily="34" charset="-120"/>
              </a:rPr>
              <a:t>0.78 → 0.87</a:t>
            </a:r>
            <a:endParaRPr lang="en-US" sz="3400" dirty="0"/>
          </a:p>
        </p:txBody>
      </p:sp>
      <p:sp>
        <p:nvSpPr>
          <p:cNvPr id="6" name="Text 4"/>
          <p:cNvSpPr txBox="1"/>
          <p:nvPr/>
        </p:nvSpPr>
        <p:spPr>
          <a:xfrm>
            <a:off x="777240" y="2423160"/>
            <a:ext cx="3200400" cy="411480"/>
          </a:xfrm>
          <a:prstGeom prst="rect">
            <a:avLst/>
          </a:prstGeom>
          <a:noFill/>
          <a:ln/>
        </p:spPr>
        <p:txBody>
          <a:bodyPr wrap="square" lIns="0" tIns="0" rIns="0" bIns="0" rtlCol="0" anchor="t"/>
          <a:lstStyle/>
          <a:p>
            <a:pPr indent="0" marL="0">
              <a:buNone/>
            </a:pPr>
            <a:r>
              <a:rPr lang="en-US" sz="1200" dirty="0">
                <a:solidFill>
                  <a:schemeClr val="bg2"/>
                </a:solidFill>
              </a:rPr>
              <a:t>sharpness before → after the GAN · better in 16 of 18 scenes</a:t>
            </a:r>
            <a:endParaRPr lang="en-US" sz="1200" dirty="0"/>
          </a:p>
        </p:txBody>
      </p:sp>
      <p:sp>
        <p:nvSpPr>
          <p:cNvPr id="7" name="ge2_panel"/>
          <p:cNvSpPr/>
          <p:nvPr/>
        </p:nvSpPr>
        <p:spPr>
          <a:xfrm>
            <a:off x="548640" y="3063240"/>
            <a:ext cx="365760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8" name="Text 6"/>
          <p:cNvSpPr txBox="1"/>
          <p:nvPr/>
        </p:nvSpPr>
        <p:spPr>
          <a:xfrm>
            <a:off x="777240" y="3227832"/>
            <a:ext cx="3200400" cy="640080"/>
          </a:xfrm>
          <a:prstGeom prst="rect">
            <a:avLst/>
          </a:prstGeom>
          <a:noFill/>
          <a:ln/>
        </p:spPr>
        <p:txBody>
          <a:bodyPr wrap="square" lIns="0" tIns="0" rIns="0" bIns="0" rtlCol="0" anchor="t"/>
          <a:lstStyle/>
          <a:p>
            <a:pPr indent="0" marL="0">
              <a:buNone/>
            </a:pPr>
            <a:r>
              <a:rPr lang="en-US" sz="3400" b="1" dirty="0">
                <a:solidFill>
                  <a:schemeClr val="accent1"/>
                </a:solidFill>
                <a:latin typeface="Segoe UI Semibold" pitchFamily="34" charset="0"/>
                <a:ea typeface="Segoe UI Semibold" pitchFamily="34" charset="-122"/>
                <a:cs typeface="Segoe UI Semibold" pitchFamily="34" charset="-120"/>
              </a:rPr>
              <a:t>−0.09 dB</a:t>
            </a:r>
            <a:endParaRPr lang="en-US" sz="3400" dirty="0"/>
          </a:p>
        </p:txBody>
      </p:sp>
      <p:sp>
        <p:nvSpPr>
          <p:cNvPr id="9" name="Text 7"/>
          <p:cNvSpPr txBox="1"/>
          <p:nvPr/>
        </p:nvSpPr>
        <p:spPr>
          <a:xfrm>
            <a:off x="777240" y="3886200"/>
            <a:ext cx="3200400" cy="411480"/>
          </a:xfrm>
          <a:prstGeom prst="rect">
            <a:avLst/>
          </a:prstGeom>
          <a:noFill/>
          <a:ln/>
        </p:spPr>
        <p:txBody>
          <a:bodyPr wrap="square" lIns="0" tIns="0" rIns="0" bIns="0" rtlCol="0" anchor="t"/>
          <a:lstStyle/>
          <a:p>
            <a:pPr indent="0" marL="0">
              <a:buNone/>
            </a:pPr>
            <a:r>
              <a:rPr lang="en-US" sz="1200" dirty="0">
                <a:solidFill>
                  <a:schemeClr val="bg2"/>
                </a:solidFill>
              </a:rPr>
              <a:t>PSNR change · 95 % interval −0.34 to +0.16 dB (contains 0)</a:t>
            </a:r>
            <a:endParaRPr lang="en-US" sz="1200" dirty="0"/>
          </a:p>
        </p:txBody>
      </p:sp>
      <p:sp>
        <p:nvSpPr>
          <p:cNvPr id="10" name="Text 8"/>
          <p:cNvSpPr txBox="1"/>
          <p:nvPr/>
        </p:nvSpPr>
        <p:spPr>
          <a:xfrm>
            <a:off x="548640" y="4617720"/>
            <a:ext cx="3657600" cy="1463040"/>
          </a:xfrm>
          <a:prstGeom prst="rect">
            <a:avLst/>
          </a:prstGeom>
          <a:noFill/>
          <a:ln/>
        </p:spPr>
        <p:txBody>
          <a:bodyPr wrap="square" lIns="0" tIns="0" rIns="0" bIns="0" rtlCol="0" anchor="t"/>
          <a:lstStyle/>
          <a:p>
            <a:pPr indent="0" marL="0">
              <a:buNone/>
            </a:pPr>
            <a:r>
              <a:rPr lang="en-US" sz="1300" dirty="0">
                <a:solidFill>
                  <a:schemeClr val="bg2"/>
                </a:solidFill>
              </a:rPr>
              <a:t>Phase 1's GAN lost 1.35 dB. Starting from a converged model and capping the GAN's push at 20 % made the difference. By eye the change is subtle: crisper edges, slightly more texture.</a:t>
            </a:r>
            <a:endParaRPr lang="en-US" sz="1300" dirty="0"/>
          </a:p>
        </p:txBody>
      </p:sp>
      <p:sp>
        <p:nvSpPr>
          <p:cNvPr id="11" name="z_before_frame"/>
          <p:cNvSpPr/>
          <p:nvPr/>
        </p:nvSpPr>
        <p:spPr>
          <a:xfrm>
            <a:off x="4581144" y="1609344"/>
            <a:ext cx="2267712" cy="2267712"/>
          </a:xfrm>
          <a:prstGeom prst="roundRect">
            <a:avLst>
              <a:gd name="adj" fmla="val 3226"/>
            </a:avLst>
          </a:prstGeom>
          <a:solidFill>
            <a:schemeClr val="tx2"/>
          </a:solidFill>
          <a:ln w="9525">
            <a:solidFill>
              <a:schemeClr val="accent2">
                <a:alpha val="50000"/>
              </a:schemeClr>
            </a:solidFill>
            <a:prstDash val="solid"/>
          </a:ln>
        </p:spPr>
      </p:sp>
      <p:pic>
        <p:nvPicPr>
          <p:cNvPr id="12" name="z_before" descr="Zoomed crop before the GAN part">    </p:cNvPr>
          <p:cNvPicPr>
            <a:picLocks noChangeAspect="1"/>
          </p:cNvPicPr>
          <p:nvPr/>
        </p:nvPicPr>
        <p:blipFill>
          <a:blip r:embed="rId1"/>
          <a:stretch>
            <a:fillRect/>
          </a:stretch>
        </p:blipFill>
        <p:spPr>
          <a:xfrm>
            <a:off x="4617720" y="1645920"/>
            <a:ext cx="2194560" cy="2194560"/>
          </a:xfrm>
          <a:prstGeom prst="rect">
            <a:avLst/>
          </a:prstGeom>
        </p:spPr>
      </p:pic>
      <p:sp>
        <p:nvSpPr>
          <p:cNvPr id="13" name="z_final_frame"/>
          <p:cNvSpPr/>
          <p:nvPr/>
        </p:nvSpPr>
        <p:spPr>
          <a:xfrm>
            <a:off x="7004304" y="1609344"/>
            <a:ext cx="2267712" cy="2267712"/>
          </a:xfrm>
          <a:prstGeom prst="roundRect">
            <a:avLst>
              <a:gd name="adj" fmla="val 3226"/>
            </a:avLst>
          </a:prstGeom>
          <a:solidFill>
            <a:schemeClr val="tx2"/>
          </a:solidFill>
          <a:ln w="9525">
            <a:solidFill>
              <a:schemeClr val="accent2">
                <a:alpha val="50000"/>
              </a:schemeClr>
            </a:solidFill>
            <a:prstDash val="solid"/>
          </a:ln>
        </p:spPr>
      </p:sp>
      <p:pic>
        <p:nvPicPr>
          <p:cNvPr id="14" name="z_final" descr="Same crop after the GAN part">    </p:cNvPr>
          <p:cNvPicPr>
            <a:picLocks noChangeAspect="1"/>
          </p:cNvPicPr>
          <p:nvPr/>
        </p:nvPicPr>
        <p:blipFill>
          <a:blip r:embed="rId2"/>
          <a:stretch>
            <a:fillRect/>
          </a:stretch>
        </p:blipFill>
        <p:spPr>
          <a:xfrm>
            <a:off x="7040880" y="1645920"/>
            <a:ext cx="2194560" cy="2194560"/>
          </a:xfrm>
          <a:prstGeom prst="rect">
            <a:avLst/>
          </a:prstGeom>
        </p:spPr>
      </p:pic>
      <p:sp>
        <p:nvSpPr>
          <p:cNvPr id="15" name="z_truth_frame"/>
          <p:cNvSpPr/>
          <p:nvPr/>
        </p:nvSpPr>
        <p:spPr>
          <a:xfrm>
            <a:off x="9427464" y="1609344"/>
            <a:ext cx="2267712" cy="2267712"/>
          </a:xfrm>
          <a:prstGeom prst="roundRect">
            <a:avLst>
              <a:gd name="adj" fmla="val 3226"/>
            </a:avLst>
          </a:prstGeom>
          <a:solidFill>
            <a:schemeClr val="tx2"/>
          </a:solidFill>
          <a:ln w="9525">
            <a:solidFill>
              <a:schemeClr val="accent2">
                <a:alpha val="50000"/>
              </a:schemeClr>
            </a:solidFill>
            <a:prstDash val="solid"/>
          </a:ln>
        </p:spPr>
      </p:sp>
      <p:pic>
        <p:nvPicPr>
          <p:cNvPr id="16" name="z_truth" descr="Same crop of the true clear image">    </p:cNvPr>
          <p:cNvPicPr>
            <a:picLocks noChangeAspect="1"/>
          </p:cNvPicPr>
          <p:nvPr/>
        </p:nvPicPr>
        <p:blipFill>
          <a:blip r:embed="rId3"/>
          <a:stretch>
            <a:fillRect/>
          </a:stretch>
        </p:blipFill>
        <p:spPr>
          <a:xfrm>
            <a:off x="9464040" y="1645920"/>
            <a:ext cx="2194560" cy="2194560"/>
          </a:xfrm>
          <a:prstGeom prst="rect">
            <a:avLst/>
          </a:prstGeom>
        </p:spPr>
      </p:pic>
      <p:sp>
        <p:nvSpPr>
          <p:cNvPr id="17" name="Text 12"/>
          <p:cNvSpPr txBox="1"/>
          <p:nvPr/>
        </p:nvSpPr>
        <p:spPr>
          <a:xfrm>
            <a:off x="4617720" y="3904488"/>
            <a:ext cx="2194560" cy="292608"/>
          </a:xfrm>
          <a:prstGeom prst="rect">
            <a:avLst/>
          </a:prstGeom>
          <a:noFill/>
          <a:ln/>
        </p:spPr>
        <p:txBody>
          <a:bodyPr wrap="square" lIns="0" tIns="0" rIns="0" bIns="0" rtlCol="0" anchor="t"/>
          <a:lstStyle/>
          <a:p>
            <a:pPr algn="ctr" indent="0" marL="0">
              <a:buNone/>
            </a:pPr>
            <a:r>
              <a:rPr lang="en-US" sz="1100" dirty="0">
                <a:solidFill>
                  <a:schemeClr val="bg2"/>
                </a:solidFill>
              </a:rPr>
              <a:t>before GAN</a:t>
            </a:r>
            <a:endParaRPr lang="en-US" sz="1100" dirty="0"/>
          </a:p>
        </p:txBody>
      </p:sp>
      <p:sp>
        <p:nvSpPr>
          <p:cNvPr id="18" name="Text 13"/>
          <p:cNvSpPr txBox="1"/>
          <p:nvPr/>
        </p:nvSpPr>
        <p:spPr>
          <a:xfrm>
            <a:off x="7040880" y="3904488"/>
            <a:ext cx="2194560" cy="292608"/>
          </a:xfrm>
          <a:prstGeom prst="rect">
            <a:avLst/>
          </a:prstGeom>
          <a:noFill/>
          <a:ln/>
        </p:spPr>
        <p:txBody>
          <a:bodyPr wrap="square" lIns="0" tIns="0" rIns="0" bIns="0" rtlCol="0" anchor="t"/>
          <a:lstStyle/>
          <a:p>
            <a:pPr algn="ctr" indent="0" marL="0">
              <a:buNone/>
            </a:pPr>
            <a:r>
              <a:rPr lang="en-US" sz="1100" dirty="0">
                <a:solidFill>
                  <a:schemeClr val="bg2"/>
                </a:solidFill>
              </a:rPr>
              <a:t>final (GAN)</a:t>
            </a:r>
            <a:endParaRPr lang="en-US" sz="1100" dirty="0"/>
          </a:p>
        </p:txBody>
      </p:sp>
      <p:sp>
        <p:nvSpPr>
          <p:cNvPr id="19" name="Text 14"/>
          <p:cNvSpPr txBox="1"/>
          <p:nvPr/>
        </p:nvSpPr>
        <p:spPr>
          <a:xfrm>
            <a:off x="9464040" y="3904488"/>
            <a:ext cx="2194560" cy="292608"/>
          </a:xfrm>
          <a:prstGeom prst="rect">
            <a:avLst/>
          </a:prstGeom>
          <a:noFill/>
          <a:ln/>
        </p:spPr>
        <p:txBody>
          <a:bodyPr wrap="square" lIns="0" tIns="0" rIns="0" bIns="0" rtlCol="0" anchor="t"/>
          <a:lstStyle/>
          <a:p>
            <a:pPr algn="ctr" indent="0" marL="0">
              <a:buNone/>
            </a:pPr>
            <a:r>
              <a:rPr lang="en-US" sz="1100" dirty="0">
                <a:solidFill>
                  <a:schemeClr val="bg2"/>
                </a:solidFill>
              </a:rPr>
              <a:t>true image</a:t>
            </a:r>
            <a:endParaRPr lang="en-US" sz="1100" dirty="0"/>
          </a:p>
        </p:txBody>
      </p:sp>
      <p:sp>
        <p:nvSpPr>
          <p:cNvPr id="20" name="ge_note"/>
          <p:cNvSpPr/>
          <p:nvPr/>
        </p:nvSpPr>
        <p:spPr>
          <a:xfrm>
            <a:off x="4617720" y="4480560"/>
            <a:ext cx="7040880" cy="1600200"/>
          </a:xfrm>
          <a:prstGeom prst="roundRect">
            <a:avLst>
              <a:gd name="adj" fmla="val 6857"/>
            </a:avLst>
          </a:prstGeom>
          <a:solidFill>
            <a:schemeClr val="tx2">
              <a:alpha val="92000"/>
            </a:schemeClr>
          </a:solidFill>
          <a:ln w="9525">
            <a:solidFill>
              <a:schemeClr val="accent1">
                <a:alpha val="45000"/>
              </a:schemeClr>
            </a:solidFill>
            <a:prstDash val="solid"/>
          </a:ln>
        </p:spPr>
      </p:sp>
      <p:sp>
        <p:nvSpPr>
          <p:cNvPr id="21" name="Text 16"/>
          <p:cNvSpPr txBox="1"/>
          <p:nvPr/>
        </p:nvSpPr>
        <p:spPr>
          <a:xfrm>
            <a:off x="4846320" y="4617720"/>
            <a:ext cx="6583680" cy="1371600"/>
          </a:xfrm>
          <a:prstGeom prst="rect">
            <a:avLst/>
          </a:prstGeom>
          <a:noFill/>
          <a:ln/>
        </p:spPr>
        <p:txBody>
          <a:bodyPr wrap="square" lIns="0" tIns="0" rIns="0" bIns="0" rtlCol="0" anchor="t"/>
          <a:lstStyle/>
          <a:p>
            <a:pPr indent="0" marL="0">
              <a:buNone/>
            </a:pPr>
            <a:r>
              <a:rPr lang="en-US" sz="1350" b="1" dirty="0">
                <a:solidFill>
                  <a:schemeClr val="bg1"/>
                </a:solidFill>
              </a:rPr>
              <a:t>The perception-distortion trade-off, measured: </a:t>
            </a:r>
            <a:pPr indent="0" marL="0">
              <a:buNone/>
            </a:pPr>
            <a:r>
              <a:rPr lang="en-US" sz="1350" dirty="0">
                <a:solidFill>
                  <a:schemeClr val="bg2"/>
                </a:solidFill>
              </a:rPr>
              <a:t>realism and pixel accuracy pull in different directions. A stronger GAN would sharpen further - and risk inventing detail. That is why the expert system recommends the before-GAN model for measurements.</a:t>
            </a:r>
            <a:endParaRPr lang="en-US" sz="135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04 · WHAT THE IMAGES SHOW</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Representative test patches - not the best ones</a:t>
            </a:r>
            <a:endParaRPr lang="en-US" sz="3200" dirty="0"/>
          </a:p>
        </p:txBody>
      </p:sp>
      <p:sp>
        <p:nvSpPr>
          <p:cNvPr id="4" name="Text 2"/>
          <p:cNvSpPr txBox="1"/>
          <p:nvPr/>
        </p:nvSpPr>
        <p:spPr>
          <a:xfrm>
            <a:off x="2240280" y="1417320"/>
            <a:ext cx="1252728" cy="274320"/>
          </a:xfrm>
          <a:prstGeom prst="rect">
            <a:avLst/>
          </a:prstGeom>
          <a:noFill/>
          <a:ln/>
        </p:spPr>
        <p:txBody>
          <a:bodyPr wrap="square" lIns="0" tIns="0" rIns="0" bIns="0" rtlCol="0" anchor="t"/>
          <a:lstStyle/>
          <a:p>
            <a:pPr algn="ctr" indent="0" marL="0">
              <a:buNone/>
            </a:pPr>
            <a:r>
              <a:rPr lang="en-US" sz="1200" b="1" dirty="0">
                <a:solidFill>
                  <a:schemeClr val="bg2"/>
                </a:solidFill>
              </a:rPr>
              <a:t>cloudy input</a:t>
            </a:r>
            <a:endParaRPr lang="en-US" sz="1200" dirty="0"/>
          </a:p>
        </p:txBody>
      </p:sp>
      <p:sp>
        <p:nvSpPr>
          <p:cNvPr id="5" name="Text 3"/>
          <p:cNvSpPr txBox="1"/>
          <p:nvPr/>
        </p:nvSpPr>
        <p:spPr>
          <a:xfrm>
            <a:off x="3429000" y="1417320"/>
            <a:ext cx="1252728" cy="274320"/>
          </a:xfrm>
          <a:prstGeom prst="rect">
            <a:avLst/>
          </a:prstGeom>
          <a:noFill/>
          <a:ln/>
        </p:spPr>
        <p:txBody>
          <a:bodyPr wrap="square" lIns="0" tIns="0" rIns="0" bIns="0" rtlCol="0" anchor="t"/>
          <a:lstStyle/>
          <a:p>
            <a:pPr algn="ctr" indent="0" marL="0">
              <a:buNone/>
            </a:pPr>
            <a:r>
              <a:rPr lang="en-US" sz="1200" b="1" dirty="0">
                <a:solidFill>
                  <a:schemeClr val="bg2"/>
                </a:solidFill>
              </a:rPr>
              <a:t>ClearSAR-Net</a:t>
            </a:r>
            <a:endParaRPr lang="en-US" sz="1200" dirty="0"/>
          </a:p>
        </p:txBody>
      </p:sp>
      <p:sp>
        <p:nvSpPr>
          <p:cNvPr id="6" name="Text 4"/>
          <p:cNvSpPr txBox="1"/>
          <p:nvPr/>
        </p:nvSpPr>
        <p:spPr>
          <a:xfrm>
            <a:off x="4617720" y="1417320"/>
            <a:ext cx="1252728" cy="274320"/>
          </a:xfrm>
          <a:prstGeom prst="rect">
            <a:avLst/>
          </a:prstGeom>
          <a:noFill/>
          <a:ln/>
        </p:spPr>
        <p:txBody>
          <a:bodyPr wrap="square" lIns="0" tIns="0" rIns="0" bIns="0" rtlCol="0" anchor="t"/>
          <a:lstStyle/>
          <a:p>
            <a:pPr algn="ctr" indent="0" marL="0">
              <a:buNone/>
            </a:pPr>
            <a:r>
              <a:rPr lang="en-US" sz="1200" b="1" dirty="0">
                <a:solidFill>
                  <a:schemeClr val="bg2"/>
                </a:solidFill>
              </a:rPr>
              <a:t>true image</a:t>
            </a:r>
            <a:endParaRPr lang="en-US" sz="1200" dirty="0"/>
          </a:p>
        </p:txBody>
      </p:sp>
      <p:sp>
        <p:nvSpPr>
          <p:cNvPr id="7" name="Text 5"/>
          <p:cNvSpPr txBox="1"/>
          <p:nvPr/>
        </p:nvSpPr>
        <p:spPr>
          <a:xfrm>
            <a:off x="548640" y="1965960"/>
            <a:ext cx="1691640" cy="548640"/>
          </a:xfrm>
          <a:prstGeom prst="rect">
            <a:avLst/>
          </a:prstGeom>
          <a:noFill/>
          <a:ln/>
        </p:spPr>
        <p:txBody>
          <a:bodyPr wrap="square" lIns="0" tIns="0" rIns="0" bIns="0" rtlCol="0" anchor="t"/>
          <a:lstStyle/>
          <a:p>
            <a:pPr indent="0" marL="0">
              <a:buNone/>
            </a:pPr>
            <a:r>
              <a:rPr lang="en-US" sz="1300" b="1" dirty="0">
                <a:solidFill>
                  <a:schemeClr val="bg1"/>
                </a:solidFill>
              </a:rPr>
              <a:t>China · 2 % cloud</a:t>
            </a:r>
            <a:endParaRPr lang="en-US" sz="1300" dirty="0"/>
          </a:p>
        </p:txBody>
      </p:sp>
      <p:pic>
        <p:nvPicPr>
          <p:cNvPr id="8" name="gal_CN2_cloudy" descr="China · 2 % cloud: cloudy">    </p:cNvPr>
          <p:cNvPicPr>
            <a:picLocks noChangeAspect="1"/>
          </p:cNvPicPr>
          <p:nvPr/>
        </p:nvPicPr>
        <p:blipFill>
          <a:blip r:embed="rId1"/>
          <a:stretch>
            <a:fillRect/>
          </a:stretch>
        </p:blipFill>
        <p:spPr>
          <a:xfrm>
            <a:off x="2331720" y="1737360"/>
            <a:ext cx="1069848" cy="1069848"/>
          </a:xfrm>
          <a:prstGeom prst="rect">
            <a:avLst/>
          </a:prstGeom>
        </p:spPr>
      </p:pic>
      <p:pic>
        <p:nvPicPr>
          <p:cNvPr id="9" name="gal_CN2_final" descr="China · 2 % cloud: final">    </p:cNvPr>
          <p:cNvPicPr>
            <a:picLocks noChangeAspect="1"/>
          </p:cNvPicPr>
          <p:nvPr/>
        </p:nvPicPr>
        <p:blipFill>
          <a:blip r:embed="rId2"/>
          <a:stretch>
            <a:fillRect/>
          </a:stretch>
        </p:blipFill>
        <p:spPr>
          <a:xfrm>
            <a:off x="3520440" y="1737360"/>
            <a:ext cx="1069848" cy="1069848"/>
          </a:xfrm>
          <a:prstGeom prst="rect">
            <a:avLst/>
          </a:prstGeom>
        </p:spPr>
      </p:pic>
      <p:pic>
        <p:nvPicPr>
          <p:cNvPr id="10" name="gal_CN2_truth" descr="China · 2 % cloud: truth">    </p:cNvPr>
          <p:cNvPicPr>
            <a:picLocks noChangeAspect="1"/>
          </p:cNvPicPr>
          <p:nvPr/>
        </p:nvPicPr>
        <p:blipFill>
          <a:blip r:embed="rId3"/>
          <a:stretch>
            <a:fillRect/>
          </a:stretch>
        </p:blipFill>
        <p:spPr>
          <a:xfrm>
            <a:off x="4709160" y="1737360"/>
            <a:ext cx="1069848" cy="1069848"/>
          </a:xfrm>
          <a:prstGeom prst="rect">
            <a:avLst/>
          </a:prstGeom>
        </p:spPr>
      </p:pic>
      <p:sp>
        <p:nvSpPr>
          <p:cNvPr id="11" name="Text 6"/>
          <p:cNvSpPr txBox="1"/>
          <p:nvPr/>
        </p:nvSpPr>
        <p:spPr>
          <a:xfrm>
            <a:off x="5989320" y="1920240"/>
            <a:ext cx="2240280" cy="731520"/>
          </a:xfrm>
          <a:prstGeom prst="rect">
            <a:avLst/>
          </a:prstGeom>
          <a:noFill/>
          <a:ln/>
        </p:spPr>
        <p:txBody>
          <a:bodyPr wrap="square" lIns="0" tIns="0" rIns="0" bIns="0" rtlCol="0" anchor="t"/>
          <a:lstStyle/>
          <a:p>
            <a:pPr indent="0" marL="0">
              <a:buNone/>
            </a:pPr>
            <a:r>
              <a:rPr lang="en-US" sz="1300" dirty="0">
                <a:solidFill>
                  <a:schemeClr val="bg2"/>
                </a:solidFill>
              </a:rPr>
              <a:t>near-perfect; colours shifted to the target date</a:t>
            </a:r>
            <a:endParaRPr lang="en-US" sz="1300" dirty="0"/>
          </a:p>
        </p:txBody>
      </p:sp>
      <p:sp>
        <p:nvSpPr>
          <p:cNvPr id="12" name="Text 7"/>
          <p:cNvSpPr txBox="1"/>
          <p:nvPr/>
        </p:nvSpPr>
        <p:spPr>
          <a:xfrm>
            <a:off x="548640" y="3136392"/>
            <a:ext cx="1691640" cy="548640"/>
          </a:xfrm>
          <a:prstGeom prst="rect">
            <a:avLst/>
          </a:prstGeom>
          <a:noFill/>
          <a:ln/>
        </p:spPr>
        <p:txBody>
          <a:bodyPr wrap="square" lIns="0" tIns="0" rIns="0" bIns="0" rtlCol="0" anchor="t"/>
          <a:lstStyle/>
          <a:p>
            <a:pPr indent="0" marL="0">
              <a:buNone/>
            </a:pPr>
            <a:r>
              <a:rPr lang="en-US" sz="1300" b="1" dirty="0">
                <a:solidFill>
                  <a:schemeClr val="bg1"/>
                </a:solidFill>
              </a:rPr>
              <a:t>France · 31 %</a:t>
            </a:r>
            <a:endParaRPr lang="en-US" sz="1300" dirty="0"/>
          </a:p>
        </p:txBody>
      </p:sp>
      <p:pic>
        <p:nvPicPr>
          <p:cNvPr id="13" name="gal_FR31_cloudy" descr="France · 31 %: cloudy">    </p:cNvPr>
          <p:cNvPicPr>
            <a:picLocks noChangeAspect="1"/>
          </p:cNvPicPr>
          <p:nvPr/>
        </p:nvPicPr>
        <p:blipFill>
          <a:blip r:embed="rId4"/>
          <a:stretch>
            <a:fillRect/>
          </a:stretch>
        </p:blipFill>
        <p:spPr>
          <a:xfrm>
            <a:off x="2331720" y="2907792"/>
            <a:ext cx="1069848" cy="1069848"/>
          </a:xfrm>
          <a:prstGeom prst="rect">
            <a:avLst/>
          </a:prstGeom>
        </p:spPr>
      </p:pic>
      <p:pic>
        <p:nvPicPr>
          <p:cNvPr id="14" name="gal_FR31_final" descr="France · 31 %: final">    </p:cNvPr>
          <p:cNvPicPr>
            <a:picLocks noChangeAspect="1"/>
          </p:cNvPicPr>
          <p:nvPr/>
        </p:nvPicPr>
        <p:blipFill>
          <a:blip r:embed="rId5"/>
          <a:stretch>
            <a:fillRect/>
          </a:stretch>
        </p:blipFill>
        <p:spPr>
          <a:xfrm>
            <a:off x="3520440" y="2907792"/>
            <a:ext cx="1069848" cy="1069848"/>
          </a:xfrm>
          <a:prstGeom prst="rect">
            <a:avLst/>
          </a:prstGeom>
        </p:spPr>
      </p:pic>
      <p:pic>
        <p:nvPicPr>
          <p:cNvPr id="15" name="gal_FR31_truth" descr="France · 31 %: truth">    </p:cNvPr>
          <p:cNvPicPr>
            <a:picLocks noChangeAspect="1"/>
          </p:cNvPicPr>
          <p:nvPr/>
        </p:nvPicPr>
        <p:blipFill>
          <a:blip r:embed="rId6"/>
          <a:stretch>
            <a:fillRect/>
          </a:stretch>
        </p:blipFill>
        <p:spPr>
          <a:xfrm>
            <a:off x="4709160" y="2907792"/>
            <a:ext cx="1069848" cy="1069848"/>
          </a:xfrm>
          <a:prstGeom prst="rect">
            <a:avLst/>
          </a:prstGeom>
        </p:spPr>
      </p:pic>
      <p:sp>
        <p:nvSpPr>
          <p:cNvPr id="16" name="Text 8"/>
          <p:cNvSpPr txBox="1"/>
          <p:nvPr/>
        </p:nvSpPr>
        <p:spPr>
          <a:xfrm>
            <a:off x="5989320" y="3090672"/>
            <a:ext cx="2240280" cy="731520"/>
          </a:xfrm>
          <a:prstGeom prst="rect">
            <a:avLst/>
          </a:prstGeom>
          <a:noFill/>
          <a:ln/>
        </p:spPr>
        <p:txBody>
          <a:bodyPr wrap="square" lIns="0" tIns="0" rIns="0" bIns="0" rtlCol="0" anchor="t"/>
          <a:lstStyle/>
          <a:p>
            <a:pPr indent="0" marL="0">
              <a:buNone/>
            </a:pPr>
            <a:r>
              <a:rPr lang="en-US" sz="1300" dirty="0">
                <a:solidFill>
                  <a:schemeClr val="bg2"/>
                </a:solidFill>
              </a:rPr>
              <a:t>clouds and shadows gone; detail soft</a:t>
            </a:r>
            <a:endParaRPr lang="en-US" sz="1300" dirty="0"/>
          </a:p>
        </p:txBody>
      </p:sp>
      <p:sp>
        <p:nvSpPr>
          <p:cNvPr id="17" name="Text 9"/>
          <p:cNvSpPr txBox="1"/>
          <p:nvPr/>
        </p:nvSpPr>
        <p:spPr>
          <a:xfrm>
            <a:off x="548640" y="4306824"/>
            <a:ext cx="1691640" cy="548640"/>
          </a:xfrm>
          <a:prstGeom prst="rect">
            <a:avLst/>
          </a:prstGeom>
          <a:noFill/>
          <a:ln/>
        </p:spPr>
        <p:txBody>
          <a:bodyPr wrap="square" lIns="0" tIns="0" rIns="0" bIns="0" rtlCol="0" anchor="t"/>
          <a:lstStyle/>
          <a:p>
            <a:pPr indent="0" marL="0">
              <a:buNone/>
            </a:pPr>
            <a:r>
              <a:rPr lang="en-US" sz="1300" b="1" dirty="0">
                <a:solidFill>
                  <a:schemeClr val="bg1"/>
                </a:solidFill>
              </a:rPr>
              <a:t>Portugal · 81 %</a:t>
            </a:r>
            <a:endParaRPr lang="en-US" sz="1300" dirty="0"/>
          </a:p>
        </p:txBody>
      </p:sp>
      <p:pic>
        <p:nvPicPr>
          <p:cNvPr id="18" name="gal_PT81_cloudy" descr="Portugal · 81 %: cloudy">    </p:cNvPr>
          <p:cNvPicPr>
            <a:picLocks noChangeAspect="1"/>
          </p:cNvPicPr>
          <p:nvPr/>
        </p:nvPicPr>
        <p:blipFill>
          <a:blip r:embed="rId7"/>
          <a:stretch>
            <a:fillRect/>
          </a:stretch>
        </p:blipFill>
        <p:spPr>
          <a:xfrm>
            <a:off x="2331720" y="4078224"/>
            <a:ext cx="1069848" cy="1069848"/>
          </a:xfrm>
          <a:prstGeom prst="rect">
            <a:avLst/>
          </a:prstGeom>
        </p:spPr>
      </p:pic>
      <p:pic>
        <p:nvPicPr>
          <p:cNvPr id="19" name="gal_PT81_final" descr="Portugal · 81 %: final">    </p:cNvPr>
          <p:cNvPicPr>
            <a:picLocks noChangeAspect="1"/>
          </p:cNvPicPr>
          <p:nvPr/>
        </p:nvPicPr>
        <p:blipFill>
          <a:blip r:embed="rId8"/>
          <a:stretch>
            <a:fillRect/>
          </a:stretch>
        </p:blipFill>
        <p:spPr>
          <a:xfrm>
            <a:off x="3520440" y="4078224"/>
            <a:ext cx="1069848" cy="1069848"/>
          </a:xfrm>
          <a:prstGeom prst="rect">
            <a:avLst/>
          </a:prstGeom>
        </p:spPr>
      </p:pic>
      <p:pic>
        <p:nvPicPr>
          <p:cNvPr id="20" name="gal_PT81_truth" descr="Portugal · 81 %: truth">    </p:cNvPr>
          <p:cNvPicPr>
            <a:picLocks noChangeAspect="1"/>
          </p:cNvPicPr>
          <p:nvPr/>
        </p:nvPicPr>
        <p:blipFill>
          <a:blip r:embed="rId9"/>
          <a:stretch>
            <a:fillRect/>
          </a:stretch>
        </p:blipFill>
        <p:spPr>
          <a:xfrm>
            <a:off x="4709160" y="4078224"/>
            <a:ext cx="1069848" cy="1069848"/>
          </a:xfrm>
          <a:prstGeom prst="rect">
            <a:avLst/>
          </a:prstGeom>
        </p:spPr>
      </p:pic>
      <p:sp>
        <p:nvSpPr>
          <p:cNvPr id="21" name="Text 10"/>
          <p:cNvSpPr txBox="1"/>
          <p:nvPr/>
        </p:nvSpPr>
        <p:spPr>
          <a:xfrm>
            <a:off x="5989320" y="4261104"/>
            <a:ext cx="2240280" cy="731520"/>
          </a:xfrm>
          <a:prstGeom prst="rect">
            <a:avLst/>
          </a:prstGeom>
          <a:noFill/>
          <a:ln/>
        </p:spPr>
        <p:txBody>
          <a:bodyPr wrap="square" lIns="0" tIns="0" rIns="0" bIns="0" rtlCol="0" anchor="t"/>
          <a:lstStyle/>
          <a:p>
            <a:pPr indent="0" marL="0">
              <a:buNone/>
            </a:pPr>
            <a:r>
              <a:rPr lang="en-US" sz="1300" dirty="0">
                <a:solidFill>
                  <a:schemeClr val="bg2"/>
                </a:solidFill>
              </a:rPr>
              <a:t>layout and colours from radar; fine detail lost</a:t>
            </a:r>
            <a:endParaRPr lang="en-US" sz="1300" dirty="0"/>
          </a:p>
        </p:txBody>
      </p:sp>
      <p:sp>
        <p:nvSpPr>
          <p:cNvPr id="22" name="Text 11"/>
          <p:cNvSpPr txBox="1"/>
          <p:nvPr/>
        </p:nvSpPr>
        <p:spPr>
          <a:xfrm>
            <a:off x="548640" y="5477256"/>
            <a:ext cx="1691640" cy="548640"/>
          </a:xfrm>
          <a:prstGeom prst="rect">
            <a:avLst/>
          </a:prstGeom>
          <a:noFill/>
          <a:ln/>
        </p:spPr>
        <p:txBody>
          <a:bodyPr wrap="square" lIns="0" tIns="0" rIns="0" bIns="0" rtlCol="0" anchor="t"/>
          <a:lstStyle/>
          <a:p>
            <a:pPr indent="0" marL="0">
              <a:buNone/>
            </a:pPr>
            <a:r>
              <a:rPr lang="en-US" sz="1300" b="1" dirty="0">
                <a:solidFill>
                  <a:schemeClr val="bg1"/>
                </a:solidFill>
              </a:rPr>
              <a:t>Turkmenistan · 99 %</a:t>
            </a:r>
            <a:endParaRPr lang="en-US" sz="1300" dirty="0"/>
          </a:p>
        </p:txBody>
      </p:sp>
      <p:pic>
        <p:nvPicPr>
          <p:cNvPr id="23" name="gal_TM99_cloudy" descr="Turkmenistan · 99 %: cloudy">    </p:cNvPr>
          <p:cNvPicPr>
            <a:picLocks noChangeAspect="1"/>
          </p:cNvPicPr>
          <p:nvPr/>
        </p:nvPicPr>
        <p:blipFill>
          <a:blip r:embed="rId10"/>
          <a:stretch>
            <a:fillRect/>
          </a:stretch>
        </p:blipFill>
        <p:spPr>
          <a:xfrm>
            <a:off x="2331720" y="5248656"/>
            <a:ext cx="1069848" cy="1069848"/>
          </a:xfrm>
          <a:prstGeom prst="rect">
            <a:avLst/>
          </a:prstGeom>
        </p:spPr>
      </p:pic>
      <p:pic>
        <p:nvPicPr>
          <p:cNvPr id="24" name="gal_TM99_final" descr="Turkmenistan · 99 %: final">    </p:cNvPr>
          <p:cNvPicPr>
            <a:picLocks noChangeAspect="1"/>
          </p:cNvPicPr>
          <p:nvPr/>
        </p:nvPicPr>
        <p:blipFill>
          <a:blip r:embed="rId11"/>
          <a:stretch>
            <a:fillRect/>
          </a:stretch>
        </p:blipFill>
        <p:spPr>
          <a:xfrm>
            <a:off x="3520440" y="5248656"/>
            <a:ext cx="1069848" cy="1069848"/>
          </a:xfrm>
          <a:prstGeom prst="rect">
            <a:avLst/>
          </a:prstGeom>
        </p:spPr>
      </p:pic>
      <p:pic>
        <p:nvPicPr>
          <p:cNvPr id="25" name="gal_TM99_truth" descr="Turkmenistan · 99 %: truth">    </p:cNvPr>
          <p:cNvPicPr>
            <a:picLocks noChangeAspect="1"/>
          </p:cNvPicPr>
          <p:nvPr/>
        </p:nvPicPr>
        <p:blipFill>
          <a:blip r:embed="rId12"/>
          <a:stretch>
            <a:fillRect/>
          </a:stretch>
        </p:blipFill>
        <p:spPr>
          <a:xfrm>
            <a:off x="4709160" y="5248656"/>
            <a:ext cx="1069848" cy="1069848"/>
          </a:xfrm>
          <a:prstGeom prst="rect">
            <a:avLst/>
          </a:prstGeom>
        </p:spPr>
      </p:pic>
      <p:sp>
        <p:nvSpPr>
          <p:cNvPr id="26" name="Text 12"/>
          <p:cNvSpPr txBox="1"/>
          <p:nvPr/>
        </p:nvSpPr>
        <p:spPr>
          <a:xfrm>
            <a:off x="5989320" y="5431536"/>
            <a:ext cx="2240280" cy="731520"/>
          </a:xfrm>
          <a:prstGeom prst="rect">
            <a:avLst/>
          </a:prstGeom>
          <a:noFill/>
          <a:ln/>
        </p:spPr>
        <p:txBody>
          <a:bodyPr wrap="square" lIns="0" tIns="0" rIns="0" bIns="0" rtlCol="0" anchor="t"/>
          <a:lstStyle/>
          <a:p>
            <a:pPr indent="0" marL="0">
              <a:buNone/>
            </a:pPr>
            <a:r>
              <a:rPr lang="en-US" sz="1300" dirty="0">
                <a:solidFill>
                  <a:schemeClr val="bg2"/>
                </a:solidFill>
              </a:rPr>
              <a:t>only the large-scale pattern survives</a:t>
            </a:r>
            <a:endParaRPr lang="en-US" sz="1300" dirty="0"/>
          </a:p>
        </p:txBody>
      </p:sp>
      <p:sp>
        <p:nvSpPr>
          <p:cNvPr id="27" name="gal_panel"/>
          <p:cNvSpPr/>
          <p:nvPr/>
        </p:nvSpPr>
        <p:spPr>
          <a:xfrm>
            <a:off x="8366760" y="1737360"/>
            <a:ext cx="3273552" cy="4480560"/>
          </a:xfrm>
          <a:prstGeom prst="roundRect">
            <a:avLst>
              <a:gd name="adj" fmla="val 3352"/>
            </a:avLst>
          </a:prstGeom>
          <a:solidFill>
            <a:schemeClr val="tx2">
              <a:alpha val="92000"/>
            </a:schemeClr>
          </a:solidFill>
          <a:ln w="9525">
            <a:solidFill>
              <a:schemeClr val="accent1">
                <a:alpha val="45000"/>
              </a:schemeClr>
            </a:solidFill>
            <a:prstDash val="solid"/>
          </a:ln>
        </p:spPr>
      </p:sp>
      <p:sp>
        <p:nvSpPr>
          <p:cNvPr id="28" name="Text 14"/>
          <p:cNvSpPr txBox="1"/>
          <p:nvPr/>
        </p:nvSpPr>
        <p:spPr>
          <a:xfrm>
            <a:off x="8595360" y="1920240"/>
            <a:ext cx="2834640" cy="4114800"/>
          </a:xfrm>
          <a:prstGeom prst="rect">
            <a:avLst/>
          </a:prstGeom>
          <a:noFill/>
          <a:ln/>
        </p:spPr>
        <p:txBody>
          <a:bodyPr wrap="square" lIns="0" tIns="0" rIns="0" bIns="0" rtlCol="0" anchor="t"/>
          <a:lstStyle/>
          <a:p>
            <a:pPr indent="0" marL="0">
              <a:spcAft>
                <a:spcPts val="1000"/>
              </a:spcAft>
              <a:buNone/>
            </a:pPr>
            <a:r>
              <a:rPr lang="en-US" sz="1400" b="1" dirty="0">
                <a:solidFill>
                  <a:schemeClr val="bg1"/>
                </a:solidFill>
              </a:rPr>
              <a:t>Honest reading</a:t>
            </a:r>
            <a:endParaRPr lang="en-US" sz="1400" dirty="0"/>
          </a:p>
          <a:p>
            <a:pPr indent="0" marL="0">
              <a:spcAft>
                <a:spcPts val="1000"/>
              </a:spcAft>
              <a:buNone/>
            </a:pPr>
            <a:r>
              <a:rPr lang="en-US" sz="1400" dirty="0">
                <a:solidFill>
                  <a:schemeClr val="bg2"/>
                </a:solidFill>
              </a:rPr>
              <a:t>Light cloud: close to the truth.</a:t>
            </a:r>
            <a:endParaRPr lang="en-US" sz="1400" dirty="0"/>
          </a:p>
          <a:p>
            <a:pPr indent="0" marL="0">
              <a:spcAft>
                <a:spcPts val="1000"/>
              </a:spcAft>
              <a:buNone/>
            </a:pPr>
            <a:r>
              <a:rPr lang="en-US" sz="1400" dirty="0">
                <a:solidFill>
                  <a:schemeClr val="bg2"/>
                </a:solidFill>
              </a:rPr>
              <a:t>Heavy cloud: plausible layout and colour, no fine detail - 10 m radar does not contain it.</a:t>
            </a:r>
            <a:endParaRPr lang="en-US" sz="1400" dirty="0"/>
          </a:p>
          <a:p>
            <a:pPr indent="0" marL="0">
              <a:spcAft>
                <a:spcPts val="1000"/>
              </a:spcAft>
              <a:buNone/>
            </a:pPr>
            <a:r>
              <a:rPr lang="en-US" sz="1400" dirty="0">
                <a:solidFill>
                  <a:schemeClr val="bg2"/>
                </a:solidFill>
              </a:rPr>
              <a:t>Some 'errors' are real changes between the two dates that no model can know.</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05 · EXPLAINABLE DECISION SUPPORT</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The ClearSAR Advisor: should you trust this reconstruction?</a:t>
            </a:r>
            <a:endParaRPr lang="en-US" sz="3200" dirty="0"/>
          </a:p>
        </p:txBody>
      </p:sp>
      <p:sp>
        <p:nvSpPr>
          <p:cNvPr id="4" name="flow0"/>
          <p:cNvSpPr/>
          <p:nvPr/>
        </p:nvSpPr>
        <p:spPr>
          <a:xfrm>
            <a:off x="548640" y="1645920"/>
            <a:ext cx="3474720" cy="2286000"/>
          </a:xfrm>
          <a:prstGeom prst="roundRect">
            <a:avLst>
              <a:gd name="adj" fmla="val 4800"/>
            </a:avLst>
          </a:prstGeom>
          <a:solidFill>
            <a:schemeClr val="tx2">
              <a:alpha val="92000"/>
            </a:schemeClr>
          </a:solidFill>
          <a:ln w="9525">
            <a:solidFill>
              <a:schemeClr val="accent2">
                <a:alpha val="45000"/>
              </a:schemeClr>
            </a:solidFill>
            <a:prstDash val="solid"/>
          </a:ln>
        </p:spPr>
      </p:sp>
      <p:sp>
        <p:nvSpPr>
          <p:cNvPr id="5" name="flowi0_dot"/>
          <p:cNvSpPr/>
          <p:nvPr/>
        </p:nvSpPr>
        <p:spPr>
          <a:xfrm>
            <a:off x="777240" y="1828800"/>
            <a:ext cx="594360" cy="594360"/>
          </a:xfrm>
          <a:prstGeom prst="ellipse">
            <a:avLst/>
          </a:prstGeom>
          <a:solidFill>
            <a:schemeClr val="accent2"/>
          </a:solidFill>
          <a:ln w="12700">
            <a:solidFill>
              <a:schemeClr val="accent2"/>
            </a:solidFill>
            <a:prstDash val="solid"/>
          </a:ln>
        </p:spPr>
      </p:sp>
      <p:pic>
        <p:nvPicPr>
          <p:cNvPr id="6" name="flowi0_icon" descr="preencoded.png">    </p:cNvPr>
          <p:cNvPicPr>
            <a:picLocks noChangeAspect="1"/>
          </p:cNvPicPr>
          <p:nvPr/>
        </p:nvPicPr>
        <p:blipFill>
          <a:blip r:embed="rId1"/>
          <a:stretch>
            <a:fillRect/>
          </a:stretch>
        </p:blipFill>
        <p:spPr>
          <a:xfrm>
            <a:off x="919886" y="1971446"/>
            <a:ext cx="309067" cy="309067"/>
          </a:xfrm>
          <a:prstGeom prst="rect">
            <a:avLst/>
          </a:prstGeom>
        </p:spPr>
      </p:pic>
      <p:sp>
        <p:nvSpPr>
          <p:cNvPr id="7" name="Text 4"/>
          <p:cNvSpPr txBox="1"/>
          <p:nvPr/>
        </p:nvSpPr>
        <p:spPr>
          <a:xfrm>
            <a:off x="1508760" y="1920240"/>
            <a:ext cx="2377440" cy="411480"/>
          </a:xfrm>
          <a:prstGeom prst="rect">
            <a:avLst/>
          </a:prstGeom>
          <a:noFill/>
          <a:ln/>
        </p:spPr>
        <p:txBody>
          <a:bodyPr wrap="square" lIns="0" tIns="0" rIns="0" bIns="0" rtlCol="0" anchor="t"/>
          <a:lstStyle/>
          <a:p>
            <a:pPr indent="0" marL="0">
              <a:buNone/>
            </a:pPr>
            <a:r>
              <a:rPr lang="en-US" sz="1700" b="1" dirty="0">
                <a:solidFill>
                  <a:schemeClr val="bg1"/>
                </a:solidFill>
              </a:rPr>
              <a:t>Facts</a:t>
            </a:r>
            <a:endParaRPr lang="en-US" sz="1700" dirty="0"/>
          </a:p>
        </p:txBody>
      </p:sp>
      <p:sp>
        <p:nvSpPr>
          <p:cNvPr id="8" name="Text 5"/>
          <p:cNvSpPr txBox="1"/>
          <p:nvPr/>
        </p:nvSpPr>
        <p:spPr>
          <a:xfrm>
            <a:off x="777240" y="2606040"/>
            <a:ext cx="3063240" cy="1554480"/>
          </a:xfrm>
          <a:prstGeom prst="rect">
            <a:avLst/>
          </a:prstGeom>
          <a:noFill/>
          <a:ln/>
        </p:spPr>
        <p:txBody>
          <a:bodyPr wrap="square" lIns="0" tIns="0" rIns="0" bIns="0" rtlCol="0" anchor="t"/>
          <a:lstStyle/>
          <a:p>
            <a:pPr indent="0" marL="0">
              <a:buNone/>
            </a:pPr>
            <a:r>
              <a:rPr lang="en-US" sz="1250" dirty="0">
                <a:solidFill>
                  <a:schemeClr val="bg2"/>
                </a:solidFill>
              </a:rPr>
              <a:t>measured on the patch and the model: cloud cover, cirrus, open water, radar reliance (occlusion), model disagreement, flip-test uncertainty, test-set experience per cloud level</a:t>
            </a:r>
            <a:endParaRPr lang="en-US" sz="1250" dirty="0"/>
          </a:p>
        </p:txBody>
      </p:sp>
      <p:sp>
        <p:nvSpPr>
          <p:cNvPr id="9" name="flowarrow0"/>
          <p:cNvSpPr/>
          <p:nvPr/>
        </p:nvSpPr>
        <p:spPr>
          <a:xfrm>
            <a:off x="4050792" y="2606040"/>
            <a:ext cx="274320" cy="365760"/>
          </a:xfrm>
          <a:prstGeom prst="rightArrow">
            <a:avLst/>
          </a:prstGeom>
          <a:solidFill>
            <a:schemeClr val="accent1"/>
          </a:solidFill>
          <a:ln w="12700">
            <a:solidFill>
              <a:schemeClr val="accent1"/>
            </a:solidFill>
            <a:prstDash val="solid"/>
          </a:ln>
        </p:spPr>
      </p:sp>
      <p:sp>
        <p:nvSpPr>
          <p:cNvPr id="10" name="flow1"/>
          <p:cNvSpPr/>
          <p:nvPr/>
        </p:nvSpPr>
        <p:spPr>
          <a:xfrm>
            <a:off x="4343400" y="1645920"/>
            <a:ext cx="3474720" cy="2286000"/>
          </a:xfrm>
          <a:prstGeom prst="roundRect">
            <a:avLst>
              <a:gd name="adj" fmla="val 4800"/>
            </a:avLst>
          </a:prstGeom>
          <a:solidFill>
            <a:schemeClr val="tx2">
              <a:alpha val="92000"/>
            </a:schemeClr>
          </a:solidFill>
          <a:ln w="9525">
            <a:solidFill>
              <a:schemeClr val="accent3">
                <a:alpha val="45000"/>
              </a:schemeClr>
            </a:solidFill>
            <a:prstDash val="solid"/>
          </a:ln>
        </p:spPr>
      </p:sp>
      <p:sp>
        <p:nvSpPr>
          <p:cNvPr id="11" name="flowi1_dot"/>
          <p:cNvSpPr/>
          <p:nvPr/>
        </p:nvSpPr>
        <p:spPr>
          <a:xfrm>
            <a:off x="4572000" y="1828800"/>
            <a:ext cx="594360" cy="594360"/>
          </a:xfrm>
          <a:prstGeom prst="ellipse">
            <a:avLst/>
          </a:prstGeom>
          <a:solidFill>
            <a:schemeClr val="accent3"/>
          </a:solidFill>
          <a:ln w="12700">
            <a:solidFill>
              <a:schemeClr val="accent3"/>
            </a:solidFill>
            <a:prstDash val="solid"/>
          </a:ln>
        </p:spPr>
      </p:sp>
      <p:pic>
        <p:nvPicPr>
          <p:cNvPr id="12" name="flowi1_icon" descr="preencoded.png">    </p:cNvPr>
          <p:cNvPicPr>
            <a:picLocks noChangeAspect="1"/>
          </p:cNvPicPr>
          <p:nvPr/>
        </p:nvPicPr>
        <p:blipFill>
          <a:blip r:embed="rId2"/>
          <a:stretch>
            <a:fillRect/>
          </a:stretch>
        </p:blipFill>
        <p:spPr>
          <a:xfrm>
            <a:off x="4714646" y="1971446"/>
            <a:ext cx="309067" cy="309067"/>
          </a:xfrm>
          <a:prstGeom prst="rect">
            <a:avLst/>
          </a:prstGeom>
        </p:spPr>
      </p:pic>
      <p:sp>
        <p:nvSpPr>
          <p:cNvPr id="13" name="Text 9"/>
          <p:cNvSpPr txBox="1"/>
          <p:nvPr/>
        </p:nvSpPr>
        <p:spPr>
          <a:xfrm>
            <a:off x="5303520" y="1920240"/>
            <a:ext cx="2377440" cy="411480"/>
          </a:xfrm>
          <a:prstGeom prst="rect">
            <a:avLst/>
          </a:prstGeom>
          <a:noFill/>
          <a:ln/>
        </p:spPr>
        <p:txBody>
          <a:bodyPr wrap="square" lIns="0" tIns="0" rIns="0" bIns="0" rtlCol="0" anchor="t"/>
          <a:lstStyle/>
          <a:p>
            <a:pPr indent="0" marL="0">
              <a:buNone/>
            </a:pPr>
            <a:r>
              <a:rPr lang="en-US" sz="1700" b="1" dirty="0">
                <a:solidFill>
                  <a:schemeClr val="bg1"/>
                </a:solidFill>
              </a:rPr>
              <a:t>38 IF-THEN rules</a:t>
            </a:r>
            <a:endParaRPr lang="en-US" sz="1700" dirty="0"/>
          </a:p>
        </p:txBody>
      </p:sp>
      <p:sp>
        <p:nvSpPr>
          <p:cNvPr id="14" name="Text 10"/>
          <p:cNvSpPr txBox="1"/>
          <p:nvPr/>
        </p:nvSpPr>
        <p:spPr>
          <a:xfrm>
            <a:off x="4572000" y="2606040"/>
            <a:ext cx="3063240" cy="1554480"/>
          </a:xfrm>
          <a:prstGeom prst="rect">
            <a:avLst/>
          </a:prstGeom>
          <a:noFill/>
          <a:ln/>
        </p:spPr>
        <p:txBody>
          <a:bodyPr wrap="square" lIns="0" tIns="0" rIns="0" bIns="0" rtlCol="0" anchor="t"/>
          <a:lstStyle/>
          <a:p>
            <a:pPr indent="0" marL="0">
              <a:buNone/>
            </a:pPr>
            <a:r>
              <a:rPr lang="en-US" sz="1250" dirty="0">
                <a:solidFill>
                  <a:schemeClr val="bg2"/>
                </a:solidFill>
              </a:rPr>
              <a:t>knowledge base in YAML, five groups: observations → trust → model → suitability → action; MYCIN certainty factors</a:t>
            </a:r>
            <a:endParaRPr lang="en-US" sz="1250" dirty="0"/>
          </a:p>
        </p:txBody>
      </p:sp>
      <p:sp>
        <p:nvSpPr>
          <p:cNvPr id="15" name="flowarrow1"/>
          <p:cNvSpPr/>
          <p:nvPr/>
        </p:nvSpPr>
        <p:spPr>
          <a:xfrm>
            <a:off x="7845552" y="2606040"/>
            <a:ext cx="274320" cy="365760"/>
          </a:xfrm>
          <a:prstGeom prst="rightArrow">
            <a:avLst/>
          </a:prstGeom>
          <a:solidFill>
            <a:schemeClr val="accent1"/>
          </a:solidFill>
          <a:ln w="12700">
            <a:solidFill>
              <a:schemeClr val="accent1"/>
            </a:solidFill>
            <a:prstDash val="solid"/>
          </a:ln>
        </p:spPr>
      </p:sp>
      <p:sp>
        <p:nvSpPr>
          <p:cNvPr id="16" name="flow2"/>
          <p:cNvSpPr/>
          <p:nvPr/>
        </p:nvSpPr>
        <p:spPr>
          <a:xfrm>
            <a:off x="8138160" y="1645920"/>
            <a:ext cx="3474720" cy="2286000"/>
          </a:xfrm>
          <a:prstGeom prst="roundRect">
            <a:avLst>
              <a:gd name="adj" fmla="val 4800"/>
            </a:avLst>
          </a:prstGeom>
          <a:solidFill>
            <a:schemeClr val="tx2">
              <a:alpha val="92000"/>
            </a:schemeClr>
          </a:solidFill>
          <a:ln w="9525">
            <a:solidFill>
              <a:schemeClr val="accent1">
                <a:alpha val="45000"/>
              </a:schemeClr>
            </a:solidFill>
            <a:prstDash val="solid"/>
          </a:ln>
        </p:spPr>
      </p:sp>
      <p:sp>
        <p:nvSpPr>
          <p:cNvPr id="17" name="flowi2_dot"/>
          <p:cNvSpPr/>
          <p:nvPr/>
        </p:nvSpPr>
        <p:spPr>
          <a:xfrm>
            <a:off x="8366760" y="1828800"/>
            <a:ext cx="594360" cy="594360"/>
          </a:xfrm>
          <a:prstGeom prst="ellipse">
            <a:avLst/>
          </a:prstGeom>
          <a:solidFill>
            <a:schemeClr val="accent1"/>
          </a:solidFill>
          <a:ln w="12700">
            <a:solidFill>
              <a:schemeClr val="accent1"/>
            </a:solidFill>
            <a:prstDash val="solid"/>
          </a:ln>
        </p:spPr>
      </p:sp>
      <p:pic>
        <p:nvPicPr>
          <p:cNvPr id="18" name="flowi2_icon" descr="preencoded.png">    </p:cNvPr>
          <p:cNvPicPr>
            <a:picLocks noChangeAspect="1"/>
          </p:cNvPicPr>
          <p:nvPr/>
        </p:nvPicPr>
        <p:blipFill>
          <a:blip r:embed="rId3"/>
          <a:stretch>
            <a:fillRect/>
          </a:stretch>
        </p:blipFill>
        <p:spPr>
          <a:xfrm>
            <a:off x="8509406" y="1971446"/>
            <a:ext cx="309067" cy="309067"/>
          </a:xfrm>
          <a:prstGeom prst="rect">
            <a:avLst/>
          </a:prstGeom>
        </p:spPr>
      </p:pic>
      <p:sp>
        <p:nvSpPr>
          <p:cNvPr id="19" name="Text 14"/>
          <p:cNvSpPr txBox="1"/>
          <p:nvPr/>
        </p:nvSpPr>
        <p:spPr>
          <a:xfrm>
            <a:off x="9098280" y="1920240"/>
            <a:ext cx="2377440" cy="411480"/>
          </a:xfrm>
          <a:prstGeom prst="rect">
            <a:avLst/>
          </a:prstGeom>
          <a:noFill/>
          <a:ln/>
        </p:spPr>
        <p:txBody>
          <a:bodyPr wrap="square" lIns="0" tIns="0" rIns="0" bIns="0" rtlCol="0" anchor="t"/>
          <a:lstStyle/>
          <a:p>
            <a:pPr indent="0" marL="0">
              <a:buNone/>
            </a:pPr>
            <a:r>
              <a:rPr lang="en-US" sz="1700" b="1" dirty="0">
                <a:solidFill>
                  <a:schemeClr val="bg1"/>
                </a:solidFill>
              </a:rPr>
              <a:t>Decision + explanation</a:t>
            </a:r>
            <a:endParaRPr lang="en-US" sz="1700" dirty="0"/>
          </a:p>
        </p:txBody>
      </p:sp>
      <p:sp>
        <p:nvSpPr>
          <p:cNvPr id="20" name="Text 15"/>
          <p:cNvSpPr txBox="1"/>
          <p:nvPr/>
        </p:nvSpPr>
        <p:spPr>
          <a:xfrm>
            <a:off x="8366760" y="2606040"/>
            <a:ext cx="3063240" cy="1554480"/>
          </a:xfrm>
          <a:prstGeom prst="rect">
            <a:avLst/>
          </a:prstGeom>
          <a:noFill/>
          <a:ln/>
        </p:spPr>
        <p:txBody>
          <a:bodyPr wrap="square" lIns="0" tIns="0" rIns="0" bIns="0" rtlCol="0" anchor="t"/>
          <a:lstStyle/>
          <a:p>
            <a:pPr indent="0" marL="0">
              <a:buNone/>
            </a:pPr>
            <a:r>
              <a:rPr lang="en-US" sz="1250" dirty="0">
                <a:solidFill>
                  <a:schemeClr val="bg2"/>
                </a:solidFill>
              </a:rPr>
              <a:t>trust · recommended model · fit for purpose · action - with how, why-not and visual evidence</a:t>
            </a:r>
            <a:endParaRPr lang="en-US" sz="1250" dirty="0"/>
          </a:p>
        </p:txBody>
      </p:sp>
      <p:sp>
        <p:nvSpPr>
          <p:cNvPr id="21" name="Text 16"/>
          <p:cNvSpPr txBox="1"/>
          <p:nvPr/>
        </p:nvSpPr>
        <p:spPr>
          <a:xfrm>
            <a:off x="548640" y="4297680"/>
            <a:ext cx="7315200" cy="365760"/>
          </a:xfrm>
          <a:prstGeom prst="rect">
            <a:avLst/>
          </a:prstGeom>
          <a:noFill/>
          <a:ln/>
        </p:spPr>
        <p:txBody>
          <a:bodyPr wrap="square" lIns="0" tIns="0" rIns="0" bIns="0" rtlCol="0" anchor="t"/>
          <a:lstStyle/>
          <a:p>
            <a:pPr indent="0" marL="0">
              <a:buNone/>
            </a:pPr>
            <a:r>
              <a:rPr lang="en-US" sz="1500" b="1" dirty="0">
                <a:solidFill>
                  <a:schemeClr val="bg1"/>
                </a:solidFill>
              </a:rPr>
              <a:t>Example decisions on real test patches</a:t>
            </a:r>
            <a:endParaRPr lang="en-US" sz="1500" dirty="0"/>
          </a:p>
        </p:txBody>
      </p:sp>
      <p:sp>
        <p:nvSpPr>
          <p:cNvPr id="22" name="Text 17"/>
          <p:cNvSpPr txBox="1"/>
          <p:nvPr/>
        </p:nvSpPr>
        <p:spPr>
          <a:xfrm>
            <a:off x="548640" y="4754880"/>
            <a:ext cx="3520440" cy="1280160"/>
          </a:xfrm>
          <a:prstGeom prst="rect">
            <a:avLst/>
          </a:prstGeom>
          <a:noFill/>
          <a:ln/>
        </p:spPr>
        <p:txBody>
          <a:bodyPr wrap="square" lIns="0" tIns="0" rIns="0" bIns="0" rtlCol="0" anchor="t"/>
          <a:lstStyle/>
          <a:p>
            <a:pPr indent="0" marL="0">
              <a:buNone/>
            </a:pPr>
            <a:r>
              <a:rPr lang="en-US" sz="1400" b="1" dirty="0">
                <a:solidFill>
                  <a:schemeClr val="bg1"/>
                </a:solidFill>
              </a:rPr>
              <a:t>Visual inspection </a:t>
            </a:r>
            <a:pPr indent="0" marL="0">
              <a:buNone/>
            </a:pPr>
            <a:r>
              <a:rPr lang="en-US" sz="1400" b="1" dirty="0">
                <a:solidFill>
                  <a:schemeClr val="accent1"/>
                </a:solidFill>
              </a:rPr>
              <a:t>→ final (GAN) model</a:t>
            </a:r>
            <a:endParaRPr lang="en-US" sz="1400" dirty="0"/>
          </a:p>
          <a:p>
            <a:pPr indent="0" marL="0">
              <a:buNone/>
            </a:pPr>
            <a:r>
              <a:rPr lang="en-US" sz="1200" dirty="0">
                <a:solidFill>
                  <a:schemeClr val="bg2"/>
                </a:solidFill>
              </a:rPr>
              <a:t>rule M5: the test shows the GAN costs &lt; 0.3 dB at this cloud level</a:t>
            </a:r>
            <a:endParaRPr lang="en-US" sz="1400" dirty="0"/>
          </a:p>
        </p:txBody>
      </p:sp>
      <p:sp>
        <p:nvSpPr>
          <p:cNvPr id="23" name="Text 18"/>
          <p:cNvSpPr txBox="1"/>
          <p:nvPr/>
        </p:nvSpPr>
        <p:spPr>
          <a:xfrm>
            <a:off x="4343400" y="4754880"/>
            <a:ext cx="3520440" cy="1280160"/>
          </a:xfrm>
          <a:prstGeom prst="rect">
            <a:avLst/>
          </a:prstGeom>
          <a:noFill/>
          <a:ln/>
        </p:spPr>
        <p:txBody>
          <a:bodyPr wrap="square" lIns="0" tIns="0" rIns="0" bIns="0" rtlCol="0" anchor="t"/>
          <a:lstStyle/>
          <a:p>
            <a:pPr indent="0" marL="0">
              <a:buNone/>
            </a:pPr>
            <a:r>
              <a:rPr lang="en-US" sz="1400" b="1" dirty="0">
                <a:solidFill>
                  <a:schemeClr val="bg1"/>
                </a:solidFill>
              </a:rPr>
              <a:t>Vegetation monitoring </a:t>
            </a:r>
            <a:pPr indent="0" marL="0">
              <a:buNone/>
            </a:pPr>
            <a:r>
              <a:rPr lang="en-US" sz="1400" b="1" dirty="0">
                <a:solidFill>
                  <a:schemeClr val="accent1"/>
                </a:solidFill>
              </a:rPr>
              <a:t>→ before-GAN model</a:t>
            </a:r>
            <a:endParaRPr lang="en-US" sz="1400" dirty="0"/>
          </a:p>
          <a:p>
            <a:pPr indent="0" marL="0">
              <a:buNone/>
            </a:pPr>
            <a:r>
              <a:rPr lang="en-US" sz="1200" dirty="0">
                <a:solidFill>
                  <a:schemeClr val="bg2"/>
                </a:solidFill>
              </a:rPr>
              <a:t>rules M3, M4: measurements need faithful pixels, not invented texture</a:t>
            </a:r>
            <a:endParaRPr lang="en-US" sz="1400" dirty="0"/>
          </a:p>
        </p:txBody>
      </p:sp>
      <p:sp>
        <p:nvSpPr>
          <p:cNvPr id="24" name="Text 19"/>
          <p:cNvSpPr txBox="1"/>
          <p:nvPr/>
        </p:nvSpPr>
        <p:spPr>
          <a:xfrm>
            <a:off x="8138160" y="4754880"/>
            <a:ext cx="3520440" cy="1280160"/>
          </a:xfrm>
          <a:prstGeom prst="rect">
            <a:avLst/>
          </a:prstGeom>
          <a:noFill/>
          <a:ln/>
        </p:spPr>
        <p:txBody>
          <a:bodyPr wrap="square" lIns="0" tIns="0" rIns="0" bIns="0" rtlCol="0" anchor="t"/>
          <a:lstStyle/>
          <a:p>
            <a:pPr indent="0" marL="0">
              <a:buNone/>
            </a:pPr>
            <a:r>
              <a:rPr lang="en-US" sz="1400" b="1" dirty="0">
                <a:solidFill>
                  <a:schemeClr val="bg1"/>
                </a:solidFill>
              </a:rPr>
              <a:t>Flood mapping </a:t>
            </a:r>
            <a:pPr indent="0" marL="0">
              <a:buNone/>
            </a:pPr>
            <a:r>
              <a:rPr lang="en-US" sz="1400" b="1" dirty="0">
                <a:solidFill>
                  <a:schemeClr val="accent1"/>
                </a:solidFill>
              </a:rPr>
              <a:t>→ radar-only products</a:t>
            </a:r>
            <a:endParaRPr lang="en-US" sz="1400" dirty="0"/>
          </a:p>
          <a:p>
            <a:pPr indent="0" marL="0">
              <a:buNone/>
            </a:pPr>
            <a:r>
              <a:rPr lang="en-US" sz="1200" dirty="0">
                <a:solidFill>
                  <a:schemeClr val="bg2"/>
                </a:solidFill>
              </a:rPr>
              <a:t>radar detects open water directly</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05 · LIVE DEMO</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Everything is in an interactive web app</a:t>
            </a:r>
            <a:endParaRPr lang="en-US" sz="3200" dirty="0"/>
          </a:p>
        </p:txBody>
      </p:sp>
      <p:sp>
        <p:nvSpPr>
          <p:cNvPr id="4" name="app_shot_frame"/>
          <p:cNvSpPr/>
          <p:nvPr/>
        </p:nvSpPr>
        <p:spPr>
          <a:xfrm>
            <a:off x="512064" y="1609344"/>
            <a:ext cx="6748272" cy="4645152"/>
          </a:xfrm>
          <a:prstGeom prst="roundRect">
            <a:avLst>
              <a:gd name="adj" fmla="val 1575"/>
            </a:avLst>
          </a:prstGeom>
          <a:solidFill>
            <a:schemeClr val="tx2"/>
          </a:solidFill>
          <a:ln w="9525">
            <a:solidFill>
              <a:schemeClr val="accent2">
                <a:alpha val="50000"/>
              </a:schemeClr>
            </a:solidFill>
            <a:prstDash val="solid"/>
          </a:ln>
        </p:spPr>
      </p:sp>
      <p:pic>
        <p:nvPicPr>
          <p:cNvPr id="5" name="app_shot" descr="Screenshot of the ClearSAR web app home page">    </p:cNvPr>
          <p:cNvPicPr>
            <a:picLocks noChangeAspect="1"/>
          </p:cNvPicPr>
          <p:nvPr/>
        </p:nvPicPr>
        <p:blipFill>
          <a:blip r:embed="rId1"/>
          <a:stretch>
            <a:fillRect/>
          </a:stretch>
        </p:blipFill>
        <p:spPr>
          <a:xfrm>
            <a:off x="548640" y="1645920"/>
            <a:ext cx="6675120" cy="4572000"/>
          </a:xfrm>
          <a:prstGeom prst="rect">
            <a:avLst/>
          </a:prstGeom>
        </p:spPr>
      </p:pic>
      <p:sp>
        <p:nvSpPr>
          <p:cNvPr id="6" name="demo_n0"/>
          <p:cNvSpPr/>
          <p:nvPr/>
        </p:nvSpPr>
        <p:spPr>
          <a:xfrm>
            <a:off x="7589520" y="1691640"/>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7589520" y="1709928"/>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Text 5"/>
          <p:cNvSpPr txBox="1"/>
          <p:nvPr/>
        </p:nvSpPr>
        <p:spPr>
          <a:xfrm>
            <a:off x="8138160" y="1645920"/>
            <a:ext cx="3520440" cy="685800"/>
          </a:xfrm>
          <a:prstGeom prst="rect">
            <a:avLst/>
          </a:prstGeom>
          <a:noFill/>
          <a:ln/>
        </p:spPr>
        <p:txBody>
          <a:bodyPr wrap="square" lIns="0" tIns="0" rIns="0" bIns="0" rtlCol="0" anchor="t"/>
          <a:lstStyle/>
          <a:p>
            <a:pPr indent="0" marL="0">
              <a:buNone/>
            </a:pPr>
            <a:r>
              <a:rPr lang="en-US" sz="1400" b="1" dirty="0">
                <a:solidFill>
                  <a:schemeClr val="bg1"/>
                </a:solidFill>
              </a:rPr>
              <a:t>Home  </a:t>
            </a:r>
            <a:pPr indent="0" marL="0">
              <a:buNone/>
            </a:pPr>
            <a:r>
              <a:rPr lang="en-US" sz="1250" dirty="0">
                <a:solidFill>
                  <a:schemeClr val="bg2"/>
                </a:solidFill>
              </a:rPr>
              <a:t>drag the slider: cloudy → reconstruction on the Indian test patch</a:t>
            </a:r>
            <a:endParaRPr lang="en-US" sz="1400" dirty="0"/>
          </a:p>
        </p:txBody>
      </p:sp>
      <p:sp>
        <p:nvSpPr>
          <p:cNvPr id="9" name="demo_n1"/>
          <p:cNvSpPr/>
          <p:nvPr/>
        </p:nvSpPr>
        <p:spPr>
          <a:xfrm>
            <a:off x="7589520" y="2441448"/>
            <a:ext cx="384048" cy="384048"/>
          </a:xfrm>
          <a:prstGeom prst="ellipse">
            <a:avLst/>
          </a:prstGeom>
          <a:solidFill>
            <a:schemeClr val="accent1"/>
          </a:solidFill>
          <a:ln w="12700">
            <a:solidFill>
              <a:schemeClr val="accent1"/>
            </a:solidFill>
            <a:prstDash val="solid"/>
          </a:ln>
        </p:spPr>
      </p:sp>
      <p:sp>
        <p:nvSpPr>
          <p:cNvPr id="10" name="Text 7"/>
          <p:cNvSpPr txBox="1"/>
          <p:nvPr/>
        </p:nvSpPr>
        <p:spPr>
          <a:xfrm>
            <a:off x="7589520" y="2459736"/>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8"/>
          <p:cNvSpPr txBox="1"/>
          <p:nvPr/>
        </p:nvSpPr>
        <p:spPr>
          <a:xfrm>
            <a:off x="8138160" y="2395728"/>
            <a:ext cx="3520440" cy="685800"/>
          </a:xfrm>
          <a:prstGeom prst="rect">
            <a:avLst/>
          </a:prstGeom>
          <a:noFill/>
          <a:ln/>
        </p:spPr>
        <p:txBody>
          <a:bodyPr wrap="square" lIns="0" tIns="0" rIns="0" bIns="0" rtlCol="0" anchor="t"/>
          <a:lstStyle/>
          <a:p>
            <a:pPr indent="0" marL="0">
              <a:buNone/>
            </a:pPr>
            <a:r>
              <a:rPr lang="en-US" sz="1400" b="1" dirty="0">
                <a:solidFill>
                  <a:schemeClr val="bg1"/>
                </a:solidFill>
              </a:rPr>
              <a:t>Results  </a:t>
            </a:r>
            <a:pPr indent="0" marL="0">
              <a:buNone/>
            </a:pPr>
            <a:r>
              <a:rPr lang="en-US" sz="1250" dirty="0">
                <a:solidFill>
                  <a:schemeClr val="bg2"/>
                </a:solidFill>
              </a:rPr>
              <a:t>metrics by cloud cover, continent, country; the GAN's effect</a:t>
            </a:r>
            <a:endParaRPr lang="en-US" sz="1400" dirty="0"/>
          </a:p>
        </p:txBody>
      </p:sp>
      <p:sp>
        <p:nvSpPr>
          <p:cNvPr id="12" name="demo_n2"/>
          <p:cNvSpPr/>
          <p:nvPr/>
        </p:nvSpPr>
        <p:spPr>
          <a:xfrm>
            <a:off x="7589520" y="3191256"/>
            <a:ext cx="384048" cy="384048"/>
          </a:xfrm>
          <a:prstGeom prst="ellipse">
            <a:avLst/>
          </a:prstGeom>
          <a:solidFill>
            <a:schemeClr val="accent1"/>
          </a:solidFill>
          <a:ln w="12700">
            <a:solidFill>
              <a:schemeClr val="accent1"/>
            </a:solidFill>
            <a:prstDash val="solid"/>
          </a:ln>
        </p:spPr>
      </p:sp>
      <p:sp>
        <p:nvSpPr>
          <p:cNvPr id="13" name="Text 10"/>
          <p:cNvSpPr txBox="1"/>
          <p:nvPr/>
        </p:nvSpPr>
        <p:spPr>
          <a:xfrm>
            <a:off x="7589520" y="3209544"/>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 11"/>
          <p:cNvSpPr txBox="1"/>
          <p:nvPr/>
        </p:nvSpPr>
        <p:spPr>
          <a:xfrm>
            <a:off x="8138160" y="3145536"/>
            <a:ext cx="3520440" cy="685800"/>
          </a:xfrm>
          <a:prstGeom prst="rect">
            <a:avLst/>
          </a:prstGeom>
          <a:noFill/>
          <a:ln/>
        </p:spPr>
        <p:txBody>
          <a:bodyPr wrap="square" lIns="0" tIns="0" rIns="0" bIns="0" rtlCol="0" anchor="t"/>
          <a:lstStyle/>
          <a:p>
            <a:pPr indent="0" marL="0">
              <a:buNone/>
            </a:pPr>
            <a:r>
              <a:rPr lang="en-US" sz="1400" b="1" dirty="0">
                <a:solidFill>
                  <a:schemeClr val="bg1"/>
                </a:solidFill>
              </a:rPr>
              <a:t>How it learned  </a:t>
            </a:r>
            <a:pPr indent="0" marL="0">
              <a:buNone/>
            </a:pPr>
            <a:r>
              <a:rPr lang="en-US" sz="1250" dirty="0">
                <a:solidFill>
                  <a:schemeClr val="bg2"/>
                </a:solidFill>
              </a:rPr>
              <a:t>training curves and the GAN game, from the real log</a:t>
            </a:r>
            <a:endParaRPr lang="en-US" sz="1400" dirty="0"/>
          </a:p>
        </p:txBody>
      </p:sp>
      <p:sp>
        <p:nvSpPr>
          <p:cNvPr id="15" name="demo_n3"/>
          <p:cNvSpPr/>
          <p:nvPr/>
        </p:nvSpPr>
        <p:spPr>
          <a:xfrm>
            <a:off x="7589520" y="3941064"/>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7589520" y="3959352"/>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7" name="Text 14"/>
          <p:cNvSpPr txBox="1"/>
          <p:nvPr/>
        </p:nvSpPr>
        <p:spPr>
          <a:xfrm>
            <a:off x="8138160" y="3895344"/>
            <a:ext cx="3520440" cy="685800"/>
          </a:xfrm>
          <a:prstGeom prst="rect">
            <a:avLst/>
          </a:prstGeom>
          <a:noFill/>
          <a:ln/>
        </p:spPr>
        <p:txBody>
          <a:bodyPr wrap="square" lIns="0" tIns="0" rIns="0" bIns="0" rtlCol="0" anchor="t"/>
          <a:lstStyle/>
          <a:p>
            <a:pPr indent="0" marL="0">
              <a:buNone/>
            </a:pPr>
            <a:r>
              <a:rPr lang="en-US" sz="1400" b="1" dirty="0">
                <a:solidFill>
                  <a:schemeClr val="bg1"/>
                </a:solidFill>
              </a:rPr>
              <a:t>Explore patches  </a:t>
            </a:r>
            <a:pPr indent="0" marL="0">
              <a:buNone/>
            </a:pPr>
            <a:r>
              <a:rPr lang="en-US" sz="1250" dirty="0">
                <a:solidFill>
                  <a:schemeClr val="bg2"/>
                </a:solidFill>
              </a:rPr>
              <a:t>every model, gate and uncertainty map</a:t>
            </a:r>
            <a:endParaRPr lang="en-US" sz="1400" dirty="0"/>
          </a:p>
        </p:txBody>
      </p:sp>
      <p:sp>
        <p:nvSpPr>
          <p:cNvPr id="18" name="demo_n4"/>
          <p:cNvSpPr/>
          <p:nvPr/>
        </p:nvSpPr>
        <p:spPr>
          <a:xfrm>
            <a:off x="7589520" y="4690872"/>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7589520" y="4709160"/>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0" name="Text 17"/>
          <p:cNvSpPr txBox="1"/>
          <p:nvPr/>
        </p:nvSpPr>
        <p:spPr>
          <a:xfrm>
            <a:off x="8138160" y="4645152"/>
            <a:ext cx="3520440" cy="685800"/>
          </a:xfrm>
          <a:prstGeom prst="rect">
            <a:avLst/>
          </a:prstGeom>
          <a:noFill/>
          <a:ln/>
        </p:spPr>
        <p:txBody>
          <a:bodyPr wrap="square" lIns="0" tIns="0" rIns="0" bIns="0" rtlCol="0" anchor="t"/>
          <a:lstStyle/>
          <a:p>
            <a:pPr indent="0" marL="0">
              <a:buNone/>
            </a:pPr>
            <a:r>
              <a:rPr lang="en-US" sz="1400" b="1" dirty="0">
                <a:solidFill>
                  <a:schemeClr val="bg1"/>
                </a:solidFill>
              </a:rPr>
              <a:t>Advisor  </a:t>
            </a:r>
            <a:pPr indent="0" marL="0">
              <a:buNone/>
            </a:pPr>
            <a:r>
              <a:rPr lang="en-US" sz="1250" dirty="0">
                <a:solidFill>
                  <a:schemeClr val="bg2"/>
                </a:solidFill>
              </a:rPr>
              <a:t>a decision with its reasoning, live</a:t>
            </a:r>
            <a:endParaRPr lang="en-US" sz="1400" dirty="0"/>
          </a:p>
        </p:txBody>
      </p:sp>
      <p:sp>
        <p:nvSpPr>
          <p:cNvPr id="21" name="demo_n5"/>
          <p:cNvSpPr/>
          <p:nvPr/>
        </p:nvSpPr>
        <p:spPr>
          <a:xfrm>
            <a:off x="7589520" y="5440680"/>
            <a:ext cx="384048" cy="384048"/>
          </a:xfrm>
          <a:prstGeom prst="ellipse">
            <a:avLst/>
          </a:prstGeom>
          <a:solidFill>
            <a:schemeClr val="accent1"/>
          </a:solidFill>
          <a:ln w="12700">
            <a:solidFill>
              <a:schemeClr val="accent1"/>
            </a:solidFill>
            <a:prstDash val="solid"/>
          </a:ln>
        </p:spPr>
      </p:sp>
      <p:sp>
        <p:nvSpPr>
          <p:cNvPr id="22" name="Text 19"/>
          <p:cNvSpPr txBox="1"/>
          <p:nvPr/>
        </p:nvSpPr>
        <p:spPr>
          <a:xfrm>
            <a:off x="7589520" y="5458968"/>
            <a:ext cx="384048" cy="34747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3" name="Text 20"/>
          <p:cNvSpPr txBox="1"/>
          <p:nvPr/>
        </p:nvSpPr>
        <p:spPr>
          <a:xfrm>
            <a:off x="8138160" y="5394960"/>
            <a:ext cx="3520440" cy="685800"/>
          </a:xfrm>
          <a:prstGeom prst="rect">
            <a:avLst/>
          </a:prstGeom>
          <a:noFill/>
          <a:ln/>
        </p:spPr>
        <p:txBody>
          <a:bodyPr wrap="square" lIns="0" tIns="0" rIns="0" bIns="0" rtlCol="0" anchor="t"/>
          <a:lstStyle/>
          <a:p>
            <a:pPr indent="0" marL="0">
              <a:buNone/>
            </a:pPr>
            <a:r>
              <a:rPr lang="en-US" sz="1400" b="1" dirty="0">
                <a:solidFill>
                  <a:schemeClr val="bg1"/>
                </a:solidFill>
              </a:rPr>
              <a:t>Knowledge base  </a:t>
            </a:r>
            <a:pPr indent="0" marL="0">
              <a:buNone/>
            </a:pPr>
            <a:r>
              <a:rPr lang="en-US" sz="1250" dirty="0">
                <a:solidFill>
                  <a:schemeClr val="bg2"/>
                </a:solidFill>
              </a:rPr>
              <a:t>what-if simulator - move a slider, watch a rule fire</a:t>
            </a:r>
            <a:endParaRPr lang="en-US" sz="1400" dirty="0"/>
          </a:p>
        </p:txBody>
      </p:sp>
      <p:sp>
        <p:nvSpPr>
          <p:cNvPr id="24" name="Text 21"/>
          <p:cNvSpPr txBox="1"/>
          <p:nvPr/>
        </p:nvSpPr>
        <p:spPr>
          <a:xfrm>
            <a:off x="7589520" y="6053328"/>
            <a:ext cx="4069080" cy="365760"/>
          </a:xfrm>
          <a:prstGeom prst="rect">
            <a:avLst/>
          </a:prstGeom>
          <a:noFill/>
          <a:ln/>
        </p:spPr>
        <p:txBody>
          <a:bodyPr wrap="square" lIns="0" tIns="0" rIns="0" bIns="0" rtlCol="0" anchor="t"/>
          <a:lstStyle/>
          <a:p>
            <a:pPr indent="0" marL="0">
              <a:buNone/>
            </a:pPr>
            <a:r>
              <a:rPr lang="en-US" sz="1100" dirty="0">
                <a:solidFill>
                  <a:schemeClr val="bg2"/>
                </a:solidFill>
              </a:rPr>
              <a:t>Runs offline: all results and both trained models are in the repository.</a:t>
            </a:r>
            <a:endParaRPr lang="en-US" sz="11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06 · LIMITS AND NEXT STEPS</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What this model cannot do - yet</a:t>
            </a:r>
            <a:endParaRPr lang="en-US" sz="3200" dirty="0"/>
          </a:p>
        </p:txBody>
      </p:sp>
      <p:sp>
        <p:nvSpPr>
          <p:cNvPr id="4" name="Text 2"/>
          <p:cNvSpPr txBox="1"/>
          <p:nvPr/>
        </p:nvSpPr>
        <p:spPr>
          <a:xfrm>
            <a:off x="548640" y="1554480"/>
            <a:ext cx="5394960" cy="365760"/>
          </a:xfrm>
          <a:prstGeom prst="rect">
            <a:avLst/>
          </a:prstGeom>
          <a:noFill/>
          <a:ln/>
        </p:spPr>
        <p:txBody>
          <a:bodyPr wrap="square" lIns="0" tIns="0" rIns="0" bIns="0" rtlCol="0" anchor="t"/>
          <a:lstStyle/>
          <a:p>
            <a:pPr indent="0" marL="0">
              <a:buNone/>
            </a:pPr>
            <a:r>
              <a:rPr lang="en-US" sz="1800" b="1" dirty="0">
                <a:solidFill>
                  <a:schemeClr val="accent5"/>
                </a:solidFill>
              </a:rPr>
              <a:t>Limitations</a:t>
            </a:r>
            <a:endParaRPr lang="en-US" sz="1800" dirty="0"/>
          </a:p>
        </p:txBody>
      </p:sp>
      <p:sp>
        <p:nvSpPr>
          <p:cNvPr id="5" name="Text 3"/>
          <p:cNvSpPr txBox="1"/>
          <p:nvPr/>
        </p:nvSpPr>
        <p:spPr>
          <a:xfrm>
            <a:off x="6355080" y="1554480"/>
            <a:ext cx="5303520" cy="365760"/>
          </a:xfrm>
          <a:prstGeom prst="rect">
            <a:avLst/>
          </a:prstGeom>
          <a:noFill/>
          <a:ln/>
        </p:spPr>
        <p:txBody>
          <a:bodyPr wrap="square" lIns="0" tIns="0" rIns="0" bIns="0" rtlCol="0" anchor="t"/>
          <a:lstStyle/>
          <a:p>
            <a:pPr indent="0" marL="0">
              <a:buNone/>
            </a:pPr>
            <a:r>
              <a:rPr lang="en-US" sz="1800" b="1" dirty="0">
                <a:solidFill>
                  <a:schemeClr val="accent1"/>
                </a:solidFill>
              </a:rPr>
              <a:t>Next steps</a:t>
            </a:r>
            <a:endParaRPr lang="en-US" sz="1800" dirty="0"/>
          </a:p>
        </p:txBody>
      </p:sp>
      <p:sp>
        <p:nvSpPr>
          <p:cNvPr id="6" name="lim0"/>
          <p:cNvSpPr/>
          <p:nvPr/>
        </p:nvSpPr>
        <p:spPr>
          <a:xfrm>
            <a:off x="548640" y="2057400"/>
            <a:ext cx="5394960" cy="914400"/>
          </a:xfrm>
          <a:prstGeom prst="roundRect">
            <a:avLst>
              <a:gd name="adj" fmla="val 12000"/>
            </a:avLst>
          </a:prstGeom>
          <a:solidFill>
            <a:schemeClr val="tx2">
              <a:alpha val="92000"/>
            </a:schemeClr>
          </a:solidFill>
          <a:ln w="9525">
            <a:solidFill>
              <a:schemeClr val="accent5">
                <a:alpha val="45000"/>
              </a:schemeClr>
            </a:solidFill>
            <a:prstDash val="solid"/>
          </a:ln>
        </p:spPr>
      </p:sp>
      <p:sp>
        <p:nvSpPr>
          <p:cNvPr id="7" name="Text 5"/>
          <p:cNvSpPr txBox="1"/>
          <p:nvPr/>
        </p:nvSpPr>
        <p:spPr>
          <a:xfrm>
            <a:off x="777240" y="2148840"/>
            <a:ext cx="4983480" cy="777240"/>
          </a:xfrm>
          <a:prstGeom prst="rect">
            <a:avLst/>
          </a:prstGeom>
          <a:noFill/>
          <a:ln/>
        </p:spPr>
        <p:txBody>
          <a:bodyPr wrap="square" lIns="0" tIns="0" rIns="0" bIns="0" rtlCol="0" anchor="t"/>
          <a:lstStyle/>
          <a:p>
            <a:pPr indent="0" marL="0">
              <a:buNone/>
            </a:pPr>
            <a:r>
              <a:rPr lang="en-US" sz="1400" b="1" dirty="0">
                <a:solidFill>
                  <a:schemeClr val="bg1"/>
                </a:solidFill>
              </a:rPr>
              <a:t>Detail under thick cloud</a:t>
            </a:r>
            <a:endParaRPr lang="en-US" sz="1400" dirty="0"/>
          </a:p>
          <a:p>
            <a:pPr indent="0" marL="0">
              <a:buNone/>
            </a:pPr>
            <a:r>
              <a:rPr lang="en-US" sz="1250" dirty="0">
                <a:solidFill>
                  <a:schemeClr val="bg2"/>
                </a:solidFill>
              </a:rPr>
              <a:t>10 m radar does not contain fine optical detail; the model infers layout and colour only.</a:t>
            </a:r>
            <a:endParaRPr lang="en-US" sz="1400" dirty="0"/>
          </a:p>
        </p:txBody>
      </p:sp>
      <p:sp>
        <p:nvSpPr>
          <p:cNvPr id="8" name="nxt0"/>
          <p:cNvSpPr/>
          <p:nvPr/>
        </p:nvSpPr>
        <p:spPr>
          <a:xfrm>
            <a:off x="6355080" y="2057400"/>
            <a:ext cx="5285232" cy="914400"/>
          </a:xfrm>
          <a:prstGeom prst="roundRect">
            <a:avLst>
              <a:gd name="adj" fmla="val 12000"/>
            </a:avLst>
          </a:prstGeom>
          <a:solidFill>
            <a:schemeClr val="tx2">
              <a:alpha val="92000"/>
            </a:schemeClr>
          </a:solidFill>
          <a:ln w="9525">
            <a:solidFill>
              <a:schemeClr val="accent1">
                <a:alpha val="45000"/>
              </a:schemeClr>
            </a:solidFill>
            <a:prstDash val="solid"/>
          </a:ln>
        </p:spPr>
      </p:sp>
      <p:sp>
        <p:nvSpPr>
          <p:cNvPr id="9" name="Text 7"/>
          <p:cNvSpPr txBox="1"/>
          <p:nvPr/>
        </p:nvSpPr>
        <p:spPr>
          <a:xfrm>
            <a:off x="6583680" y="2148840"/>
            <a:ext cx="4873752" cy="777240"/>
          </a:xfrm>
          <a:prstGeom prst="rect">
            <a:avLst/>
          </a:prstGeom>
          <a:noFill/>
          <a:ln/>
        </p:spPr>
        <p:txBody>
          <a:bodyPr wrap="square" lIns="0" tIns="0" rIns="0" bIns="0" rtlCol="0" anchor="t"/>
          <a:lstStyle/>
          <a:p>
            <a:pPr indent="0" marL="0">
              <a:buNone/>
            </a:pPr>
            <a:r>
              <a:rPr lang="en-US" sz="1400" b="1" dirty="0">
                <a:solidFill>
                  <a:schemeClr val="bg1"/>
                </a:solidFill>
              </a:rPr>
              <a:t>Time series</a:t>
            </a:r>
            <a:endParaRPr lang="en-US" sz="1400" dirty="0"/>
          </a:p>
          <a:p>
            <a:pPr indent="0" marL="0">
              <a:buNone/>
            </a:pPr>
            <a:r>
              <a:rPr lang="en-US" sz="1250" dirty="0">
                <a:solidFill>
                  <a:schemeClr val="bg2"/>
                </a:solidFill>
              </a:rPr>
              <a:t>use several earlier acquisitions, not one cloudy image (e.g. SEN12MS-CR-TS).</a:t>
            </a:r>
            <a:endParaRPr lang="en-US" sz="1400" dirty="0"/>
          </a:p>
        </p:txBody>
      </p:sp>
      <p:sp>
        <p:nvSpPr>
          <p:cNvPr id="10" name="lim1"/>
          <p:cNvSpPr/>
          <p:nvPr/>
        </p:nvSpPr>
        <p:spPr>
          <a:xfrm>
            <a:off x="548640" y="3108960"/>
            <a:ext cx="5394960" cy="914400"/>
          </a:xfrm>
          <a:prstGeom prst="roundRect">
            <a:avLst>
              <a:gd name="adj" fmla="val 12000"/>
            </a:avLst>
          </a:prstGeom>
          <a:solidFill>
            <a:schemeClr val="tx2">
              <a:alpha val="92000"/>
            </a:schemeClr>
          </a:solidFill>
          <a:ln w="9525">
            <a:solidFill>
              <a:schemeClr val="accent5">
                <a:alpha val="45000"/>
              </a:schemeClr>
            </a:solidFill>
            <a:prstDash val="solid"/>
          </a:ln>
        </p:spPr>
      </p:sp>
      <p:sp>
        <p:nvSpPr>
          <p:cNvPr id="11" name="Text 9"/>
          <p:cNvSpPr txBox="1"/>
          <p:nvPr/>
        </p:nvSpPr>
        <p:spPr>
          <a:xfrm>
            <a:off x="777240" y="3200400"/>
            <a:ext cx="4983480" cy="777240"/>
          </a:xfrm>
          <a:prstGeom prst="rect">
            <a:avLst/>
          </a:prstGeom>
          <a:noFill/>
          <a:ln/>
        </p:spPr>
        <p:txBody>
          <a:bodyPr wrap="square" lIns="0" tIns="0" rIns="0" bIns="0" rtlCol="0" anchor="t"/>
          <a:lstStyle/>
          <a:p>
            <a:pPr indent="0" marL="0">
              <a:buNone/>
            </a:pPr>
            <a:r>
              <a:rPr lang="en-US" sz="1400" b="1" dirty="0">
                <a:solidFill>
                  <a:schemeClr val="bg1"/>
                </a:solidFill>
              </a:rPr>
              <a:t>The date shift caps PSNR</a:t>
            </a:r>
            <a:endParaRPr lang="en-US" sz="1400" dirty="0"/>
          </a:p>
          <a:p>
            <a:pPr indent="0" marL="0">
              <a:buNone/>
            </a:pPr>
            <a:r>
              <a:rPr lang="en-US" sz="1250" dirty="0">
                <a:solidFill>
                  <a:schemeClr val="bg2"/>
                </a:solidFill>
              </a:rPr>
              <a:t>the 'clear' target is another day; 28.6 dB plain vs 34.5 dB date-shift-free.</a:t>
            </a:r>
            <a:endParaRPr lang="en-US" sz="1400" dirty="0"/>
          </a:p>
        </p:txBody>
      </p:sp>
      <p:sp>
        <p:nvSpPr>
          <p:cNvPr id="12" name="nxt1"/>
          <p:cNvSpPr/>
          <p:nvPr/>
        </p:nvSpPr>
        <p:spPr>
          <a:xfrm>
            <a:off x="6355080" y="3108960"/>
            <a:ext cx="5285232" cy="914400"/>
          </a:xfrm>
          <a:prstGeom prst="roundRect">
            <a:avLst>
              <a:gd name="adj" fmla="val 12000"/>
            </a:avLst>
          </a:prstGeom>
          <a:solidFill>
            <a:schemeClr val="tx2">
              <a:alpha val="92000"/>
            </a:schemeClr>
          </a:solidFill>
          <a:ln w="9525">
            <a:solidFill>
              <a:schemeClr val="accent1">
                <a:alpha val="45000"/>
              </a:schemeClr>
            </a:solidFill>
            <a:prstDash val="solid"/>
          </a:ln>
        </p:spPr>
      </p:sp>
      <p:sp>
        <p:nvSpPr>
          <p:cNvPr id="13" name="Text 11"/>
          <p:cNvSpPr txBox="1"/>
          <p:nvPr/>
        </p:nvSpPr>
        <p:spPr>
          <a:xfrm>
            <a:off x="6583680" y="3200400"/>
            <a:ext cx="4873752" cy="777240"/>
          </a:xfrm>
          <a:prstGeom prst="rect">
            <a:avLst/>
          </a:prstGeom>
          <a:noFill/>
          <a:ln/>
        </p:spPr>
        <p:txBody>
          <a:bodyPr wrap="square" lIns="0" tIns="0" rIns="0" bIns="0" rtlCol="0" anchor="t"/>
          <a:lstStyle/>
          <a:p>
            <a:pPr indent="0" marL="0">
              <a:buNone/>
            </a:pPr>
            <a:r>
              <a:rPr lang="en-US" sz="1400" b="1" dirty="0">
                <a:solidFill>
                  <a:schemeClr val="bg1"/>
                </a:solidFill>
              </a:rPr>
              <a:t>Stronger, measured GAN</a:t>
            </a:r>
            <a:endParaRPr lang="en-US" sz="1400" dirty="0"/>
          </a:p>
          <a:p>
            <a:pPr indent="0" marL="0">
              <a:buNone/>
            </a:pPr>
            <a:r>
              <a:rPr lang="en-US" sz="1250" dirty="0">
                <a:solidFill>
                  <a:schemeClr val="bg2"/>
                </a:solidFill>
              </a:rPr>
              <a:t>tune the 20 % push with a perceptual metric such as LPIPS.</a:t>
            </a:r>
            <a:endParaRPr lang="en-US" sz="1400" dirty="0"/>
          </a:p>
        </p:txBody>
      </p:sp>
      <p:sp>
        <p:nvSpPr>
          <p:cNvPr id="14" name="lim2"/>
          <p:cNvSpPr/>
          <p:nvPr/>
        </p:nvSpPr>
        <p:spPr>
          <a:xfrm>
            <a:off x="548640" y="4160520"/>
            <a:ext cx="5394960" cy="914400"/>
          </a:xfrm>
          <a:prstGeom prst="roundRect">
            <a:avLst>
              <a:gd name="adj" fmla="val 12000"/>
            </a:avLst>
          </a:prstGeom>
          <a:solidFill>
            <a:schemeClr val="tx2">
              <a:alpha val="92000"/>
            </a:schemeClr>
          </a:solidFill>
          <a:ln w="9525">
            <a:solidFill>
              <a:schemeClr val="accent5">
                <a:alpha val="45000"/>
              </a:schemeClr>
            </a:solidFill>
            <a:prstDash val="solid"/>
          </a:ln>
        </p:spPr>
      </p:sp>
      <p:sp>
        <p:nvSpPr>
          <p:cNvPr id="15" name="Text 13"/>
          <p:cNvSpPr txBox="1"/>
          <p:nvPr/>
        </p:nvSpPr>
        <p:spPr>
          <a:xfrm>
            <a:off x="777240" y="4251960"/>
            <a:ext cx="4983480" cy="777240"/>
          </a:xfrm>
          <a:prstGeom prst="rect">
            <a:avLst/>
          </a:prstGeom>
          <a:noFill/>
          <a:ln/>
        </p:spPr>
        <p:txBody>
          <a:bodyPr wrap="square" lIns="0" tIns="0" rIns="0" bIns="0" rtlCol="0" anchor="t"/>
          <a:lstStyle/>
          <a:p>
            <a:pPr indent="0" marL="0">
              <a:buNone/>
            </a:pPr>
            <a:r>
              <a:rPr lang="en-US" sz="1400" b="1" dirty="0">
                <a:solidFill>
                  <a:schemeClr val="bg1"/>
                </a:solidFill>
              </a:rPr>
              <a:t>One training run</a:t>
            </a:r>
            <a:endParaRPr lang="en-US" sz="1400" dirty="0"/>
          </a:p>
          <a:p>
            <a:pPr indent="0" marL="0">
              <a:buNone/>
            </a:pPr>
            <a:r>
              <a:rPr lang="en-US" sz="1250" dirty="0">
                <a:solidFill>
                  <a:schemeClr val="bg2"/>
                </a:solidFill>
              </a:rPr>
              <a:t>no seed spread for the final model; the scene bootstrap partly compensates.</a:t>
            </a:r>
            <a:endParaRPr lang="en-US" sz="1400" dirty="0"/>
          </a:p>
        </p:txBody>
      </p:sp>
      <p:sp>
        <p:nvSpPr>
          <p:cNvPr id="16" name="nxt2"/>
          <p:cNvSpPr/>
          <p:nvPr/>
        </p:nvSpPr>
        <p:spPr>
          <a:xfrm>
            <a:off x="6355080" y="4160520"/>
            <a:ext cx="5285232" cy="914400"/>
          </a:xfrm>
          <a:prstGeom prst="roundRect">
            <a:avLst>
              <a:gd name="adj" fmla="val 12000"/>
            </a:avLst>
          </a:prstGeom>
          <a:solidFill>
            <a:schemeClr val="tx2">
              <a:alpha val="92000"/>
            </a:schemeClr>
          </a:solidFill>
          <a:ln w="9525">
            <a:solidFill>
              <a:schemeClr val="accent1">
                <a:alpha val="45000"/>
              </a:schemeClr>
            </a:solidFill>
            <a:prstDash val="solid"/>
          </a:ln>
        </p:spPr>
      </p:sp>
      <p:sp>
        <p:nvSpPr>
          <p:cNvPr id="17" name="Text 15"/>
          <p:cNvSpPr txBox="1"/>
          <p:nvPr/>
        </p:nvSpPr>
        <p:spPr>
          <a:xfrm>
            <a:off x="6583680" y="4251960"/>
            <a:ext cx="4873752" cy="777240"/>
          </a:xfrm>
          <a:prstGeom prst="rect">
            <a:avLst/>
          </a:prstGeom>
          <a:noFill/>
          <a:ln/>
        </p:spPr>
        <p:txBody>
          <a:bodyPr wrap="square" lIns="0" tIns="0" rIns="0" bIns="0" rtlCol="0" anchor="t"/>
          <a:lstStyle/>
          <a:p>
            <a:pPr indent="0" marL="0">
              <a:buNone/>
            </a:pPr>
            <a:r>
              <a:rPr lang="en-US" sz="1400" b="1" dirty="0">
                <a:solidFill>
                  <a:schemeClr val="bg1"/>
                </a:solidFill>
              </a:rPr>
              <a:t>Learned uncertainty head</a:t>
            </a:r>
            <a:endParaRPr lang="en-US" sz="1400" dirty="0"/>
          </a:p>
          <a:p>
            <a:pPr indent="0" marL="0">
              <a:buNone/>
            </a:pPr>
            <a:r>
              <a:rPr lang="en-US" sz="1250" dirty="0">
                <a:solidFill>
                  <a:schemeClr val="bg2"/>
                </a:solidFill>
              </a:rPr>
              <a:t>Phase 1's best-calibrated method, trained jointly with the GAN.</a:t>
            </a:r>
            <a:endParaRPr lang="en-US" sz="1400" dirty="0"/>
          </a:p>
        </p:txBody>
      </p:sp>
      <p:sp>
        <p:nvSpPr>
          <p:cNvPr id="18" name="lim3"/>
          <p:cNvSpPr/>
          <p:nvPr/>
        </p:nvSpPr>
        <p:spPr>
          <a:xfrm>
            <a:off x="548640" y="5212080"/>
            <a:ext cx="5394960" cy="914400"/>
          </a:xfrm>
          <a:prstGeom prst="roundRect">
            <a:avLst>
              <a:gd name="adj" fmla="val 12000"/>
            </a:avLst>
          </a:prstGeom>
          <a:solidFill>
            <a:schemeClr val="tx2">
              <a:alpha val="92000"/>
            </a:schemeClr>
          </a:solidFill>
          <a:ln w="9525">
            <a:solidFill>
              <a:schemeClr val="accent5">
                <a:alpha val="45000"/>
              </a:schemeClr>
            </a:solidFill>
            <a:prstDash val="solid"/>
          </a:ln>
        </p:spPr>
      </p:sp>
      <p:sp>
        <p:nvSpPr>
          <p:cNvPr id="19" name="Text 17"/>
          <p:cNvSpPr txBox="1"/>
          <p:nvPr/>
        </p:nvSpPr>
        <p:spPr>
          <a:xfrm>
            <a:off x="777240" y="5303520"/>
            <a:ext cx="4983480" cy="777240"/>
          </a:xfrm>
          <a:prstGeom prst="rect">
            <a:avLst/>
          </a:prstGeom>
          <a:noFill/>
          <a:ln/>
        </p:spPr>
        <p:txBody>
          <a:bodyPr wrap="square" lIns="0" tIns="0" rIns="0" bIns="0" rtlCol="0" anchor="t"/>
          <a:lstStyle/>
          <a:p>
            <a:pPr indent="0" marL="0">
              <a:buNone/>
            </a:pPr>
            <a:r>
              <a:rPr lang="en-US" sz="1400" b="1" dirty="0">
                <a:solidFill>
                  <a:schemeClr val="bg1"/>
                </a:solidFill>
              </a:rPr>
              <a:t>Uncertainty calibrated on the test set</a:t>
            </a:r>
            <a:endParaRPr lang="en-US" sz="1400" dirty="0"/>
          </a:p>
          <a:p>
            <a:pPr indent="0" marL="0">
              <a:buNone/>
            </a:pPr>
            <a:r>
              <a:rPr lang="en-US" sz="1250" dirty="0">
                <a:solidFill>
                  <a:schemeClr val="bg2"/>
                </a:solidFill>
              </a:rPr>
              <a:t>fine for a demo; a deployment needs separate calibration data.</a:t>
            </a:r>
            <a:endParaRPr lang="en-US" sz="1400" dirty="0"/>
          </a:p>
        </p:txBody>
      </p:sp>
      <p:sp>
        <p:nvSpPr>
          <p:cNvPr id="20" name="nxt3"/>
          <p:cNvSpPr/>
          <p:nvPr/>
        </p:nvSpPr>
        <p:spPr>
          <a:xfrm>
            <a:off x="6355080" y="5212080"/>
            <a:ext cx="5285232" cy="914400"/>
          </a:xfrm>
          <a:prstGeom prst="roundRect">
            <a:avLst>
              <a:gd name="adj" fmla="val 12000"/>
            </a:avLst>
          </a:prstGeom>
          <a:solidFill>
            <a:schemeClr val="tx2">
              <a:alpha val="92000"/>
            </a:schemeClr>
          </a:solidFill>
          <a:ln w="9525">
            <a:solidFill>
              <a:schemeClr val="accent1">
                <a:alpha val="45000"/>
              </a:schemeClr>
            </a:solidFill>
            <a:prstDash val="solid"/>
          </a:ln>
        </p:spPr>
      </p:sp>
      <p:sp>
        <p:nvSpPr>
          <p:cNvPr id="21" name="Text 19"/>
          <p:cNvSpPr txBox="1"/>
          <p:nvPr/>
        </p:nvSpPr>
        <p:spPr>
          <a:xfrm>
            <a:off x="6583680" y="5303520"/>
            <a:ext cx="4873752" cy="777240"/>
          </a:xfrm>
          <a:prstGeom prst="rect">
            <a:avLst/>
          </a:prstGeom>
          <a:noFill/>
          <a:ln/>
        </p:spPr>
        <p:txBody>
          <a:bodyPr wrap="square" lIns="0" tIns="0" rIns="0" bIns="0" rtlCol="0" anchor="t"/>
          <a:lstStyle/>
          <a:p>
            <a:pPr indent="0" marL="0">
              <a:buNone/>
            </a:pPr>
            <a:r>
              <a:rPr lang="en-US" sz="1400" b="1" dirty="0">
                <a:solidFill>
                  <a:schemeClr val="bg1"/>
                </a:solidFill>
              </a:rPr>
              <a:t>Official benchmark split</a:t>
            </a:r>
            <a:endParaRPr lang="en-US" sz="1400" dirty="0"/>
          </a:p>
          <a:p>
            <a:pPr indent="0" marL="0">
              <a:buNone/>
            </a:pPr>
            <a:r>
              <a:rPr lang="en-US" sz="1250" dirty="0">
                <a:solidFill>
                  <a:schemeClr val="bg2"/>
                </a:solidFill>
              </a:rPr>
              <a:t>for a direct comparison with published models.</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822960"/>
            <a:ext cx="5486400" cy="320040"/>
          </a:xfrm>
          <a:prstGeom prst="rect">
            <a:avLst/>
          </a:prstGeom>
          <a:noFill/>
          <a:ln/>
        </p:spPr>
        <p:txBody>
          <a:bodyPr wrap="square" lIns="0" tIns="0" rIns="0" bIns="0" rtlCol="0" anchor="t"/>
          <a:lstStyle/>
          <a:p>
            <a:pPr indent="0" marL="0">
              <a:buNone/>
            </a:pPr>
            <a:r>
              <a:rPr lang="en-US" sz="1200" b="1" spc="300" kern="0" dirty="0">
                <a:solidFill>
                  <a:schemeClr val="accent1"/>
                </a:solidFill>
              </a:rPr>
              <a:t>TAKEAWAYS</a:t>
            </a:r>
            <a:endParaRPr lang="en-US" sz="1200" dirty="0"/>
          </a:p>
        </p:txBody>
      </p:sp>
      <p:sp>
        <p:nvSpPr>
          <p:cNvPr id="3" name="Text 1"/>
          <p:cNvSpPr txBox="1"/>
          <p:nvPr/>
        </p:nvSpPr>
        <p:spPr>
          <a:xfrm>
            <a:off x="548640" y="1188720"/>
            <a:ext cx="10058400" cy="731520"/>
          </a:xfrm>
          <a:prstGeom prst="rect">
            <a:avLst/>
          </a:prstGeom>
          <a:noFill/>
          <a:ln/>
        </p:spPr>
        <p:txBody>
          <a:bodyPr wrap="square" lIns="0" tIns="0" rIns="0" bIns="0" rtlCol="0" anchor="t"/>
          <a:lstStyle/>
          <a:p>
            <a:pPr indent="0" marL="0">
              <a:buNone/>
            </a:pPr>
            <a:r>
              <a:rPr lang="en-US" sz="3600" b="1" dirty="0">
                <a:solidFill>
                  <a:schemeClr val="bg1"/>
                </a:solidFill>
                <a:latin typeface="Segoe UI Semibold" pitchFamily="34" charset="0"/>
                <a:ea typeface="Segoe UI Semibold" pitchFamily="34" charset="-122"/>
                <a:cs typeface="Segoe UI Semibold" pitchFamily="34" charset="-120"/>
              </a:rPr>
              <a:t>One model, built from evidence</a:t>
            </a:r>
            <a:endParaRPr lang="en-US" sz="3600" dirty="0"/>
          </a:p>
        </p:txBody>
      </p:sp>
      <p:sp>
        <p:nvSpPr>
          <p:cNvPr id="4" name="tk0_dot"/>
          <p:cNvSpPr/>
          <p:nvPr/>
        </p:nvSpPr>
        <p:spPr>
          <a:xfrm>
            <a:off x="548640" y="2194560"/>
            <a:ext cx="566928" cy="566928"/>
          </a:xfrm>
          <a:prstGeom prst="ellipse">
            <a:avLst/>
          </a:prstGeom>
          <a:solidFill>
            <a:schemeClr val="accent2"/>
          </a:solidFill>
          <a:ln w="12700">
            <a:solidFill>
              <a:schemeClr val="accent2"/>
            </a:solidFill>
            <a:prstDash val="solid"/>
          </a:ln>
        </p:spPr>
      </p:sp>
      <p:pic>
        <p:nvPicPr>
          <p:cNvPr id="5" name="tk0_icon" descr="preencoded.png">    </p:cNvPr>
          <p:cNvPicPr>
            <a:picLocks noChangeAspect="1"/>
          </p:cNvPicPr>
          <p:nvPr/>
        </p:nvPicPr>
        <p:blipFill>
          <a:blip r:embed="rId1"/>
          <a:stretch>
            <a:fillRect/>
          </a:stretch>
        </p:blipFill>
        <p:spPr>
          <a:xfrm>
            <a:off x="684703" y="2330623"/>
            <a:ext cx="294803" cy="294803"/>
          </a:xfrm>
          <a:prstGeom prst="rect">
            <a:avLst/>
          </a:prstGeom>
        </p:spPr>
      </p:pic>
      <p:sp>
        <p:nvSpPr>
          <p:cNvPr id="6" name="Text 3"/>
          <p:cNvSpPr txBox="1"/>
          <p:nvPr/>
        </p:nvSpPr>
        <p:spPr>
          <a:xfrm>
            <a:off x="1371600" y="2240280"/>
            <a:ext cx="9601200" cy="548640"/>
          </a:xfrm>
          <a:prstGeom prst="rect">
            <a:avLst/>
          </a:prstGeom>
          <a:noFill/>
          <a:ln/>
        </p:spPr>
        <p:txBody>
          <a:bodyPr wrap="square" lIns="0" tIns="0" rIns="0" bIns="0" rtlCol="0" anchor="ctr"/>
          <a:lstStyle/>
          <a:p>
            <a:pPr indent="0" marL="0">
              <a:buNone/>
            </a:pPr>
            <a:r>
              <a:rPr lang="en-US" sz="1600" b="1" dirty="0">
                <a:solidFill>
                  <a:schemeClr val="bg1"/>
                </a:solidFill>
              </a:rPr>
              <a:t>Data diversity beat architecture  </a:t>
            </a:r>
            <a:pPr indent="0" marL="0">
              <a:buNone/>
            </a:pPr>
            <a:r>
              <a:rPr lang="en-US" sz="1600" dirty="0">
                <a:solidFill>
                  <a:schemeClr val="bg2"/>
                </a:solidFill>
              </a:rPr>
              <a:t>all 147 scenes: +1.9 dB over the best Phase 1 model, 17 of 18 test scenes.</a:t>
            </a:r>
            <a:endParaRPr lang="en-US" sz="1600" dirty="0"/>
          </a:p>
        </p:txBody>
      </p:sp>
      <p:sp>
        <p:nvSpPr>
          <p:cNvPr id="7" name="tk1_dot"/>
          <p:cNvSpPr/>
          <p:nvPr/>
        </p:nvSpPr>
        <p:spPr>
          <a:xfrm>
            <a:off x="548640" y="3090672"/>
            <a:ext cx="566928" cy="566928"/>
          </a:xfrm>
          <a:prstGeom prst="ellipse">
            <a:avLst/>
          </a:prstGeom>
          <a:solidFill>
            <a:schemeClr val="accent4"/>
          </a:solidFill>
          <a:ln w="12700">
            <a:solidFill>
              <a:schemeClr val="accent4"/>
            </a:solidFill>
            <a:prstDash val="solid"/>
          </a:ln>
        </p:spPr>
      </p:sp>
      <p:pic>
        <p:nvPicPr>
          <p:cNvPr id="8" name="tk1_icon" descr="preencoded.png">    </p:cNvPr>
          <p:cNvPicPr>
            <a:picLocks noChangeAspect="1"/>
          </p:cNvPicPr>
          <p:nvPr/>
        </p:nvPicPr>
        <p:blipFill>
          <a:blip r:embed="rId2"/>
          <a:stretch>
            <a:fillRect/>
          </a:stretch>
        </p:blipFill>
        <p:spPr>
          <a:xfrm>
            <a:off x="684703" y="3226735"/>
            <a:ext cx="294803" cy="294803"/>
          </a:xfrm>
          <a:prstGeom prst="rect">
            <a:avLst/>
          </a:prstGeom>
        </p:spPr>
      </p:pic>
      <p:sp>
        <p:nvSpPr>
          <p:cNvPr id="9" name="Text 5"/>
          <p:cNvSpPr txBox="1"/>
          <p:nvPr/>
        </p:nvSpPr>
        <p:spPr>
          <a:xfrm>
            <a:off x="1371600" y="3136392"/>
            <a:ext cx="9601200" cy="548640"/>
          </a:xfrm>
          <a:prstGeom prst="rect">
            <a:avLst/>
          </a:prstGeom>
          <a:noFill/>
          <a:ln/>
        </p:spPr>
        <p:txBody>
          <a:bodyPr wrap="square" lIns="0" tIns="0" rIns="0" bIns="0" rtlCol="0" anchor="ctr"/>
          <a:lstStyle/>
          <a:p>
            <a:pPr indent="0" marL="0">
              <a:buNone/>
            </a:pPr>
            <a:r>
              <a:rPr lang="en-US" sz="1600" b="1" dirty="0">
                <a:solidFill>
                  <a:schemeClr val="bg1"/>
                </a:solidFill>
              </a:rPr>
              <a:t>A gate that learned cloud detection by itself  </a:t>
            </a:r>
            <a:pPr indent="0" marL="0">
              <a:buNone/>
            </a:pPr>
            <a:r>
              <a:rPr lang="en-US" sz="1600" dirty="0">
                <a:solidFill>
                  <a:schemeClr val="bg2"/>
                </a:solidFill>
              </a:rPr>
              <a:t>keeps 51 % → 15 % of the input as cloud grows (ρ = −0.84).</a:t>
            </a:r>
            <a:endParaRPr lang="en-US" sz="1600" dirty="0"/>
          </a:p>
        </p:txBody>
      </p:sp>
      <p:sp>
        <p:nvSpPr>
          <p:cNvPr id="10" name="tk2_dot"/>
          <p:cNvSpPr/>
          <p:nvPr/>
        </p:nvSpPr>
        <p:spPr>
          <a:xfrm>
            <a:off x="548640" y="3986784"/>
            <a:ext cx="566928" cy="566928"/>
          </a:xfrm>
          <a:prstGeom prst="ellipse">
            <a:avLst/>
          </a:prstGeom>
          <a:solidFill>
            <a:schemeClr val="accent3"/>
          </a:solidFill>
          <a:ln w="12700">
            <a:solidFill>
              <a:schemeClr val="accent3"/>
            </a:solidFill>
            <a:prstDash val="solid"/>
          </a:ln>
        </p:spPr>
      </p:sp>
      <p:pic>
        <p:nvPicPr>
          <p:cNvPr id="11" name="tk2_icon" descr="preencoded.png">    </p:cNvPr>
          <p:cNvPicPr>
            <a:picLocks noChangeAspect="1"/>
          </p:cNvPicPr>
          <p:nvPr/>
        </p:nvPicPr>
        <p:blipFill>
          <a:blip r:embed="rId3"/>
          <a:stretch>
            <a:fillRect/>
          </a:stretch>
        </p:blipFill>
        <p:spPr>
          <a:xfrm>
            <a:off x="684703" y="4122847"/>
            <a:ext cx="294803" cy="294803"/>
          </a:xfrm>
          <a:prstGeom prst="rect">
            <a:avLst/>
          </a:prstGeom>
        </p:spPr>
      </p:pic>
      <p:sp>
        <p:nvSpPr>
          <p:cNvPr id="12" name="Text 7"/>
          <p:cNvSpPr txBox="1"/>
          <p:nvPr/>
        </p:nvSpPr>
        <p:spPr>
          <a:xfrm>
            <a:off x="1371600" y="4032504"/>
            <a:ext cx="9601200" cy="548640"/>
          </a:xfrm>
          <a:prstGeom prst="rect">
            <a:avLst/>
          </a:prstGeom>
          <a:noFill/>
          <a:ln/>
        </p:spPr>
        <p:txBody>
          <a:bodyPr wrap="square" lIns="0" tIns="0" rIns="0" bIns="0" rtlCol="0" anchor="ctr"/>
          <a:lstStyle/>
          <a:p>
            <a:pPr indent="0" marL="0">
              <a:buNone/>
            </a:pPr>
            <a:r>
              <a:rPr lang="en-US" sz="1600" b="1" dirty="0">
                <a:solidFill>
                  <a:schemeClr val="bg1"/>
                </a:solidFill>
              </a:rPr>
              <a:t>A GAN that sharpens without costing accuracy  </a:t>
            </a:r>
            <a:pPr indent="0" marL="0">
              <a:buNone/>
            </a:pPr>
            <a:r>
              <a:rPr lang="en-US" sz="1600" dirty="0">
                <a:solidFill>
                  <a:schemeClr val="bg2"/>
                </a:solidFill>
              </a:rPr>
              <a:t>sharpness 0.78 → 0.87, PSNR −0.09 dB (within noise).</a:t>
            </a:r>
            <a:endParaRPr lang="en-US" sz="1600" dirty="0"/>
          </a:p>
        </p:txBody>
      </p:sp>
      <p:sp>
        <p:nvSpPr>
          <p:cNvPr id="13" name="tk3_dot"/>
          <p:cNvSpPr/>
          <p:nvPr/>
        </p:nvSpPr>
        <p:spPr>
          <a:xfrm>
            <a:off x="548640" y="4882896"/>
            <a:ext cx="566928" cy="566928"/>
          </a:xfrm>
          <a:prstGeom prst="ellipse">
            <a:avLst/>
          </a:prstGeom>
          <a:solidFill>
            <a:schemeClr val="accent1"/>
          </a:solidFill>
          <a:ln w="12700">
            <a:solidFill>
              <a:schemeClr val="accent1"/>
            </a:solidFill>
            <a:prstDash val="solid"/>
          </a:ln>
        </p:spPr>
      </p:sp>
      <p:pic>
        <p:nvPicPr>
          <p:cNvPr id="14" name="tk3_icon" descr="preencoded.png">    </p:cNvPr>
          <p:cNvPicPr>
            <a:picLocks noChangeAspect="1"/>
          </p:cNvPicPr>
          <p:nvPr/>
        </p:nvPicPr>
        <p:blipFill>
          <a:blip r:embed="rId4"/>
          <a:stretch>
            <a:fillRect/>
          </a:stretch>
        </p:blipFill>
        <p:spPr>
          <a:xfrm>
            <a:off x="684703" y="5018959"/>
            <a:ext cx="294803" cy="294803"/>
          </a:xfrm>
          <a:prstGeom prst="rect">
            <a:avLst/>
          </a:prstGeom>
        </p:spPr>
      </p:pic>
      <p:sp>
        <p:nvSpPr>
          <p:cNvPr id="15" name="Text 9"/>
          <p:cNvSpPr txBox="1"/>
          <p:nvPr/>
        </p:nvSpPr>
        <p:spPr>
          <a:xfrm>
            <a:off x="1371600" y="4928616"/>
            <a:ext cx="9601200" cy="548640"/>
          </a:xfrm>
          <a:prstGeom prst="rect">
            <a:avLst/>
          </a:prstGeom>
          <a:noFill/>
          <a:ln/>
        </p:spPr>
        <p:txBody>
          <a:bodyPr wrap="square" lIns="0" tIns="0" rIns="0" bIns="0" rtlCol="0" anchor="ctr"/>
          <a:lstStyle/>
          <a:p>
            <a:pPr indent="0" marL="0">
              <a:buNone/>
            </a:pPr>
            <a:r>
              <a:rPr lang="en-US" sz="1600" b="1" dirty="0">
                <a:solidFill>
                  <a:schemeClr val="bg1"/>
                </a:solidFill>
              </a:rPr>
              <a:t>An expert system that knows when to trust it  </a:t>
            </a:r>
            <a:pPr indent="0" marL="0">
              <a:buNone/>
            </a:pPr>
            <a:r>
              <a:rPr lang="en-US" sz="1600" dirty="0">
                <a:solidFill>
                  <a:schemeClr val="bg2"/>
                </a:solidFill>
              </a:rPr>
              <a:t>38 explainable rules; different advice for viewing and for measuring.</a:t>
            </a:r>
            <a:endParaRPr lang="en-US" sz="1600" dirty="0"/>
          </a:p>
        </p:txBody>
      </p:sp>
      <p:sp>
        <p:nvSpPr>
          <p:cNvPr id="16" name="Text 10"/>
          <p:cNvSpPr txBox="1"/>
          <p:nvPr/>
        </p:nvSpPr>
        <p:spPr>
          <a:xfrm>
            <a:off x="548640" y="5897880"/>
            <a:ext cx="7315200" cy="548640"/>
          </a:xfrm>
          <a:prstGeom prst="rect">
            <a:avLst/>
          </a:prstGeom>
          <a:noFill/>
          <a:ln/>
        </p:spPr>
        <p:txBody>
          <a:bodyPr wrap="square" lIns="0" tIns="0" rIns="0" bIns="0" rtlCol="0" anchor="t"/>
          <a:lstStyle/>
          <a:p>
            <a:pPr indent="0" marL="0">
              <a:buNone/>
            </a:pPr>
            <a:r>
              <a:rPr lang="en-US" sz="2400" b="1" dirty="0">
                <a:solidFill>
                  <a:schemeClr val="accent1"/>
                </a:solidFill>
                <a:latin typeface="Segoe UI Semibold" pitchFamily="34" charset="0"/>
                <a:ea typeface="Segoe UI Semibold" pitchFamily="34" charset="-122"/>
                <a:cs typeface="Segoe UI Semibold" pitchFamily="34" charset="-120"/>
              </a:rPr>
              <a:t>Thank you - questions?</a:t>
            </a:r>
            <a:endParaRPr lang="en-US" sz="2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BACKUP</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Hyper-parameters of the final run</a:t>
            </a:r>
            <a:endParaRPr lang="en-US" sz="3200" dirty="0"/>
          </a:p>
        </p:txBody>
      </p:sp>
      <p:graphicFrame>
        <p:nvGraphicFramePr>
          <p:cNvPr id="22" name="hp_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8716975"/>
              </a:tblGrid>
              <a:tr h="429768">
                <a:tc>
                  <a:txBody>
                    <a:bodyPr/>
                    <a:lstStyle/>
                    <a:p>
                      <a:pPr indent="0" marL="0">
                        <a:buNone/>
                      </a:pPr>
                      <a:r>
                        <a:rPr lang="en-US" sz="1300" b="1" dirty="0">
                          <a:solidFill>
                            <a:schemeClr val="accent1"/>
                          </a:solidFill>
                        </a:rPr>
                        <a:t>Generator</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ClearSAR-Net, width 64, 3 levels, 2 attention blocks (8 heads), hybrid output · 12.78 M</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Discriminator</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conditional SN-PatchGAN, 70 × 70 windows · 2.79 M</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Batch</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8 per GPU × 2 T4 = 16 (probed)</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Budget</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10.84 h, time-based: part A 55 %, part B 45 % · 86,380 steps</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Loss A / B</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L1 + 0.05 (1 − SSIM) / + λ · LSGAN, λ adaptive (factor 0.2)</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Optimiser G</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AdamW β (0.9, 0.999), wd 1e-4, clip 1.0; LR 3e-4 warm-up 1,000 + cosine; part B 5e-5</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Optimiser D</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Adam β (0.5, 0.999), LR 2e-4 cosine</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EMA / precision</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0.999 / fp16 + GradScaler, fp32 attention stream</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Data</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102,871 / 600 / 5,400 patches; 8 dihedral augmentations; echo pool 256</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29768">
                <a:tc>
                  <a:txBody>
                    <a:bodyPr/>
                    <a:lstStyle/>
                    <a:p>
                      <a:pPr indent="0" marL="0">
                        <a:buNone/>
                      </a:pPr>
                      <a:r>
                        <a:rPr lang="en-US" sz="1300" b="1" dirty="0">
                          <a:solidFill>
                            <a:schemeClr val="accent1"/>
                          </a:solidFill>
                        </a:rPr>
                        <a:t>Selection</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 lowest val L1 · B: lowest L1 × (1 + |1 − sharpness|)</a:t>
                      </a:r>
                      <a:endParaRPr lang="en-US" sz="13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BACKUP</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Phase 1 numbers (Asian test scenes)</a:t>
            </a:r>
            <a:endParaRPr lang="en-US" sz="3200" dirty="0"/>
          </a:p>
        </p:txBody>
      </p:sp>
      <p:graphicFrame>
        <p:nvGraphicFramePr>
          <p:cNvPr id="23" name="p1_table"/>
          <p:cNvGraphicFramePr>
            <a:graphicFrameLocks noGrp="1"/>
          </p:cNvGraphicFramePr>
          <p:nvPr>
            <p:extLst>
              <p:ext uri="{D42A27DB-BD31-4B8C-83A1-F6EECF244321}">
                <p14:modId xmlns:p14="http://schemas.microsoft.com/office/powerpoint/2010/main" val="1579011935"/>
              </p:ext>
            </p:extLst>
          </p:nvPr>
        </p:nvGraphicFramePr>
        <p:xfrm>
          <a:off x="548640" y="1600200"/>
          <a:ext cx="6035040" cy="914400"/>
        </p:xfrm>
        <a:graphic>
          <a:graphicData uri="http://schemas.openxmlformats.org/drawingml/2006/table">
            <a:tbl>
              <a:tblPr/>
              <a:tblGrid>
                <a:gridCol w="3108960"/>
                <a:gridCol w="1645920"/>
                <a:gridCol w="1280160"/>
              </a:tblGrid>
              <a:tr h="457200">
                <a:tc>
                  <a:txBody>
                    <a:bodyPr/>
                    <a:lstStyle/>
                    <a:p>
                      <a:pPr indent="0" marL="0">
                        <a:buNone/>
                      </a:pPr>
                      <a:r>
                        <a:rPr lang="en-US" sz="1400" b="1" dirty="0">
                          <a:solidFill>
                            <a:schemeClr val="bg1"/>
                          </a:solidFill>
                        </a:rPr>
                        <a:t>Model</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PSNR (dB)</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SSIM</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rPr>
                        <a:t>Cloudy input</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21.18</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0.740</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Tiny CNN (baseline)</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27.01</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0.844</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U-Net</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26.33 ± 0.06</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0.847</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Swin U-Net</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26.41 ± 0.20</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0.851</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Pure ViT</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26.90 ± 0.36</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0.844</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U-Net + PatchGAN</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25.00</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0.816</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rPr>
                        <a:t>U-Net 3-seed ensemble</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26.56</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0.857</a:t>
                      </a:r>
                      <a:endParaRPr lang="en-US" sz="1400" dirty="0"/>
                    </a:p>
                  </a:txBody>
                  <a:tcPr marL="73152" marR="73152" marT="73152" marB="73152">
                    <a:lnL w="9525" cap="flat" cmpd="sng" algn="ctr">
                      <a:solidFill>
                        <a:srgbClr val="26325A"/>
                      </a:solidFill>
                      <a:prstDash val="solid"/>
                      <a:round/>
                      <a:headEnd type="none" w="med" len="med"/>
                      <a:tailEnd type="none" w="med" len="med"/>
                    </a:lnL>
                    <a:lnR w="9525" cap="flat" cmpd="sng" algn="ctr">
                      <a:solidFill>
                        <a:srgbClr val="26325A"/>
                      </a:solidFill>
                      <a:prstDash val="solid"/>
                      <a:round/>
                      <a:headEnd type="none" w="med" len="med"/>
                      <a:tailEnd type="none" w="med" len="med"/>
                    </a:lnR>
                    <a:lnT w="9525" cap="flat" cmpd="sng" algn="ctr">
                      <a:solidFill>
                        <a:srgbClr val="26325A"/>
                      </a:solidFill>
                      <a:prstDash val="solid"/>
                      <a:round/>
                      <a:headEnd type="none" w="med" len="med"/>
                      <a:tailEnd type="none" w="med" len="med"/>
                    </a:lnT>
                    <a:lnB w="9525" cap="flat" cmpd="sng" algn="ctr">
                      <a:solidFill>
                        <a:srgbClr val="26325A"/>
                      </a:solidFill>
                      <a:prstDash val="solid"/>
                      <a:round/>
                      <a:headEnd type="none" w="med" len="med"/>
                      <a:tailEnd type="none" w="med" len="med"/>
                    </a:lnB>
                    <a:solidFill>
                      <a:schemeClr val="tx1"/>
                    </a:solidFill>
                  </a:tcPr>
                </a:tc>
              </a:tr>
            </a:tbl>
          </a:graphicData>
        </a:graphic>
      </p:graphicFrame>
      <p:sp>
        <p:nvSpPr>
          <p:cNvPr id="5" name="p1_notes"/>
          <p:cNvSpPr/>
          <p:nvPr/>
        </p:nvSpPr>
        <p:spPr>
          <a:xfrm>
            <a:off x="6949440" y="1600200"/>
            <a:ext cx="4690872" cy="3657600"/>
          </a:xfrm>
          <a:prstGeom prst="roundRect">
            <a:avLst>
              <a:gd name="adj" fmla="val 3000"/>
            </a:avLst>
          </a:prstGeom>
          <a:solidFill>
            <a:schemeClr val="tx2">
              <a:alpha val="92000"/>
            </a:schemeClr>
          </a:solidFill>
          <a:ln w="9525">
            <a:solidFill>
              <a:schemeClr val="accent1">
                <a:alpha val="45000"/>
              </a:schemeClr>
            </a:solidFill>
            <a:prstDash val="solid"/>
          </a:ln>
        </p:spPr>
      </p:sp>
      <p:sp>
        <p:nvSpPr>
          <p:cNvPr id="6" name="Text 3"/>
          <p:cNvSpPr txBox="1"/>
          <p:nvPr/>
        </p:nvSpPr>
        <p:spPr>
          <a:xfrm>
            <a:off x="7178040" y="1783080"/>
            <a:ext cx="4251960" cy="3291840"/>
          </a:xfrm>
          <a:prstGeom prst="rect">
            <a:avLst/>
          </a:prstGeom>
          <a:noFill/>
          <a:ln/>
        </p:spPr>
        <p:txBody>
          <a:bodyPr wrap="square" lIns="0" tIns="0" rIns="0" bIns="0" rtlCol="0" anchor="t"/>
          <a:lstStyle/>
          <a:p>
            <a:pPr indent="0" marL="0">
              <a:spcAft>
                <a:spcPts val="1000"/>
              </a:spcAft>
              <a:buNone/>
            </a:pPr>
            <a:r>
              <a:rPr lang="en-US" sz="1400" b="1" dirty="0">
                <a:solidFill>
                  <a:schemeClr val="bg1"/>
                </a:solidFill>
              </a:rPr>
              <a:t>Other Phase 1 findings</a:t>
            </a:r>
            <a:endParaRPr lang="en-US" sz="1400" dirty="0"/>
          </a:p>
          <a:p>
            <a:pPr indent="0" marL="0">
              <a:spcAft>
                <a:spcPts val="1000"/>
              </a:spcAft>
              <a:buNone/>
            </a:pPr>
            <a:r>
              <a:rPr lang="en-US" sz="1400" dirty="0">
                <a:solidFill>
                  <a:schemeClr val="bg2"/>
                </a:solidFill>
              </a:rPr>
              <a:t>Random split inflates PSNR by +5.1 dB.</a:t>
            </a:r>
            <a:endParaRPr lang="en-US" sz="1400" dirty="0"/>
          </a:p>
          <a:p>
            <a:pPr indent="0" marL="0">
              <a:spcAft>
                <a:spcPts val="1000"/>
              </a:spcAft>
              <a:buNone/>
            </a:pPr>
            <a:r>
              <a:rPr lang="en-US" sz="1400" dirty="0">
                <a:solidFill>
                  <a:schemeClr val="bg2"/>
                </a:solidFill>
              </a:rPr>
              <a:t>ViT +2-4 dB at 60-100 % cloud (receptive field 56 px vs 21 px).</a:t>
            </a:r>
            <a:endParaRPr lang="en-US" sz="1400" dirty="0"/>
          </a:p>
          <a:p>
            <a:pPr indent="0" marL="0">
              <a:spcAft>
                <a:spcPts val="1000"/>
              </a:spcAft>
              <a:buNone/>
            </a:pPr>
            <a:r>
              <a:rPr lang="en-US" sz="1400" dirty="0">
                <a:solidFill>
                  <a:schemeClr val="bg2"/>
                </a:solidFill>
              </a:rPr>
              <a:t>Variance head: best-calibrated uncertainty (83-89 % coverage).</a:t>
            </a:r>
            <a:endParaRPr lang="en-US" sz="1400" dirty="0"/>
          </a:p>
          <a:p>
            <a:pPr indent="0" marL="0">
              <a:spcAft>
                <a:spcPts val="1000"/>
              </a:spcAft>
              <a:buNone/>
            </a:pPr>
            <a:r>
              <a:rPr lang="en-US" sz="1400" dirty="0">
                <a:solidFill>
                  <a:schemeClr val="bg2"/>
                </a:solidFill>
              </a:rPr>
              <a:t>No skip connections: SSIM −0.010, FID +106.</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100" b="1" spc="300" kern="0" dirty="0">
                <a:solidFill>
                  <a:schemeClr val="accent1"/>
                </a:solidFill>
              </a:rPr>
              <a:t>BACKUP</a:t>
            </a:r>
            <a:endParaRPr lang="en-US" sz="1100" dirty="0"/>
          </a:p>
        </p:txBody>
      </p:sp>
      <p:sp>
        <p:nvSpPr>
          <p:cNvPr id="3" name="Text 1"/>
          <p:cNvSpPr/>
          <p:nvPr>
            <p:ph idx="103" type="title" hasCustomPrompt="1"/>
          </p:nvPr>
        </p:nvSpPr>
        <p:spPr>
          <a:xfrm>
            <a:off x="548640" y="621792"/>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Short answers to likely questions</a:t>
            </a:r>
            <a:endParaRPr lang="en-US" sz="3200" dirty="0"/>
          </a:p>
        </p:txBody>
      </p:sp>
      <p:sp>
        <p:nvSpPr>
          <p:cNvPr id="4" name="qa0"/>
          <p:cNvSpPr/>
          <p:nvPr/>
        </p:nvSpPr>
        <p:spPr>
          <a:xfrm>
            <a:off x="548640" y="1600200"/>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5" name="Text 3"/>
          <p:cNvSpPr txBox="1"/>
          <p:nvPr/>
        </p:nvSpPr>
        <p:spPr>
          <a:xfrm>
            <a:off x="777240" y="1737360"/>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Why not a pure GAN?</a:t>
            </a:r>
            <a:endParaRPr lang="en-US" sz="1400" dirty="0"/>
          </a:p>
          <a:p>
            <a:pPr indent="0" marL="0">
              <a:buNone/>
            </a:pPr>
            <a:r>
              <a:rPr lang="en-US" sz="1400" dirty="0">
                <a:solidFill>
                  <a:schemeClr val="bg2"/>
                </a:solidFill>
              </a:rPr>
              <a:t>GANs add texture but not accuracy; as a second part they sharpen without measurable PSNR loss.</a:t>
            </a:r>
            <a:endParaRPr lang="en-US" sz="1400" dirty="0"/>
          </a:p>
        </p:txBody>
      </p:sp>
      <p:sp>
        <p:nvSpPr>
          <p:cNvPr id="6" name="qa1"/>
          <p:cNvSpPr/>
          <p:nvPr/>
        </p:nvSpPr>
        <p:spPr>
          <a:xfrm>
            <a:off x="6190488" y="1600200"/>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7" name="Text 5"/>
          <p:cNvSpPr txBox="1"/>
          <p:nvPr/>
        </p:nvSpPr>
        <p:spPr>
          <a:xfrm>
            <a:off x="6419088" y="1737360"/>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Why is PSNR only 28.6 dB?</a:t>
            </a:r>
            <a:endParaRPr lang="en-US" sz="1400" dirty="0"/>
          </a:p>
          <a:p>
            <a:pPr indent="0" marL="0">
              <a:buNone/>
            </a:pPr>
            <a:r>
              <a:rPr lang="en-US" sz="1400" dirty="0">
                <a:solidFill>
                  <a:schemeClr val="bg2"/>
                </a:solidFill>
              </a:rPr>
              <a:t>The target is another day and radar lacks fine detail; 34.5 dB with the date shift removed.</a:t>
            </a:r>
            <a:endParaRPr lang="en-US" sz="1400" dirty="0"/>
          </a:p>
        </p:txBody>
      </p:sp>
      <p:sp>
        <p:nvSpPr>
          <p:cNvPr id="8" name="qa2"/>
          <p:cNvSpPr/>
          <p:nvPr/>
        </p:nvSpPr>
        <p:spPr>
          <a:xfrm>
            <a:off x="548640" y="3081528"/>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9" name="Text 7"/>
          <p:cNvSpPr txBox="1"/>
          <p:nvPr/>
        </p:nvSpPr>
        <p:spPr>
          <a:xfrm>
            <a:off x="777240" y="3218688"/>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Is +1.9 dB real?</a:t>
            </a:r>
            <a:endParaRPr lang="en-US" sz="1400" dirty="0"/>
          </a:p>
          <a:p>
            <a:pPr indent="0" marL="0">
              <a:buNone/>
            </a:pPr>
            <a:r>
              <a:rPr lang="en-US" sz="1400" dirty="0">
                <a:solidFill>
                  <a:schemeClr val="bg2"/>
                </a:solidFill>
              </a:rPr>
              <a:t>Scene bootstrap 95 % CI +1.1 to +2.7 dB; better in 17 of 18 scenes.</a:t>
            </a:r>
            <a:endParaRPr lang="en-US" sz="1400" dirty="0"/>
          </a:p>
        </p:txBody>
      </p:sp>
      <p:sp>
        <p:nvSpPr>
          <p:cNvPr id="10" name="qa3"/>
          <p:cNvSpPr/>
          <p:nvPr/>
        </p:nvSpPr>
        <p:spPr>
          <a:xfrm>
            <a:off x="6190488" y="3081528"/>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1" name="Text 9"/>
          <p:cNvSpPr txBox="1"/>
          <p:nvPr/>
        </p:nvSpPr>
        <p:spPr>
          <a:xfrm>
            <a:off x="6419088" y="3218688"/>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How does the gate know about clouds?</a:t>
            </a:r>
            <a:endParaRPr lang="en-US" sz="1400" dirty="0"/>
          </a:p>
          <a:p>
            <a:pPr indent="0" marL="0">
              <a:buNone/>
            </a:pPr>
            <a:r>
              <a:rPr lang="en-US" sz="1400" dirty="0">
                <a:solidFill>
                  <a:schemeClr val="bg2"/>
                </a:solidFill>
              </a:rPr>
              <a:t>It does not - it learned from the loss alone (ρ = −0.84 with cloud cover).</a:t>
            </a:r>
            <a:endParaRPr lang="en-US" sz="1400" dirty="0"/>
          </a:p>
        </p:txBody>
      </p:sp>
      <p:sp>
        <p:nvSpPr>
          <p:cNvPr id="12" name="qa4"/>
          <p:cNvSpPr/>
          <p:nvPr/>
        </p:nvSpPr>
        <p:spPr>
          <a:xfrm>
            <a:off x="548640" y="4562856"/>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3" name="Text 11"/>
          <p:cNvSpPr txBox="1"/>
          <p:nvPr/>
        </p:nvSpPr>
        <p:spPr>
          <a:xfrm>
            <a:off x="777240" y="4700016"/>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Why certainty factors?</a:t>
            </a:r>
            <a:endParaRPr lang="en-US" sz="1400" dirty="0"/>
          </a:p>
          <a:p>
            <a:pPr indent="0" marL="0">
              <a:buNone/>
            </a:pPr>
            <a:r>
              <a:rPr lang="en-US" sz="1400" dirty="0">
                <a:solidFill>
                  <a:schemeClr val="bg2"/>
                </a:solidFill>
              </a:rPr>
              <a:t>Easy to elicit, combine and explain; a Bayesian network would be the principled extension.</a:t>
            </a:r>
            <a:endParaRPr lang="en-US" sz="1400" dirty="0"/>
          </a:p>
        </p:txBody>
      </p:sp>
      <p:sp>
        <p:nvSpPr>
          <p:cNvPr id="14" name="qa5"/>
          <p:cNvSpPr/>
          <p:nvPr/>
        </p:nvSpPr>
        <p:spPr>
          <a:xfrm>
            <a:off x="6190488" y="4562856"/>
            <a:ext cx="5440680" cy="1325880"/>
          </a:xfrm>
          <a:prstGeom prst="roundRect">
            <a:avLst>
              <a:gd name="adj" fmla="val 8276"/>
            </a:avLst>
          </a:prstGeom>
          <a:solidFill>
            <a:schemeClr val="tx2">
              <a:alpha val="92000"/>
            </a:schemeClr>
          </a:solidFill>
          <a:ln w="9525">
            <a:solidFill>
              <a:schemeClr val="accent1">
                <a:alpha val="45000"/>
              </a:schemeClr>
            </a:solidFill>
            <a:prstDash val="solid"/>
          </a:ln>
        </p:spPr>
      </p:sp>
      <p:sp>
        <p:nvSpPr>
          <p:cNvPr id="15" name="Text 13"/>
          <p:cNvSpPr txBox="1"/>
          <p:nvPr/>
        </p:nvSpPr>
        <p:spPr>
          <a:xfrm>
            <a:off x="6419088" y="4700016"/>
            <a:ext cx="4983480" cy="1097280"/>
          </a:xfrm>
          <a:prstGeom prst="rect">
            <a:avLst/>
          </a:prstGeom>
          <a:noFill/>
          <a:ln/>
        </p:spPr>
        <p:txBody>
          <a:bodyPr wrap="square" lIns="0" tIns="0" rIns="0" bIns="0" rtlCol="0" anchor="t"/>
          <a:lstStyle/>
          <a:p>
            <a:pPr indent="0" marL="0">
              <a:buNone/>
            </a:pPr>
            <a:r>
              <a:rPr lang="en-US" sz="1400" b="1" dirty="0">
                <a:solidFill>
                  <a:schemeClr val="accent1"/>
                </a:solidFill>
              </a:rPr>
              <a:t>What went wrong?</a:t>
            </a:r>
            <a:endParaRPr lang="en-US" sz="1400" dirty="0"/>
          </a:p>
          <a:p>
            <a:pPr indent="0" marL="0">
              <a:buNone/>
            </a:pPr>
            <a:r>
              <a:rPr lang="en-US" sz="1400" dirty="0">
                <a:solidFill>
                  <a:schemeClr val="bg2"/>
                </a:solidFill>
              </a:rPr>
              <a:t>fp16 overflow after ~5,000 steps in run 1 - fixed with fp32 + LayerNorm and a NaN guard.</a:t>
            </a:r>
            <a:endParaRPr lang="en-US" sz="1400" dirty="0"/>
          </a:p>
        </p:txBody>
      </p:sp>
      <p:sp>
        <p:nvSpPr>
          <p:cNvPr id="25" name="Slide Number Placeholder 0"/>
          <p:cNvSpPr>
            <a:spLocks noGrp="1"/>
          </p:cNvSpPr>
          <p:nvPr>
            <p:ph type="sldNum" sz="quarter" idx="4294967295"/>
          </p:nvPr>
        </p:nvSpPr>
        <p:spPr>
          <a:xfrm>
            <a:off x="1136873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learSAR Orbit">
  <a:themeElements>
    <a:clrScheme name="ClearSAR Orbit">
      <a:dk1>
        <a:srgbClr val="0A1022"/>
      </a:dk1>
      <a:lt1>
        <a:srgbClr val="FFFFFF"/>
      </a:lt1>
      <a:dk2>
        <a:srgbClr val="131D3A"/>
      </a:dk2>
      <a:lt2>
        <a:srgbClr val="AAB5C8"/>
      </a:lt2>
      <a:accent1>
        <a:srgbClr val="2DD4BF"/>
      </a:accent1>
      <a:accent2>
        <a:srgbClr val="38BDF8"/>
      </a:accent2>
      <a:accent3>
        <a:srgbClr val="A78BFA"/>
      </a:accent3>
      <a:accent4>
        <a:srgbClr val="FBBF24"/>
      </a:accent4>
      <a:accent5>
        <a:srgbClr val="FB7185"/>
      </a:accent5>
      <a:accent6>
        <a:srgbClr val="A3E635"/>
      </a:accent6>
      <a:hlink>
        <a:srgbClr val="7DD3FC"/>
      </a:hlink>
      <a:folHlink>
        <a:srgbClr val="A78BFA"/>
      </a:folHlink>
    </a:clrScheme>
    <a:fontScheme name="ClearSAR Orbit">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ClearSAR - final presentation</dc:title>
  <dc:subject>PptxGenJS Presentation</dc:subject>
  <dc:creator>Karthikeya Bhamidipati</dc:creator>
  <cp:lastModifiedBy>Karthikeya Bhamidipati</cp:lastModifiedBy>
  <cp:revision>1</cp:revision>
  <dcterms:created xsi:type="dcterms:W3CDTF">2026-10-25T10:00:25Z</dcterms:created>
  <dcterms:modified xsi:type="dcterms:W3CDTF">2026-10-25T10:00:25Z</dcterms:modified>
</cp:coreProperties>
</file>